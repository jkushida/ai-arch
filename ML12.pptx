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2" r:id="rId2"/>
    <p:sldMasterId id="2147483708" r:id="rId3"/>
  </p:sldMasterIdLst>
  <p:notesMasterIdLst>
    <p:notesMasterId r:id="rId31"/>
  </p:notesMasterIdLst>
  <p:sldIdLst>
    <p:sldId id="256" r:id="rId4"/>
    <p:sldId id="312" r:id="rId5"/>
    <p:sldId id="362" r:id="rId6"/>
    <p:sldId id="313" r:id="rId7"/>
    <p:sldId id="258" r:id="rId8"/>
    <p:sldId id="360" r:id="rId9"/>
    <p:sldId id="361" r:id="rId10"/>
    <p:sldId id="309" r:id="rId11"/>
    <p:sldId id="297" r:id="rId12"/>
    <p:sldId id="262" r:id="rId13"/>
    <p:sldId id="363" r:id="rId14"/>
    <p:sldId id="331" r:id="rId15"/>
    <p:sldId id="261" r:id="rId16"/>
    <p:sldId id="292" r:id="rId17"/>
    <p:sldId id="339" r:id="rId18"/>
    <p:sldId id="308" r:id="rId19"/>
    <p:sldId id="350" r:id="rId20"/>
    <p:sldId id="296" r:id="rId21"/>
    <p:sldId id="334" r:id="rId22"/>
    <p:sldId id="289" r:id="rId23"/>
    <p:sldId id="336" r:id="rId24"/>
    <p:sldId id="364" r:id="rId25"/>
    <p:sldId id="263" r:id="rId26"/>
    <p:sldId id="264" r:id="rId27"/>
    <p:sldId id="319" r:id="rId28"/>
    <p:sldId id="328" r:id="rId29"/>
    <p:sldId id="335" r:id="rId30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ECFF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7" autoAdjust="0"/>
    <p:restoredTop sz="77293" autoAdjust="0"/>
  </p:normalViewPr>
  <p:slideViewPr>
    <p:cSldViewPr>
      <p:cViewPr varScale="1">
        <p:scale>
          <a:sx n="89" d="100"/>
          <a:sy n="89" d="100"/>
        </p:scale>
        <p:origin x="656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838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tableStyles" Target="tableStyles.xml"/><Relationship Id="rId8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2D3ED2-A35E-4A67-B6E9-2B27E43BE460}" type="datetimeFigureOut">
              <a:rPr kumimoji="1" lang="ja-JP" altLang="en-US" smtClean="0"/>
              <a:t>2025/7/21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B5010B-4F25-474A-A0E6-6A301EC56A0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9433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ja-JP" dirty="0"/>
          </a:p>
          <a:p>
            <a:r>
              <a:rPr kumimoji="1" lang="ja-JP" altLang="en-US"/>
              <a:t>東大伊庭先生</a:t>
            </a:r>
            <a:endParaRPr kumimoji="1" lang="en-US" altLang="ja-JP" dirty="0"/>
          </a:p>
          <a:p>
            <a:r>
              <a:rPr kumimoji="1" lang="en" altLang="ja-JP" dirty="0"/>
              <a:t>http://</a:t>
            </a:r>
            <a:r>
              <a:rPr kumimoji="1" lang="en" altLang="ja-JP" dirty="0" err="1"/>
              <a:t>www.iba.t.u-tokyo.ac.jp</a:t>
            </a:r>
            <a:r>
              <a:rPr kumimoji="1" lang="en" altLang="ja-JP" dirty="0"/>
              <a:t>/</a:t>
            </a:r>
            <a:r>
              <a:rPr kumimoji="1" lang="en" altLang="ja-JP" dirty="0" err="1"/>
              <a:t>iba</a:t>
            </a:r>
            <a:r>
              <a:rPr kumimoji="1" lang="en" altLang="ja-JP" dirty="0"/>
              <a:t>/AI/</a:t>
            </a:r>
            <a:r>
              <a:rPr kumimoji="1" lang="en" altLang="ja-JP" dirty="0" err="1"/>
              <a:t>pso-print.pdf</a:t>
            </a:r>
            <a:endParaRPr kumimoji="1" lang="en" altLang="ja-JP" dirty="0"/>
          </a:p>
          <a:p>
            <a:endParaRPr kumimoji="1" lang="en" altLang="ja-JP" dirty="0"/>
          </a:p>
          <a:p>
            <a:r>
              <a:rPr kumimoji="1" lang="ja-JP" altLang="en-US"/>
              <a:t>修正 </a:t>
            </a:r>
            <a:r>
              <a:rPr kumimoji="1" lang="en" altLang="ja-JP" dirty="0"/>
              <a:t>PSO </a:t>
            </a:r>
            <a:r>
              <a:rPr kumimoji="1" lang="ja-JP" altLang="en-US"/>
              <a:t>によるトラス構造物の最小重量設計</a:t>
            </a:r>
            <a:endParaRPr kumimoji="1" lang="en-US" altLang="ja-JP"/>
          </a:p>
          <a:p>
            <a:r>
              <a:rPr kumimoji="1" lang="en" altLang="ja-JP"/>
              <a:t>http</a:t>
            </a:r>
            <a:r>
              <a:rPr kumimoji="1" lang="en" altLang="ja-JP" dirty="0"/>
              <a:t>://news-</a:t>
            </a:r>
            <a:r>
              <a:rPr kumimoji="1" lang="en" altLang="ja-JP" dirty="0" err="1"/>
              <a:t>sv.aij.or.jp</a:t>
            </a:r>
            <a:r>
              <a:rPr kumimoji="1" lang="en" altLang="ja-JP" dirty="0"/>
              <a:t>/</a:t>
            </a:r>
            <a:r>
              <a:rPr kumimoji="1" lang="en" altLang="ja-JP" dirty="0" err="1"/>
              <a:t>jyoho</a:t>
            </a:r>
            <a:r>
              <a:rPr kumimoji="1" lang="en" altLang="ja-JP" dirty="0"/>
              <a:t>/s1/proceedings/2014/pdf/H49.pdf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B5010B-4F25-474A-A0E6-6A301EC56A0B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1366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先週やった</a:t>
            </a:r>
            <a:r>
              <a:rPr kumimoji="1" lang="en-US" altLang="ja-JP" dirty="0"/>
              <a:t>GA</a:t>
            </a:r>
            <a:r>
              <a:rPr kumimoji="1" lang="ja-JP" altLang="en-US" dirty="0"/>
              <a:t>と同様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B5010B-4F25-474A-A0E6-6A301EC56A0B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50669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t</a:t>
            </a:r>
            <a:r>
              <a:rPr kumimoji="1" lang="ja-JP" altLang="en-US" dirty="0"/>
              <a:t>はイテレーション　（世代）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B5010B-4F25-474A-A0E6-6A301EC56A0B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54021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sz="1200" dirty="0"/>
              <a:t>Velocity and position update  are performed by these</a:t>
            </a:r>
            <a:r>
              <a:rPr lang="en-US" altLang="ja-JP" sz="1200" baseline="0" dirty="0"/>
              <a:t> equations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D3EBCF-B289-4037-89DB-19A556770C73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33403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200" dirty="0" err="1">
                <a:solidFill>
                  <a:srgbClr val="00B0F0"/>
                </a:solidFill>
              </a:rPr>
              <a:t>p</a:t>
            </a:r>
            <a:r>
              <a:rPr kumimoji="1" lang="en-US" altLang="ja-JP" sz="1200" dirty="0" err="1">
                <a:solidFill>
                  <a:srgbClr val="00B0F0"/>
                </a:solidFill>
              </a:rPr>
              <a:t>best</a:t>
            </a:r>
            <a:r>
              <a:rPr kumimoji="1" lang="ja-JP" altLang="en-US" sz="1200" dirty="0">
                <a:solidFill>
                  <a:srgbClr val="00B0F0"/>
                </a:solidFill>
              </a:rPr>
              <a:t>と</a:t>
            </a:r>
            <a:r>
              <a:rPr kumimoji="1" lang="en-US" altLang="ja-JP" sz="1200" dirty="0" err="1">
                <a:solidFill>
                  <a:srgbClr val="00B0F0"/>
                </a:solidFill>
              </a:rPr>
              <a:t>gbest</a:t>
            </a:r>
            <a:r>
              <a:rPr kumimoji="1" lang="ja-JP" altLang="en-US" sz="1200" dirty="0">
                <a:solidFill>
                  <a:srgbClr val="00B0F0"/>
                </a:solidFill>
              </a:rPr>
              <a:t>へ向かうベクトルは</a:t>
            </a:r>
            <a:endParaRPr kumimoji="1" lang="en-US" altLang="ja-JP" sz="1200" dirty="0">
              <a:solidFill>
                <a:srgbClr val="00B0F0"/>
              </a:solidFill>
            </a:endParaRPr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B5010B-4F25-474A-A0E6-6A301EC56A0B}" type="slidenum">
              <a:rPr kumimoji="1" lang="ja-JP" altLang="en-US" smtClean="0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99688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 err="1"/>
              <a:t>Pbest</a:t>
            </a:r>
            <a:r>
              <a:rPr kumimoji="1" lang="ja-JP" altLang="en-US" dirty="0"/>
              <a:t>の方向でも同じ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B5010B-4F25-474A-A0E6-6A301EC56A0B}" type="slidenum">
              <a:rPr kumimoji="1" lang="ja-JP" altLang="en-US" smtClean="0"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06251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乱数同期はベクトルの線形結合</a:t>
            </a:r>
            <a:endParaRPr kumimoji="1" lang="en-US" altLang="ja-JP" dirty="0"/>
          </a:p>
          <a:p>
            <a:r>
              <a:rPr kumimoji="1" lang="en-US" altLang="ja-JP" dirty="0"/>
              <a:t>DE</a:t>
            </a:r>
            <a:r>
              <a:rPr kumimoji="1" lang="ja-JP" altLang="en-US" dirty="0"/>
              <a:t>の差分操作のみ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B5010B-4F25-474A-A0E6-6A301EC56A0B}" type="slidenum">
              <a:rPr kumimoji="1" lang="ja-JP" altLang="en-US" smtClean="0"/>
              <a:t>17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93625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ここでシミュレータで確認（２０次元）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B5010B-4F25-474A-A0E6-6A301EC56A0B}" type="slidenum">
              <a:rPr kumimoji="1" lang="ja-JP" altLang="en-US" smtClean="0"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4575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配布プログラムの例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すべての粒子の移動後に更新　</a:t>
            </a:r>
            <a:r>
              <a:rPr lang="en-US" altLang="ja-JP" b="1" dirty="0"/>
              <a:t>synchronous</a:t>
            </a:r>
            <a:r>
              <a:rPr lang="en-US" altLang="ja-JP" sz="1400" dirty="0"/>
              <a:t> model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B5010B-4F25-474A-A0E6-6A301EC56A0B}" type="slidenum">
              <a:rPr kumimoji="1" lang="ja-JP" altLang="en-US" smtClean="0"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62384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ノート プレースホルダー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ja-JP" altLang="en-US" sz="1200" dirty="0"/>
                  <a:t>サンプルプログラム</a:t>
                </a:r>
                <a14:m>
                  <m:oMath xmlns:m="http://schemas.openxmlformats.org/officeDocument/2006/math">
                    <m:r>
                      <a:rPr lang="ja-JP" altLang="en-US" sz="1200" b="0" i="0" dirty="0" smtClean="0">
                        <a:latin typeface="Cambria Math" panose="02040503050406030204" pitchFamily="18" charset="0"/>
                      </a:rPr>
                      <m:t>　</m:t>
                    </m:r>
                    <m:r>
                      <m:rPr>
                        <m:nor/>
                      </m:rPr>
                      <a:rPr lang="en-US" altLang="ja-JP" sz="1200" dirty="0" smtClean="0"/>
                      <m:t>LDIW</m:t>
                    </m:r>
                  </m:oMath>
                </a14:m>
                <a:r>
                  <a:rPr kumimoji="1" lang="ja-JP" altLang="en-US" dirty="0"/>
                  <a:t>　</a:t>
                </a:r>
                <a:r>
                  <a:rPr kumimoji="1" lang="en-US" altLang="ja-JP" dirty="0"/>
                  <a:t>method</a:t>
                </a:r>
                <a:endParaRPr kumimoji="1" lang="ja-JP" altLang="en-US" dirty="0"/>
              </a:p>
            </p:txBody>
          </p:sp>
        </mc:Choice>
        <mc:Fallback xmlns="">
          <p:sp>
            <p:nvSpPr>
              <p:cNvPr id="3" name="ノート プレースホルダー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ja-JP" altLang="en-US" sz="1200" dirty="0" smtClean="0"/>
                  <a:t>サンプルプログラム</a:t>
                </a:r>
                <a:r>
                  <a:rPr lang="ja-JP" altLang="en-US" sz="1200" b="0" i="0" dirty="0" smtClean="0">
                    <a:latin typeface="Cambria Math" panose="02040503050406030204" pitchFamily="18" charset="0"/>
                  </a:rPr>
                  <a:t>　</a:t>
                </a:r>
                <a:r>
                  <a:rPr lang="en-US" altLang="ja-JP" sz="1200" b="0" i="0" dirty="0" smtClean="0">
                    <a:latin typeface="Cambria Math" panose="02040503050406030204" pitchFamily="18" charset="0"/>
                  </a:rPr>
                  <a:t>"</a:t>
                </a:r>
                <a:r>
                  <a:rPr lang="en-US" altLang="ja-JP" sz="1200" i="0" dirty="0" smtClean="0">
                    <a:latin typeface="Cambria Math" panose="02040503050406030204" pitchFamily="18" charset="0"/>
                  </a:rPr>
                  <a:t>LDIW</a:t>
                </a:r>
                <a:r>
                  <a:rPr lang="ja-JP" altLang="en-US" sz="1200" i="0" dirty="0" smtClean="0"/>
                  <a:t>"</a:t>
                </a:r>
                <a:r>
                  <a:rPr kumimoji="1" lang="ja-JP" altLang="en-US" dirty="0" smtClean="0"/>
                  <a:t>　</a:t>
                </a:r>
                <a:r>
                  <a:rPr kumimoji="1" lang="en-US" altLang="ja-JP" dirty="0" smtClean="0"/>
                  <a:t>method</a:t>
                </a:r>
                <a:endParaRPr kumimoji="1" lang="ja-JP" altLang="en-US" dirty="0"/>
              </a:p>
            </p:txBody>
          </p:sp>
        </mc:Fallback>
      </mc:AlternateContent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B5010B-4F25-474A-A0E6-6A301EC56A0B}" type="slidenum">
              <a:rPr kumimoji="1" lang="ja-JP" altLang="en-US" smtClean="0"/>
              <a:t>20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87828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B5010B-4F25-474A-A0E6-6A301EC56A0B}" type="slidenum">
              <a:rPr kumimoji="1" lang="ja-JP" altLang="en-US" smtClean="0"/>
              <a:t>21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46392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B5010B-4F25-474A-A0E6-6A301EC56A0B}" type="slidenum">
              <a:rPr kumimoji="1" lang="ja-JP" altLang="en-US" smtClean="0"/>
              <a:t>27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3572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B5671-4BDD-4629-B645-8616E42D7163}" type="datetime1">
              <a:rPr kumimoji="1" lang="ja-JP" altLang="en-US" smtClean="0"/>
              <a:t>2025/7/21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D5F38-347F-4466-AB9F-04B1B3000A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2980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ABFFA-316E-4488-B7E7-09CCA071CC7C}" type="datetime1">
              <a:rPr kumimoji="1" lang="ja-JP" altLang="en-US" smtClean="0"/>
              <a:t>2025/7/21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D5F38-347F-4466-AB9F-04B1B3000A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6498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440FA-13CA-4749-A950-8801EFFC348B}" type="datetime1">
              <a:rPr kumimoji="1" lang="ja-JP" altLang="en-US" smtClean="0"/>
              <a:t>2025/7/21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D5F38-347F-4466-AB9F-04B1B3000A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9632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ABF44-D3D1-4024-A6CE-65C15E751DD0}" type="datetime1">
              <a:rPr kumimoji="1" lang="ja-JP" altLang="en-US" smtClean="0"/>
              <a:t>2025/7/21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D5F38-347F-4466-AB9F-04B1B3000A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9274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B0BB2-6023-41A5-A7BB-E3183DDCB22C}" type="datetime1">
              <a:rPr kumimoji="1" lang="ja-JP" altLang="en-US" smtClean="0"/>
              <a:t>2025/7/21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D5F38-347F-4466-AB9F-04B1B3000A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81544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41EFD-0D5E-4B9D-B5C4-8EEE58F4875A}" type="datetime1">
              <a:rPr kumimoji="1" lang="ja-JP" altLang="en-US" smtClean="0"/>
              <a:t>2025/7/21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D5F38-347F-4466-AB9F-04B1B3000A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8183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95118-A172-4F42-B879-37EC20B4B6B9}" type="datetime1">
              <a:rPr kumimoji="1" lang="ja-JP" altLang="en-US" smtClean="0"/>
              <a:t>2025/7/21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D5F38-347F-4466-AB9F-04B1B3000A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9346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5FA6-B7C5-402C-AE82-D6AE408C9AAE}" type="datetime1">
              <a:rPr kumimoji="1" lang="ja-JP" altLang="en-US" smtClean="0"/>
              <a:t>2025/7/21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D5F38-347F-4466-AB9F-04B1B3000A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51357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7C29E-7FFF-4A93-A969-7B5A0D0E0544}" type="datetime1">
              <a:rPr kumimoji="1" lang="ja-JP" altLang="en-US" smtClean="0"/>
              <a:t>2025/7/21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D5F38-347F-4466-AB9F-04B1B3000A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4461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59BE9-A667-4B57-8182-A1112EC93FB7}" type="datetime1">
              <a:rPr kumimoji="1" lang="ja-JP" altLang="en-US" smtClean="0"/>
              <a:t>2025/7/21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D5F38-347F-4466-AB9F-04B1B3000A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8409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A367B-6199-4D87-893C-95FE4FD7AFE4}" type="datetime1">
              <a:rPr kumimoji="1" lang="ja-JP" altLang="en-US" smtClean="0"/>
              <a:t>2025/7/21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D5F38-347F-4466-AB9F-04B1B3000A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42256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517B8-2254-48D0-8A02-C30771FB23B3}" type="datetime1">
              <a:rPr lang="ja-JP" altLang="en-US" smtClean="0">
                <a:solidFill>
                  <a:prstClr val="black">
                    <a:tint val="75000"/>
                  </a:prstClr>
                </a:solidFill>
              </a:rPr>
              <a:pPr/>
              <a:t>2025/7/21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965DA-7BF2-4C40-A5E8-F62C08D77269}" type="slidenum">
              <a:rPr lang="ja-JP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67171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10480"/>
          </a:xfrm>
        </p:spPr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922564"/>
            <a:ext cx="7886700" cy="5254399"/>
          </a:xfrm>
        </p:spPr>
        <p:txBody>
          <a:bodyPr/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FE583-ACCB-420E-BE50-2CB2B38D9258}" type="datetime1">
              <a:rPr lang="ja-JP" altLang="en-US" smtClean="0">
                <a:solidFill>
                  <a:prstClr val="black">
                    <a:tint val="75000"/>
                  </a:prstClr>
                </a:solidFill>
              </a:rPr>
              <a:pPr/>
              <a:t>2025/7/21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965DA-7BF2-4C40-A5E8-F62C08D77269}" type="slidenum">
              <a:rPr lang="ja-JP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4091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DD7F0-1F81-4C82-B24B-CDCA92455C31}" type="datetime1">
              <a:rPr lang="ja-JP" altLang="en-US" smtClean="0">
                <a:solidFill>
                  <a:prstClr val="black">
                    <a:tint val="75000"/>
                  </a:prstClr>
                </a:solidFill>
              </a:rPr>
              <a:pPr/>
              <a:t>2025/7/21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965DA-7BF2-4C40-A5E8-F62C08D77269}" type="slidenum">
              <a:rPr lang="ja-JP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66945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0A91D-C808-4DC1-B85F-3DB308F47095}" type="datetime1">
              <a:rPr lang="ja-JP" altLang="en-US" smtClean="0">
                <a:solidFill>
                  <a:prstClr val="black">
                    <a:tint val="75000"/>
                  </a:prstClr>
                </a:solidFill>
              </a:rPr>
              <a:pPr/>
              <a:t>2025/7/21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965DA-7BF2-4C40-A5E8-F62C08D77269}" type="slidenum">
              <a:rPr lang="ja-JP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5556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838FC-71ED-44CC-9AEE-C22E8D397F6B}" type="datetime1">
              <a:rPr lang="ja-JP" altLang="en-US" smtClean="0">
                <a:solidFill>
                  <a:prstClr val="black">
                    <a:tint val="75000"/>
                  </a:prstClr>
                </a:solidFill>
              </a:rPr>
              <a:pPr/>
              <a:t>2025/7/21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965DA-7BF2-4C40-A5E8-F62C08D77269}" type="slidenum">
              <a:rPr lang="ja-JP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41044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1B7A5-2057-44BC-84AA-5703B0F1BB43}" type="datetime1">
              <a:rPr lang="ja-JP" altLang="en-US" smtClean="0">
                <a:solidFill>
                  <a:prstClr val="black">
                    <a:tint val="75000"/>
                  </a:prstClr>
                </a:solidFill>
              </a:rPr>
              <a:pPr/>
              <a:t>2025/7/21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965DA-7BF2-4C40-A5E8-F62C08D77269}" type="slidenum">
              <a:rPr lang="ja-JP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54671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1AF3F-FC92-4CDC-AD2A-B42E70B90113}" type="datetime1">
              <a:rPr lang="ja-JP" altLang="en-US" smtClean="0">
                <a:solidFill>
                  <a:prstClr val="black">
                    <a:tint val="75000"/>
                  </a:prstClr>
                </a:solidFill>
              </a:rPr>
              <a:pPr/>
              <a:t>2025/7/21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965DA-7BF2-4C40-A5E8-F62C08D77269}" type="slidenum">
              <a:rPr lang="ja-JP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32090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DEAD2-B6D9-4FA3-AF9E-3B4CDFD75480}" type="datetime1">
              <a:rPr lang="ja-JP" altLang="en-US" smtClean="0">
                <a:solidFill>
                  <a:prstClr val="black">
                    <a:tint val="75000"/>
                  </a:prstClr>
                </a:solidFill>
              </a:rPr>
              <a:pPr/>
              <a:t>2025/7/21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965DA-7BF2-4C40-A5E8-F62C08D77269}" type="slidenum">
              <a:rPr lang="ja-JP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49842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ADEE6-704D-4844-9EC7-60D3B25BF0F6}" type="datetime1">
              <a:rPr lang="ja-JP" altLang="en-US" smtClean="0">
                <a:solidFill>
                  <a:prstClr val="black">
                    <a:tint val="75000"/>
                  </a:prstClr>
                </a:solidFill>
              </a:rPr>
              <a:pPr/>
              <a:t>2025/7/21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965DA-7BF2-4C40-A5E8-F62C08D77269}" type="slidenum">
              <a:rPr lang="ja-JP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23309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7F945-84AE-49D8-99ED-A595B7FB7F24}" type="datetime1">
              <a:rPr lang="ja-JP" altLang="en-US" smtClean="0">
                <a:solidFill>
                  <a:prstClr val="black">
                    <a:tint val="75000"/>
                  </a:prstClr>
                </a:solidFill>
              </a:rPr>
              <a:pPr/>
              <a:t>2025/7/21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965DA-7BF2-4C40-A5E8-F62C08D77269}" type="slidenum">
              <a:rPr lang="ja-JP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96004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E1341-19FB-44D3-B70B-CF9CF455A16F}" type="datetime1">
              <a:rPr lang="ja-JP" altLang="en-US" smtClean="0">
                <a:solidFill>
                  <a:prstClr val="black">
                    <a:tint val="75000"/>
                  </a:prstClr>
                </a:solidFill>
              </a:rPr>
              <a:pPr/>
              <a:t>2025/7/21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965DA-7BF2-4C40-A5E8-F62C08D77269}" type="slidenum">
              <a:rPr lang="ja-JP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526684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974257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7826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CE5C38-98FB-4EBF-BD30-9FA14E81868C}" type="datetime1">
              <a:rPr kumimoji="1" lang="ja-JP" altLang="en-US" smtClean="0"/>
              <a:t>2025/7/21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8D5F38-347F-4466-AB9F-04B1B3000A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0319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8797E-FCC5-4698-8AE9-3D7C9802D874}" type="datetime1">
              <a:rPr lang="ja-JP" altLang="en-US" smtClean="0">
                <a:solidFill>
                  <a:prstClr val="black">
                    <a:tint val="75000"/>
                  </a:prstClr>
                </a:solidFill>
              </a:rPr>
              <a:pPr/>
              <a:t>2025/7/21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3965DA-7BF2-4C40-A5E8-F62C08D77269}" type="slidenum">
              <a:rPr lang="ja-JP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669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9667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</p:sldLayoutIdLst>
  <p:hf sldNum="0" hdr="0" ftr="0" dt="0"/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13" Type="http://schemas.openxmlformats.org/officeDocument/2006/relationships/image" Target="../media/image81.png"/><Relationship Id="rId18" Type="http://schemas.openxmlformats.org/officeDocument/2006/relationships/image" Target="../media/image86.png"/><Relationship Id="rId3" Type="http://schemas.openxmlformats.org/officeDocument/2006/relationships/image" Target="../media/image10.png"/><Relationship Id="rId21" Type="http://schemas.openxmlformats.org/officeDocument/2006/relationships/image" Target="../media/image420.png"/><Relationship Id="rId7" Type="http://schemas.openxmlformats.org/officeDocument/2006/relationships/image" Target="../media/image74.png"/><Relationship Id="rId17" Type="http://schemas.openxmlformats.org/officeDocument/2006/relationships/image" Target="../media/image580.png"/><Relationship Id="rId12" Type="http://schemas.openxmlformats.org/officeDocument/2006/relationships/image" Target="../media/image80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84.png"/><Relationship Id="rId20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11" Type="http://schemas.openxmlformats.org/officeDocument/2006/relationships/image" Target="../media/image79.png"/><Relationship Id="rId5" Type="http://schemas.openxmlformats.org/officeDocument/2006/relationships/image" Target="../media/image88.png"/><Relationship Id="rId15" Type="http://schemas.openxmlformats.org/officeDocument/2006/relationships/image" Target="../media/image83.png"/><Relationship Id="rId19" Type="http://schemas.openxmlformats.org/officeDocument/2006/relationships/image" Target="../media/image111.png"/><Relationship Id="rId10" Type="http://schemas.openxmlformats.org/officeDocument/2006/relationships/image" Target="../media/image78.png"/><Relationship Id="rId4" Type="http://schemas.openxmlformats.org/officeDocument/2006/relationships/image" Target="../media/image11.png"/><Relationship Id="rId9" Type="http://schemas.openxmlformats.org/officeDocument/2006/relationships/image" Target="../media/image76.png"/><Relationship Id="rId14" Type="http://schemas.openxmlformats.org/officeDocument/2006/relationships/image" Target="../media/image8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3" Type="http://schemas.openxmlformats.org/officeDocument/2006/relationships/image" Target="../media/image13.png"/><Relationship Id="rId7" Type="http://schemas.openxmlformats.org/officeDocument/2006/relationships/image" Target="../media/image91.png"/><Relationship Id="rId12" Type="http://schemas.openxmlformats.org/officeDocument/2006/relationships/image" Target="../media/image6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0.png"/><Relationship Id="rId11" Type="http://schemas.openxmlformats.org/officeDocument/2006/relationships/image" Target="../media/image61.png"/><Relationship Id="rId5" Type="http://schemas.openxmlformats.org/officeDocument/2006/relationships/image" Target="../media/image89.png"/><Relationship Id="rId10" Type="http://schemas.openxmlformats.org/officeDocument/2006/relationships/image" Target="../media/image94.png"/><Relationship Id="rId4" Type="http://schemas.openxmlformats.org/officeDocument/2006/relationships/image" Target="../media/image87.png"/><Relationship Id="rId9" Type="http://schemas.openxmlformats.org/officeDocument/2006/relationships/image" Target="../media/image9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67.png"/><Relationship Id="rId3" Type="http://schemas.openxmlformats.org/officeDocument/2006/relationships/image" Target="../media/image55.png"/><Relationship Id="rId7" Type="http://schemas.openxmlformats.org/officeDocument/2006/relationships/image" Target="../media/image60.png"/><Relationship Id="rId12" Type="http://schemas.openxmlformats.org/officeDocument/2006/relationships/image" Target="../media/image6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11" Type="http://schemas.openxmlformats.org/officeDocument/2006/relationships/image" Target="../media/image65.png"/><Relationship Id="rId5" Type="http://schemas.openxmlformats.org/officeDocument/2006/relationships/image" Target="../media/image57.png"/><Relationship Id="rId15" Type="http://schemas.openxmlformats.org/officeDocument/2006/relationships/image" Target="../media/image69.png"/><Relationship Id="rId10" Type="http://schemas.openxmlformats.org/officeDocument/2006/relationships/image" Target="../media/image64.png"/><Relationship Id="rId4" Type="http://schemas.openxmlformats.org/officeDocument/2006/relationships/image" Target="../media/image56.png"/><Relationship Id="rId9" Type="http://schemas.openxmlformats.org/officeDocument/2006/relationships/image" Target="../media/image101.png"/><Relationship Id="rId14" Type="http://schemas.openxmlformats.org/officeDocument/2006/relationships/image" Target="../media/image6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0.png"/><Relationship Id="rId13" Type="http://schemas.openxmlformats.org/officeDocument/2006/relationships/image" Target="../media/image120.png"/><Relationship Id="rId3" Type="http://schemas.openxmlformats.org/officeDocument/2006/relationships/image" Target="../media/image95.png"/><Relationship Id="rId7" Type="http://schemas.openxmlformats.org/officeDocument/2006/relationships/image" Target="../media/image99.png"/><Relationship Id="rId12" Type="http://schemas.openxmlformats.org/officeDocument/2006/relationships/image" Target="../media/image110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4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8.png"/><Relationship Id="rId11" Type="http://schemas.openxmlformats.org/officeDocument/2006/relationships/image" Target="../media/image104.png"/><Relationship Id="rId5" Type="http://schemas.openxmlformats.org/officeDocument/2006/relationships/image" Target="../media/image97.png"/><Relationship Id="rId15" Type="http://schemas.openxmlformats.org/officeDocument/2006/relationships/image" Target="../media/image440.png"/><Relationship Id="rId4" Type="http://schemas.openxmlformats.org/officeDocument/2006/relationships/image" Target="../media/image96.png"/><Relationship Id="rId9" Type="http://schemas.openxmlformats.org/officeDocument/2006/relationships/image" Target="../media/image101.png"/><Relationship Id="rId14" Type="http://schemas.openxmlformats.org/officeDocument/2006/relationships/image" Target="../media/image6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55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3" Type="http://schemas.openxmlformats.org/officeDocument/2006/relationships/image" Target="../media/image160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1844824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ja-JP" altLang="en-US"/>
              <a:t>粒子群最適化</a:t>
            </a:r>
            <a:br>
              <a:rPr lang="en-US" altLang="ja-JP" dirty="0"/>
            </a:br>
            <a:r>
              <a:rPr lang="en-US" altLang="ja-JP" dirty="0"/>
              <a:t>Particle Swarm Optimization (</a:t>
            </a:r>
            <a:r>
              <a:rPr lang="ja-JP" altLang="en-US" dirty="0"/>
              <a:t>ＰＳＯ</a:t>
            </a:r>
            <a:r>
              <a:rPr lang="en-US" altLang="ja-JP" dirty="0"/>
              <a:t>)</a:t>
            </a:r>
            <a:br>
              <a:rPr lang="en-US" altLang="ja-JP" dirty="0"/>
            </a:b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259632" y="4988768"/>
            <a:ext cx="6400800" cy="1752600"/>
          </a:xfrm>
        </p:spPr>
        <p:txBody>
          <a:bodyPr/>
          <a:lstStyle/>
          <a:p>
            <a:r>
              <a:rPr kumimoji="1" lang="ja-JP" altLang="en-US" dirty="0">
                <a:solidFill>
                  <a:schemeClr val="tx1"/>
                </a:solidFill>
              </a:rPr>
              <a:t>知能工学専攻</a:t>
            </a:r>
            <a:endParaRPr kumimoji="1" lang="en-US" altLang="ja-JP" dirty="0">
              <a:solidFill>
                <a:schemeClr val="tx1"/>
              </a:solidFill>
            </a:endParaRPr>
          </a:p>
          <a:p>
            <a:r>
              <a:rPr lang="ja-JP" altLang="en-US" dirty="0">
                <a:solidFill>
                  <a:schemeClr val="tx1"/>
                </a:solidFill>
              </a:rPr>
              <a:t>串田淳一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5" name="正方形/長方形 4"/>
          <p:cNvSpPr/>
          <p:nvPr/>
        </p:nvSpPr>
        <p:spPr>
          <a:xfrm>
            <a:off x="2915816" y="5708848"/>
            <a:ext cx="3096344" cy="738664"/>
          </a:xfrm>
          <a:prstGeom prst="rect">
            <a:avLst/>
          </a:prstGeom>
        </p:spPr>
        <p:txBody>
          <a:bodyPr wrap="square" lIns="91438" tIns="45718" rIns="91438" bIns="45718">
            <a:spAutoFit/>
          </a:bodyPr>
          <a:lstStyle/>
          <a:p>
            <a:pPr defTabSz="914382"/>
            <a:br>
              <a:rPr lang="en-US" altLang="ja-JP" sz="2400" dirty="0">
                <a:solidFill>
                  <a:prstClr val="black"/>
                </a:solidFill>
              </a:rPr>
            </a:br>
            <a:r>
              <a:rPr lang="en-US" altLang="ja-JP" dirty="0">
                <a:solidFill>
                  <a:prstClr val="black"/>
                </a:solidFill>
              </a:rPr>
              <a:t>kushida@hiroshima-cu.ac.jp</a:t>
            </a:r>
            <a:endParaRPr lang="ja-JP" altLang="en-US" dirty="0">
              <a:solidFill>
                <a:prstClr val="black"/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D5F38-347F-4466-AB9F-04B1B3000A8E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5742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最適化手法の分類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965DA-7BF2-4C40-A5E8-F62C08D77269}" type="slidenum">
              <a:rPr lang="ja-JP" altLang="en-US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角丸四角形 4"/>
          <p:cNvSpPr/>
          <p:nvPr/>
        </p:nvSpPr>
        <p:spPr>
          <a:xfrm>
            <a:off x="219919" y="2280212"/>
            <a:ext cx="8295431" cy="388909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08730" y="1258229"/>
            <a:ext cx="8364879" cy="45522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dirty="0"/>
              <a:t>進化的アルゴリズム </a:t>
            </a:r>
            <a:r>
              <a:rPr lang="en-US" altLang="ja-JP" dirty="0"/>
              <a:t>(Evolutionary Algorithm, EA)</a:t>
            </a:r>
          </a:p>
          <a:p>
            <a:pPr marL="0" indent="0">
              <a:buNone/>
            </a:pPr>
            <a:r>
              <a:rPr lang="ja-JP" altLang="en-US" dirty="0"/>
              <a:t>進化的計算</a:t>
            </a:r>
            <a:r>
              <a:rPr lang="en-US" altLang="ja-JP" dirty="0"/>
              <a:t>(Evolutionary Computation, EC)</a:t>
            </a:r>
          </a:p>
          <a:p>
            <a:pPr marL="0" indent="0">
              <a:buNone/>
            </a:pPr>
            <a:endParaRPr kumimoji="1" lang="en-US" altLang="ja-JP" dirty="0"/>
          </a:p>
          <a:p>
            <a:r>
              <a:rPr kumimoji="1" lang="ja-JP" altLang="en-US" dirty="0"/>
              <a:t>生物進化に基づくアプローチ</a:t>
            </a:r>
            <a:endParaRPr lang="en-US" altLang="ja-JP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ja-JP" altLang="en-US" dirty="0"/>
              <a:t>遺伝的アルゴリズム</a:t>
            </a:r>
            <a:r>
              <a:rPr lang="en-US" altLang="ja-JP" dirty="0"/>
              <a:t>(Genetic Algorithm, GA)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ja-JP" altLang="en-US" dirty="0"/>
              <a:t>差分進化</a:t>
            </a:r>
            <a:r>
              <a:rPr lang="en-US" altLang="ja-JP" dirty="0"/>
              <a:t>(Differential Evolution, DE)</a:t>
            </a:r>
          </a:p>
          <a:p>
            <a:endParaRPr lang="en-US" altLang="ja-JP" dirty="0"/>
          </a:p>
          <a:p>
            <a:r>
              <a:rPr kumimoji="1" lang="ja-JP" altLang="en-US" dirty="0"/>
              <a:t>群知能に基づくアプローチ</a:t>
            </a:r>
            <a:endParaRPr kumimoji="1" lang="en-US" altLang="ja-JP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ja-JP" altLang="en-US" dirty="0">
                <a:solidFill>
                  <a:srgbClr val="FF0000"/>
                </a:solidFill>
              </a:rPr>
              <a:t>粒子群最適化</a:t>
            </a:r>
            <a:r>
              <a:rPr lang="en-US" altLang="ja-JP" dirty="0">
                <a:solidFill>
                  <a:srgbClr val="FF0000"/>
                </a:solidFill>
              </a:rPr>
              <a:t>(Particle Swarm Optimization, PSO)</a:t>
            </a:r>
            <a:br>
              <a:rPr lang="en-US" altLang="ja-JP" dirty="0">
                <a:solidFill>
                  <a:srgbClr val="FF0000"/>
                </a:solidFill>
              </a:rPr>
            </a:br>
            <a:endParaRPr kumimoji="1" lang="ja-JP" altLang="en-US" dirty="0">
              <a:solidFill>
                <a:srgbClr val="FF0000"/>
              </a:solidFill>
            </a:endParaRPr>
          </a:p>
        </p:txBody>
      </p:sp>
      <p:pic>
        <p:nvPicPr>
          <p:cNvPr id="7" name="図 6" descr="GUM06_CG01028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747510" y="3748815"/>
            <a:ext cx="1497281" cy="998187"/>
          </a:xfrm>
          <a:prstGeom prst="rect">
            <a:avLst/>
          </a:prstGeom>
        </p:spPr>
      </p:pic>
      <p:pic>
        <p:nvPicPr>
          <p:cNvPr id="8" name="Picture 2" descr="C:\Users\ydouzono\AppData\Local\Microsoft\Windows\Temporary Internet Files\Content.IE5\LZQ9WWZZ\MC900346891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1348" y="5548989"/>
            <a:ext cx="1130113" cy="635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C:\Users\ydouzono\AppData\Local\Microsoft\Windows\Temporary Internet Files\Content.IE5\LZQ9WWZZ\MC900346891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5867" y="5705854"/>
            <a:ext cx="1130113" cy="635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9371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フリーフォーム 25"/>
          <p:cNvSpPr/>
          <p:nvPr/>
        </p:nvSpPr>
        <p:spPr>
          <a:xfrm>
            <a:off x="0" y="857250"/>
            <a:ext cx="9144090" cy="51435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27" name="フリーフォーム 26"/>
          <p:cNvSpPr/>
          <p:nvPr/>
        </p:nvSpPr>
        <p:spPr>
          <a:xfrm>
            <a:off x="0" y="857250"/>
            <a:ext cx="9144090" cy="51435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28" name="フリーフォーム 27"/>
          <p:cNvSpPr/>
          <p:nvPr/>
        </p:nvSpPr>
        <p:spPr>
          <a:xfrm>
            <a:off x="0" y="857250"/>
            <a:ext cx="9144090" cy="51435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29" name="フリーフォーム 28"/>
          <p:cNvSpPr/>
          <p:nvPr/>
        </p:nvSpPr>
        <p:spPr>
          <a:xfrm>
            <a:off x="564300" y="2128680"/>
            <a:ext cx="8022510" cy="21600"/>
          </a:xfrm>
          <a:custGeom>
            <a:avLst/>
            <a:gdLst/>
            <a:ahLst/>
            <a:cxnLst/>
            <a:rect l="0" t="0" r="r" b="b"/>
            <a:pathLst>
              <a:path w="29713" h="80">
                <a:moveTo>
                  <a:pt x="0" y="0"/>
                </a:moveTo>
                <a:lnTo>
                  <a:pt x="29713" y="0"/>
                </a:lnTo>
                <a:lnTo>
                  <a:pt x="2971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30" name="テキスト ボックス 29"/>
          <p:cNvSpPr txBox="1"/>
          <p:nvPr/>
        </p:nvSpPr>
        <p:spPr>
          <a:xfrm>
            <a:off x="560790" y="1753110"/>
            <a:ext cx="2106346" cy="31162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025" b="1">
                <a:solidFill>
                  <a:srgbClr val="333333"/>
                </a:solidFill>
                <a:latin typeface="Arial"/>
                <a:ea typeface="Arial"/>
              </a:rPr>
              <a:t>1. </a:t>
            </a:r>
            <a:r>
              <a:rPr lang="ja-JP" altLang="en-US" sz="2025" b="1">
                <a:solidFill>
                  <a:srgbClr val="333333"/>
                </a:solidFill>
                <a:latin typeface="HiraginoSans-W6"/>
                <a:ea typeface="HiraginoSans-W6"/>
              </a:rPr>
              <a:t>最適化問題とは</a:t>
            </a:r>
            <a:endParaRPr lang="en-US" sz="2025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31" name="テキスト ボックス 30"/>
          <p:cNvSpPr txBox="1"/>
          <p:nvPr/>
        </p:nvSpPr>
        <p:spPr>
          <a:xfrm>
            <a:off x="560790" y="2333610"/>
            <a:ext cx="1817805" cy="24237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altLang="en-US" sz="1575" b="1">
                <a:solidFill>
                  <a:srgbClr val="4A90E2"/>
                </a:solidFill>
                <a:latin typeface="HiraginoSans-W6"/>
                <a:ea typeface="HiraginoSans-W6"/>
              </a:rPr>
              <a:t>最適化問題の⼀般形</a:t>
            </a:r>
            <a:endParaRPr lang="en-US" sz="1575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32" name="フリーフォーム 31"/>
          <p:cNvSpPr/>
          <p:nvPr/>
        </p:nvSpPr>
        <p:spPr>
          <a:xfrm>
            <a:off x="4123440" y="3246480"/>
            <a:ext cx="193320" cy="107730"/>
          </a:xfrm>
          <a:custGeom>
            <a:avLst/>
            <a:gdLst/>
            <a:ahLst/>
            <a:cxnLst/>
            <a:rect l="0" t="0" r="r" b="b"/>
            <a:pathLst>
              <a:path w="716" h="399">
                <a:moveTo>
                  <a:pt x="14" y="358"/>
                </a:moveTo>
                <a:lnTo>
                  <a:pt x="27" y="358"/>
                </a:lnTo>
                <a:cubicBezTo>
                  <a:pt x="51" y="358"/>
                  <a:pt x="65" y="354"/>
                  <a:pt x="69" y="345"/>
                </a:cubicBezTo>
                <a:lnTo>
                  <a:pt x="69" y="338"/>
                </a:lnTo>
                <a:cubicBezTo>
                  <a:pt x="69" y="333"/>
                  <a:pt x="69" y="326"/>
                  <a:pt x="69" y="317"/>
                </a:cubicBezTo>
                <a:cubicBezTo>
                  <a:pt x="69" y="309"/>
                  <a:pt x="69" y="300"/>
                  <a:pt x="69" y="289"/>
                </a:cubicBezTo>
                <a:cubicBezTo>
                  <a:pt x="69" y="279"/>
                  <a:pt x="70" y="267"/>
                  <a:pt x="70" y="254"/>
                </a:cubicBezTo>
                <a:cubicBezTo>
                  <a:pt x="71" y="241"/>
                  <a:pt x="71" y="228"/>
                  <a:pt x="70" y="216"/>
                </a:cubicBezTo>
                <a:cubicBezTo>
                  <a:pt x="70" y="198"/>
                  <a:pt x="70" y="178"/>
                  <a:pt x="70" y="157"/>
                </a:cubicBezTo>
                <a:cubicBezTo>
                  <a:pt x="70" y="136"/>
                  <a:pt x="70" y="118"/>
                  <a:pt x="69" y="103"/>
                </a:cubicBezTo>
                <a:lnTo>
                  <a:pt x="69" y="82"/>
                </a:lnTo>
                <a:cubicBezTo>
                  <a:pt x="68" y="71"/>
                  <a:pt x="63" y="63"/>
                  <a:pt x="57" y="60"/>
                </a:cubicBezTo>
                <a:cubicBezTo>
                  <a:pt x="50" y="56"/>
                  <a:pt x="37" y="53"/>
                  <a:pt x="16" y="52"/>
                </a:cubicBezTo>
                <a:lnTo>
                  <a:pt x="0" y="52"/>
                </a:lnTo>
                <a:lnTo>
                  <a:pt x="0" y="31"/>
                </a:lnTo>
                <a:cubicBezTo>
                  <a:pt x="0" y="17"/>
                  <a:pt x="1" y="10"/>
                  <a:pt x="2" y="10"/>
                </a:cubicBezTo>
                <a:lnTo>
                  <a:pt x="11" y="9"/>
                </a:lnTo>
                <a:cubicBezTo>
                  <a:pt x="17" y="9"/>
                  <a:pt x="25" y="8"/>
                  <a:pt x="36" y="7"/>
                </a:cubicBezTo>
                <a:cubicBezTo>
                  <a:pt x="47" y="7"/>
                  <a:pt x="58" y="6"/>
                  <a:pt x="69" y="6"/>
                </a:cubicBezTo>
                <a:cubicBezTo>
                  <a:pt x="81" y="5"/>
                  <a:pt x="91" y="4"/>
                  <a:pt x="103" y="4"/>
                </a:cubicBezTo>
                <a:cubicBezTo>
                  <a:pt x="114" y="3"/>
                  <a:pt x="123" y="2"/>
                  <a:pt x="129" y="1"/>
                </a:cubicBezTo>
                <a:cubicBezTo>
                  <a:pt x="135" y="0"/>
                  <a:pt x="138" y="0"/>
                  <a:pt x="139" y="0"/>
                </a:cubicBezTo>
                <a:lnTo>
                  <a:pt x="142" y="0"/>
                </a:lnTo>
                <a:lnTo>
                  <a:pt x="142" y="36"/>
                </a:lnTo>
                <a:cubicBezTo>
                  <a:pt x="142" y="59"/>
                  <a:pt x="142" y="71"/>
                  <a:pt x="142" y="71"/>
                </a:cubicBezTo>
                <a:cubicBezTo>
                  <a:pt x="143" y="71"/>
                  <a:pt x="145" y="69"/>
                  <a:pt x="147" y="66"/>
                </a:cubicBezTo>
                <a:cubicBezTo>
                  <a:pt x="149" y="63"/>
                  <a:pt x="153" y="59"/>
                  <a:pt x="158" y="53"/>
                </a:cubicBezTo>
                <a:cubicBezTo>
                  <a:pt x="163" y="47"/>
                  <a:pt x="168" y="41"/>
                  <a:pt x="175" y="36"/>
                </a:cubicBezTo>
                <a:cubicBezTo>
                  <a:pt x="181" y="32"/>
                  <a:pt x="190" y="26"/>
                  <a:pt x="201" y="19"/>
                </a:cubicBezTo>
                <a:cubicBezTo>
                  <a:pt x="212" y="13"/>
                  <a:pt x="223" y="8"/>
                  <a:pt x="235" y="5"/>
                </a:cubicBezTo>
                <a:cubicBezTo>
                  <a:pt x="247" y="2"/>
                  <a:pt x="262" y="0"/>
                  <a:pt x="281" y="0"/>
                </a:cubicBezTo>
                <a:cubicBezTo>
                  <a:pt x="290" y="0"/>
                  <a:pt x="298" y="1"/>
                  <a:pt x="306" y="2"/>
                </a:cubicBezTo>
                <a:cubicBezTo>
                  <a:pt x="314" y="3"/>
                  <a:pt x="321" y="5"/>
                  <a:pt x="327" y="7"/>
                </a:cubicBezTo>
                <a:cubicBezTo>
                  <a:pt x="333" y="10"/>
                  <a:pt x="339" y="12"/>
                  <a:pt x="344" y="15"/>
                </a:cubicBezTo>
                <a:cubicBezTo>
                  <a:pt x="350" y="17"/>
                  <a:pt x="354" y="20"/>
                  <a:pt x="358" y="23"/>
                </a:cubicBezTo>
                <a:cubicBezTo>
                  <a:pt x="361" y="26"/>
                  <a:pt x="365" y="29"/>
                  <a:pt x="368" y="33"/>
                </a:cubicBezTo>
                <a:cubicBezTo>
                  <a:pt x="371" y="36"/>
                  <a:pt x="373" y="40"/>
                  <a:pt x="376" y="43"/>
                </a:cubicBezTo>
                <a:cubicBezTo>
                  <a:pt x="378" y="46"/>
                  <a:pt x="380" y="49"/>
                  <a:pt x="382" y="53"/>
                </a:cubicBezTo>
                <a:cubicBezTo>
                  <a:pt x="384" y="56"/>
                  <a:pt x="385" y="59"/>
                  <a:pt x="386" y="62"/>
                </a:cubicBezTo>
                <a:cubicBezTo>
                  <a:pt x="386" y="64"/>
                  <a:pt x="387" y="66"/>
                  <a:pt x="388" y="69"/>
                </a:cubicBezTo>
                <a:lnTo>
                  <a:pt x="390" y="73"/>
                </a:lnTo>
                <a:lnTo>
                  <a:pt x="393" y="70"/>
                </a:lnTo>
                <a:cubicBezTo>
                  <a:pt x="395" y="67"/>
                  <a:pt x="396" y="65"/>
                  <a:pt x="398" y="62"/>
                </a:cubicBezTo>
                <a:cubicBezTo>
                  <a:pt x="400" y="60"/>
                  <a:pt x="403" y="57"/>
                  <a:pt x="406" y="53"/>
                </a:cubicBezTo>
                <a:cubicBezTo>
                  <a:pt x="410" y="48"/>
                  <a:pt x="414" y="44"/>
                  <a:pt x="418" y="41"/>
                </a:cubicBezTo>
                <a:cubicBezTo>
                  <a:pt x="422" y="37"/>
                  <a:pt x="427" y="33"/>
                  <a:pt x="431" y="29"/>
                </a:cubicBezTo>
                <a:cubicBezTo>
                  <a:pt x="436" y="25"/>
                  <a:pt x="442" y="21"/>
                  <a:pt x="449" y="18"/>
                </a:cubicBezTo>
                <a:cubicBezTo>
                  <a:pt x="457" y="15"/>
                  <a:pt x="464" y="12"/>
                  <a:pt x="470" y="9"/>
                </a:cubicBezTo>
                <a:cubicBezTo>
                  <a:pt x="477" y="6"/>
                  <a:pt x="485" y="4"/>
                  <a:pt x="494" y="3"/>
                </a:cubicBezTo>
                <a:cubicBezTo>
                  <a:pt x="503" y="2"/>
                  <a:pt x="512" y="1"/>
                  <a:pt x="521" y="0"/>
                </a:cubicBezTo>
                <a:cubicBezTo>
                  <a:pt x="597" y="0"/>
                  <a:pt x="638" y="34"/>
                  <a:pt x="645" y="102"/>
                </a:cubicBezTo>
                <a:cubicBezTo>
                  <a:pt x="645" y="107"/>
                  <a:pt x="646" y="149"/>
                  <a:pt x="646" y="228"/>
                </a:cubicBezTo>
                <a:lnTo>
                  <a:pt x="646" y="306"/>
                </a:lnTo>
                <a:cubicBezTo>
                  <a:pt x="646" y="328"/>
                  <a:pt x="646" y="342"/>
                  <a:pt x="648" y="346"/>
                </a:cubicBezTo>
                <a:cubicBezTo>
                  <a:pt x="649" y="350"/>
                  <a:pt x="652" y="353"/>
                  <a:pt x="657" y="355"/>
                </a:cubicBezTo>
                <a:cubicBezTo>
                  <a:pt x="670" y="357"/>
                  <a:pt x="685" y="358"/>
                  <a:pt x="702" y="358"/>
                </a:cubicBezTo>
                <a:lnTo>
                  <a:pt x="716" y="358"/>
                </a:lnTo>
                <a:lnTo>
                  <a:pt x="716" y="399"/>
                </a:lnTo>
                <a:lnTo>
                  <a:pt x="709" y="399"/>
                </a:lnTo>
                <a:lnTo>
                  <a:pt x="688" y="398"/>
                </a:lnTo>
                <a:cubicBezTo>
                  <a:pt x="674" y="398"/>
                  <a:pt x="658" y="397"/>
                  <a:pt x="642" y="397"/>
                </a:cubicBezTo>
                <a:cubicBezTo>
                  <a:pt x="626" y="397"/>
                  <a:pt x="614" y="397"/>
                  <a:pt x="608" y="397"/>
                </a:cubicBezTo>
                <a:cubicBezTo>
                  <a:pt x="546" y="397"/>
                  <a:pt x="512" y="397"/>
                  <a:pt x="507" y="399"/>
                </a:cubicBezTo>
                <a:lnTo>
                  <a:pt x="500" y="399"/>
                </a:lnTo>
                <a:lnTo>
                  <a:pt x="500" y="358"/>
                </a:lnTo>
                <a:lnTo>
                  <a:pt x="514" y="358"/>
                </a:lnTo>
                <a:cubicBezTo>
                  <a:pt x="551" y="358"/>
                  <a:pt x="569" y="353"/>
                  <a:pt x="569" y="343"/>
                </a:cubicBezTo>
                <a:cubicBezTo>
                  <a:pt x="570" y="342"/>
                  <a:pt x="570" y="301"/>
                  <a:pt x="570" y="219"/>
                </a:cubicBezTo>
                <a:cubicBezTo>
                  <a:pt x="569" y="138"/>
                  <a:pt x="569" y="94"/>
                  <a:pt x="568" y="89"/>
                </a:cubicBezTo>
                <a:cubicBezTo>
                  <a:pt x="565" y="73"/>
                  <a:pt x="559" y="60"/>
                  <a:pt x="550" y="52"/>
                </a:cubicBezTo>
                <a:cubicBezTo>
                  <a:pt x="542" y="43"/>
                  <a:pt x="535" y="38"/>
                  <a:pt x="529" y="36"/>
                </a:cubicBezTo>
                <a:cubicBezTo>
                  <a:pt x="523" y="35"/>
                  <a:pt x="515" y="34"/>
                  <a:pt x="505" y="35"/>
                </a:cubicBezTo>
                <a:cubicBezTo>
                  <a:pt x="478" y="35"/>
                  <a:pt x="455" y="45"/>
                  <a:pt x="434" y="65"/>
                </a:cubicBezTo>
                <a:cubicBezTo>
                  <a:pt x="418" y="81"/>
                  <a:pt x="408" y="98"/>
                  <a:pt x="404" y="116"/>
                </a:cubicBezTo>
                <a:cubicBezTo>
                  <a:pt x="399" y="132"/>
                  <a:pt x="397" y="157"/>
                  <a:pt x="396" y="190"/>
                </a:cubicBezTo>
                <a:lnTo>
                  <a:pt x="396" y="248"/>
                </a:lnTo>
                <a:lnTo>
                  <a:pt x="396" y="302"/>
                </a:lnTo>
                <a:cubicBezTo>
                  <a:pt x="396" y="320"/>
                  <a:pt x="397" y="332"/>
                  <a:pt x="397" y="338"/>
                </a:cubicBezTo>
                <a:cubicBezTo>
                  <a:pt x="398" y="344"/>
                  <a:pt x="399" y="348"/>
                  <a:pt x="400" y="350"/>
                </a:cubicBezTo>
                <a:cubicBezTo>
                  <a:pt x="401" y="352"/>
                  <a:pt x="404" y="353"/>
                  <a:pt x="408" y="355"/>
                </a:cubicBezTo>
                <a:cubicBezTo>
                  <a:pt x="421" y="357"/>
                  <a:pt x="435" y="358"/>
                  <a:pt x="452" y="358"/>
                </a:cubicBezTo>
                <a:lnTo>
                  <a:pt x="467" y="358"/>
                </a:lnTo>
                <a:lnTo>
                  <a:pt x="467" y="399"/>
                </a:lnTo>
                <a:lnTo>
                  <a:pt x="459" y="399"/>
                </a:lnTo>
                <a:lnTo>
                  <a:pt x="438" y="398"/>
                </a:lnTo>
                <a:cubicBezTo>
                  <a:pt x="424" y="398"/>
                  <a:pt x="409" y="397"/>
                  <a:pt x="393" y="397"/>
                </a:cubicBezTo>
                <a:cubicBezTo>
                  <a:pt x="377" y="397"/>
                  <a:pt x="365" y="397"/>
                  <a:pt x="359" y="397"/>
                </a:cubicBezTo>
                <a:cubicBezTo>
                  <a:pt x="297" y="397"/>
                  <a:pt x="263" y="397"/>
                  <a:pt x="258" y="399"/>
                </a:cubicBezTo>
                <a:lnTo>
                  <a:pt x="250" y="399"/>
                </a:lnTo>
                <a:lnTo>
                  <a:pt x="250" y="358"/>
                </a:lnTo>
                <a:lnTo>
                  <a:pt x="265" y="358"/>
                </a:lnTo>
                <a:cubicBezTo>
                  <a:pt x="301" y="358"/>
                  <a:pt x="320" y="353"/>
                  <a:pt x="320" y="343"/>
                </a:cubicBezTo>
                <a:cubicBezTo>
                  <a:pt x="320" y="342"/>
                  <a:pt x="321" y="301"/>
                  <a:pt x="321" y="219"/>
                </a:cubicBezTo>
                <a:cubicBezTo>
                  <a:pt x="320" y="138"/>
                  <a:pt x="319" y="94"/>
                  <a:pt x="319" y="89"/>
                </a:cubicBezTo>
                <a:cubicBezTo>
                  <a:pt x="315" y="73"/>
                  <a:pt x="309" y="60"/>
                  <a:pt x="301" y="52"/>
                </a:cubicBezTo>
                <a:cubicBezTo>
                  <a:pt x="292" y="43"/>
                  <a:pt x="285" y="38"/>
                  <a:pt x="279" y="36"/>
                </a:cubicBezTo>
                <a:cubicBezTo>
                  <a:pt x="273" y="35"/>
                  <a:pt x="265" y="34"/>
                  <a:pt x="256" y="35"/>
                </a:cubicBezTo>
                <a:cubicBezTo>
                  <a:pt x="229" y="35"/>
                  <a:pt x="205" y="45"/>
                  <a:pt x="185" y="65"/>
                </a:cubicBezTo>
                <a:cubicBezTo>
                  <a:pt x="169" y="81"/>
                  <a:pt x="158" y="98"/>
                  <a:pt x="154" y="116"/>
                </a:cubicBezTo>
                <a:cubicBezTo>
                  <a:pt x="150" y="132"/>
                  <a:pt x="148" y="157"/>
                  <a:pt x="147" y="190"/>
                </a:cubicBezTo>
                <a:lnTo>
                  <a:pt x="147" y="248"/>
                </a:lnTo>
                <a:lnTo>
                  <a:pt x="147" y="302"/>
                </a:lnTo>
                <a:cubicBezTo>
                  <a:pt x="147" y="320"/>
                  <a:pt x="147" y="332"/>
                  <a:pt x="148" y="338"/>
                </a:cubicBezTo>
                <a:cubicBezTo>
                  <a:pt x="148" y="344"/>
                  <a:pt x="149" y="348"/>
                  <a:pt x="151" y="350"/>
                </a:cubicBezTo>
                <a:cubicBezTo>
                  <a:pt x="152" y="352"/>
                  <a:pt x="154" y="353"/>
                  <a:pt x="159" y="355"/>
                </a:cubicBezTo>
                <a:cubicBezTo>
                  <a:pt x="171" y="357"/>
                  <a:pt x="186" y="358"/>
                  <a:pt x="203" y="358"/>
                </a:cubicBezTo>
                <a:lnTo>
                  <a:pt x="217" y="358"/>
                </a:lnTo>
                <a:lnTo>
                  <a:pt x="217" y="399"/>
                </a:lnTo>
                <a:lnTo>
                  <a:pt x="210" y="399"/>
                </a:lnTo>
                <a:lnTo>
                  <a:pt x="189" y="398"/>
                </a:lnTo>
                <a:cubicBezTo>
                  <a:pt x="175" y="398"/>
                  <a:pt x="160" y="397"/>
                  <a:pt x="143" y="397"/>
                </a:cubicBezTo>
                <a:cubicBezTo>
                  <a:pt x="127" y="397"/>
                  <a:pt x="116" y="397"/>
                  <a:pt x="109" y="397"/>
                </a:cubicBezTo>
                <a:cubicBezTo>
                  <a:pt x="46" y="397"/>
                  <a:pt x="13" y="397"/>
                  <a:pt x="7" y="399"/>
                </a:cubicBezTo>
                <a:lnTo>
                  <a:pt x="0" y="399"/>
                </a:lnTo>
                <a:lnTo>
                  <a:pt x="0" y="358"/>
                </a:lnTo>
                <a:lnTo>
                  <a:pt x="14" y="358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33" name="フリーフォーム 32"/>
          <p:cNvSpPr/>
          <p:nvPr/>
        </p:nvSpPr>
        <p:spPr>
          <a:xfrm>
            <a:off x="4326210" y="3191400"/>
            <a:ext cx="55890" cy="162810"/>
          </a:xfrm>
          <a:custGeom>
            <a:avLst/>
            <a:gdLst/>
            <a:ahLst/>
            <a:cxnLst/>
            <a:rect l="0" t="0" r="r" b="b"/>
            <a:pathLst>
              <a:path w="207" h="603">
                <a:moveTo>
                  <a:pt x="39" y="54"/>
                </a:moveTo>
                <a:cubicBezTo>
                  <a:pt x="39" y="37"/>
                  <a:pt x="44" y="24"/>
                  <a:pt x="55" y="14"/>
                </a:cubicBezTo>
                <a:cubicBezTo>
                  <a:pt x="66" y="5"/>
                  <a:pt x="79" y="0"/>
                  <a:pt x="94" y="0"/>
                </a:cubicBezTo>
                <a:cubicBezTo>
                  <a:pt x="108" y="1"/>
                  <a:pt x="120" y="6"/>
                  <a:pt x="130" y="15"/>
                </a:cubicBezTo>
                <a:cubicBezTo>
                  <a:pt x="141" y="24"/>
                  <a:pt x="146" y="37"/>
                  <a:pt x="146" y="54"/>
                </a:cubicBezTo>
                <a:cubicBezTo>
                  <a:pt x="146" y="72"/>
                  <a:pt x="141" y="86"/>
                  <a:pt x="130" y="95"/>
                </a:cubicBezTo>
                <a:cubicBezTo>
                  <a:pt x="120" y="104"/>
                  <a:pt x="108" y="109"/>
                  <a:pt x="93" y="109"/>
                </a:cubicBezTo>
                <a:cubicBezTo>
                  <a:pt x="78" y="109"/>
                  <a:pt x="65" y="104"/>
                  <a:pt x="55" y="95"/>
                </a:cubicBezTo>
                <a:cubicBezTo>
                  <a:pt x="45" y="86"/>
                  <a:pt x="39" y="72"/>
                  <a:pt x="39" y="54"/>
                </a:cubicBezTo>
                <a:moveTo>
                  <a:pt x="200" y="603"/>
                </a:moveTo>
                <a:cubicBezTo>
                  <a:pt x="191" y="601"/>
                  <a:pt x="160" y="601"/>
                  <a:pt x="105" y="601"/>
                </a:cubicBezTo>
                <a:cubicBezTo>
                  <a:pt x="99" y="601"/>
                  <a:pt x="88" y="601"/>
                  <a:pt x="72" y="601"/>
                </a:cubicBezTo>
                <a:cubicBezTo>
                  <a:pt x="56" y="601"/>
                  <a:pt x="41" y="601"/>
                  <a:pt x="27" y="602"/>
                </a:cubicBezTo>
                <a:lnTo>
                  <a:pt x="7" y="603"/>
                </a:lnTo>
                <a:lnTo>
                  <a:pt x="0" y="603"/>
                </a:lnTo>
                <a:lnTo>
                  <a:pt x="0" y="562"/>
                </a:lnTo>
                <a:lnTo>
                  <a:pt x="14" y="562"/>
                </a:lnTo>
                <a:cubicBezTo>
                  <a:pt x="31" y="562"/>
                  <a:pt x="46" y="561"/>
                  <a:pt x="58" y="559"/>
                </a:cubicBezTo>
                <a:cubicBezTo>
                  <a:pt x="64" y="557"/>
                  <a:pt x="67" y="553"/>
                  <a:pt x="68" y="549"/>
                </a:cubicBezTo>
                <a:cubicBezTo>
                  <a:pt x="70" y="545"/>
                  <a:pt x="70" y="532"/>
                  <a:pt x="70" y="511"/>
                </a:cubicBezTo>
                <a:lnTo>
                  <a:pt x="70" y="419"/>
                </a:lnTo>
                <a:lnTo>
                  <a:pt x="70" y="339"/>
                </a:lnTo>
                <a:cubicBezTo>
                  <a:pt x="70" y="308"/>
                  <a:pt x="70" y="288"/>
                  <a:pt x="68" y="280"/>
                </a:cubicBezTo>
                <a:cubicBezTo>
                  <a:pt x="67" y="272"/>
                  <a:pt x="63" y="266"/>
                  <a:pt x="56" y="263"/>
                </a:cubicBezTo>
                <a:cubicBezTo>
                  <a:pt x="47" y="259"/>
                  <a:pt x="33" y="257"/>
                  <a:pt x="13" y="257"/>
                </a:cubicBezTo>
                <a:lnTo>
                  <a:pt x="4" y="257"/>
                </a:lnTo>
                <a:lnTo>
                  <a:pt x="4" y="236"/>
                </a:lnTo>
                <a:cubicBezTo>
                  <a:pt x="4" y="222"/>
                  <a:pt x="4" y="215"/>
                  <a:pt x="5" y="215"/>
                </a:cubicBezTo>
                <a:lnTo>
                  <a:pt x="14" y="214"/>
                </a:lnTo>
                <a:cubicBezTo>
                  <a:pt x="20" y="214"/>
                  <a:pt x="29" y="213"/>
                  <a:pt x="40" y="212"/>
                </a:cubicBezTo>
                <a:cubicBezTo>
                  <a:pt x="50" y="212"/>
                  <a:pt x="61" y="211"/>
                  <a:pt x="72" y="211"/>
                </a:cubicBezTo>
                <a:cubicBezTo>
                  <a:pt x="82" y="210"/>
                  <a:pt x="93" y="209"/>
                  <a:pt x="104" y="209"/>
                </a:cubicBezTo>
                <a:cubicBezTo>
                  <a:pt x="116" y="208"/>
                  <a:pt x="124" y="207"/>
                  <a:pt x="130" y="206"/>
                </a:cubicBezTo>
                <a:cubicBezTo>
                  <a:pt x="136" y="205"/>
                  <a:pt x="140" y="205"/>
                  <a:pt x="140" y="205"/>
                </a:cubicBezTo>
                <a:lnTo>
                  <a:pt x="143" y="205"/>
                </a:lnTo>
                <a:lnTo>
                  <a:pt x="143" y="547"/>
                </a:lnTo>
                <a:cubicBezTo>
                  <a:pt x="146" y="553"/>
                  <a:pt x="151" y="557"/>
                  <a:pt x="155" y="558"/>
                </a:cubicBezTo>
                <a:cubicBezTo>
                  <a:pt x="159" y="559"/>
                  <a:pt x="170" y="561"/>
                  <a:pt x="186" y="562"/>
                </a:cubicBezTo>
                <a:lnTo>
                  <a:pt x="207" y="562"/>
                </a:lnTo>
                <a:lnTo>
                  <a:pt x="207" y="603"/>
                </a:lnTo>
                <a:lnTo>
                  <a:pt x="200" y="603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34" name="フリーフォーム 33"/>
          <p:cNvSpPr/>
          <p:nvPr/>
        </p:nvSpPr>
        <p:spPr>
          <a:xfrm>
            <a:off x="4393440" y="3246480"/>
            <a:ext cx="126090" cy="107730"/>
          </a:xfrm>
          <a:custGeom>
            <a:avLst/>
            <a:gdLst/>
            <a:ahLst/>
            <a:cxnLst/>
            <a:rect l="0" t="0" r="r" b="b"/>
            <a:pathLst>
              <a:path w="467" h="399">
                <a:moveTo>
                  <a:pt x="15" y="358"/>
                </a:moveTo>
                <a:lnTo>
                  <a:pt x="27" y="358"/>
                </a:lnTo>
                <a:cubicBezTo>
                  <a:pt x="51" y="358"/>
                  <a:pt x="65" y="354"/>
                  <a:pt x="70" y="345"/>
                </a:cubicBezTo>
                <a:lnTo>
                  <a:pt x="70" y="338"/>
                </a:lnTo>
                <a:cubicBezTo>
                  <a:pt x="70" y="333"/>
                  <a:pt x="70" y="326"/>
                  <a:pt x="70" y="317"/>
                </a:cubicBezTo>
                <a:cubicBezTo>
                  <a:pt x="70" y="309"/>
                  <a:pt x="70" y="300"/>
                  <a:pt x="70" y="289"/>
                </a:cubicBezTo>
                <a:cubicBezTo>
                  <a:pt x="70" y="279"/>
                  <a:pt x="70" y="267"/>
                  <a:pt x="71" y="254"/>
                </a:cubicBezTo>
                <a:cubicBezTo>
                  <a:pt x="71" y="241"/>
                  <a:pt x="71" y="228"/>
                  <a:pt x="71" y="216"/>
                </a:cubicBezTo>
                <a:cubicBezTo>
                  <a:pt x="71" y="198"/>
                  <a:pt x="71" y="178"/>
                  <a:pt x="71" y="157"/>
                </a:cubicBezTo>
                <a:cubicBezTo>
                  <a:pt x="71" y="136"/>
                  <a:pt x="70" y="118"/>
                  <a:pt x="70" y="103"/>
                </a:cubicBezTo>
                <a:lnTo>
                  <a:pt x="70" y="82"/>
                </a:lnTo>
                <a:cubicBezTo>
                  <a:pt x="68" y="71"/>
                  <a:pt x="64" y="63"/>
                  <a:pt x="57" y="60"/>
                </a:cubicBezTo>
                <a:cubicBezTo>
                  <a:pt x="50" y="56"/>
                  <a:pt x="37" y="53"/>
                  <a:pt x="17" y="52"/>
                </a:cubicBezTo>
                <a:lnTo>
                  <a:pt x="0" y="52"/>
                </a:lnTo>
                <a:lnTo>
                  <a:pt x="0" y="31"/>
                </a:lnTo>
                <a:cubicBezTo>
                  <a:pt x="0" y="17"/>
                  <a:pt x="1" y="10"/>
                  <a:pt x="2" y="10"/>
                </a:cubicBezTo>
                <a:lnTo>
                  <a:pt x="11" y="9"/>
                </a:lnTo>
                <a:cubicBezTo>
                  <a:pt x="17" y="9"/>
                  <a:pt x="26" y="8"/>
                  <a:pt x="36" y="7"/>
                </a:cubicBezTo>
                <a:cubicBezTo>
                  <a:pt x="47" y="7"/>
                  <a:pt x="58" y="6"/>
                  <a:pt x="70" y="6"/>
                </a:cubicBezTo>
                <a:cubicBezTo>
                  <a:pt x="80" y="5"/>
                  <a:pt x="91" y="4"/>
                  <a:pt x="102" y="4"/>
                </a:cubicBezTo>
                <a:cubicBezTo>
                  <a:pt x="113" y="3"/>
                  <a:pt x="122" y="2"/>
                  <a:pt x="128" y="1"/>
                </a:cubicBezTo>
                <a:cubicBezTo>
                  <a:pt x="134" y="0"/>
                  <a:pt x="137" y="0"/>
                  <a:pt x="138" y="0"/>
                </a:cubicBezTo>
                <a:lnTo>
                  <a:pt x="141" y="0"/>
                </a:lnTo>
                <a:lnTo>
                  <a:pt x="141" y="36"/>
                </a:lnTo>
                <a:cubicBezTo>
                  <a:pt x="141" y="59"/>
                  <a:pt x="141" y="71"/>
                  <a:pt x="142" y="71"/>
                </a:cubicBezTo>
                <a:cubicBezTo>
                  <a:pt x="142" y="71"/>
                  <a:pt x="144" y="69"/>
                  <a:pt x="146" y="66"/>
                </a:cubicBezTo>
                <a:cubicBezTo>
                  <a:pt x="149" y="63"/>
                  <a:pt x="152" y="59"/>
                  <a:pt x="157" y="53"/>
                </a:cubicBezTo>
                <a:cubicBezTo>
                  <a:pt x="162" y="47"/>
                  <a:pt x="167" y="41"/>
                  <a:pt x="174" y="36"/>
                </a:cubicBezTo>
                <a:cubicBezTo>
                  <a:pt x="181" y="32"/>
                  <a:pt x="189" y="26"/>
                  <a:pt x="200" y="19"/>
                </a:cubicBezTo>
                <a:cubicBezTo>
                  <a:pt x="211" y="13"/>
                  <a:pt x="222" y="8"/>
                  <a:pt x="234" y="5"/>
                </a:cubicBezTo>
                <a:cubicBezTo>
                  <a:pt x="247" y="2"/>
                  <a:pt x="263" y="0"/>
                  <a:pt x="281" y="0"/>
                </a:cubicBezTo>
                <a:cubicBezTo>
                  <a:pt x="350" y="3"/>
                  <a:pt x="388" y="37"/>
                  <a:pt x="396" y="102"/>
                </a:cubicBezTo>
                <a:cubicBezTo>
                  <a:pt x="396" y="107"/>
                  <a:pt x="397" y="149"/>
                  <a:pt x="397" y="228"/>
                </a:cubicBezTo>
                <a:lnTo>
                  <a:pt x="397" y="306"/>
                </a:lnTo>
                <a:cubicBezTo>
                  <a:pt x="397" y="328"/>
                  <a:pt x="397" y="342"/>
                  <a:pt x="398" y="346"/>
                </a:cubicBezTo>
                <a:cubicBezTo>
                  <a:pt x="400" y="350"/>
                  <a:pt x="403" y="353"/>
                  <a:pt x="408" y="355"/>
                </a:cubicBezTo>
                <a:cubicBezTo>
                  <a:pt x="421" y="357"/>
                  <a:pt x="436" y="358"/>
                  <a:pt x="452" y="358"/>
                </a:cubicBezTo>
                <a:lnTo>
                  <a:pt x="467" y="358"/>
                </a:lnTo>
                <a:lnTo>
                  <a:pt x="467" y="399"/>
                </a:lnTo>
                <a:lnTo>
                  <a:pt x="460" y="399"/>
                </a:lnTo>
                <a:lnTo>
                  <a:pt x="438" y="398"/>
                </a:lnTo>
                <a:cubicBezTo>
                  <a:pt x="424" y="398"/>
                  <a:pt x="409" y="397"/>
                  <a:pt x="393" y="397"/>
                </a:cubicBezTo>
                <a:cubicBezTo>
                  <a:pt x="377" y="397"/>
                  <a:pt x="365" y="397"/>
                  <a:pt x="359" y="397"/>
                </a:cubicBezTo>
                <a:cubicBezTo>
                  <a:pt x="297" y="397"/>
                  <a:pt x="263" y="397"/>
                  <a:pt x="258" y="399"/>
                </a:cubicBezTo>
                <a:lnTo>
                  <a:pt x="251" y="399"/>
                </a:lnTo>
                <a:lnTo>
                  <a:pt x="251" y="358"/>
                </a:lnTo>
                <a:lnTo>
                  <a:pt x="265" y="358"/>
                </a:lnTo>
                <a:cubicBezTo>
                  <a:pt x="302" y="358"/>
                  <a:pt x="320" y="353"/>
                  <a:pt x="320" y="343"/>
                </a:cubicBezTo>
                <a:cubicBezTo>
                  <a:pt x="321" y="342"/>
                  <a:pt x="321" y="301"/>
                  <a:pt x="321" y="219"/>
                </a:cubicBezTo>
                <a:cubicBezTo>
                  <a:pt x="320" y="138"/>
                  <a:pt x="320" y="94"/>
                  <a:pt x="319" y="89"/>
                </a:cubicBezTo>
                <a:cubicBezTo>
                  <a:pt x="316" y="73"/>
                  <a:pt x="310" y="60"/>
                  <a:pt x="301" y="52"/>
                </a:cubicBezTo>
                <a:cubicBezTo>
                  <a:pt x="293" y="43"/>
                  <a:pt x="286" y="38"/>
                  <a:pt x="280" y="36"/>
                </a:cubicBezTo>
                <a:cubicBezTo>
                  <a:pt x="274" y="35"/>
                  <a:pt x="266" y="34"/>
                  <a:pt x="256" y="35"/>
                </a:cubicBezTo>
                <a:cubicBezTo>
                  <a:pt x="228" y="35"/>
                  <a:pt x="204" y="45"/>
                  <a:pt x="184" y="65"/>
                </a:cubicBezTo>
                <a:cubicBezTo>
                  <a:pt x="168" y="81"/>
                  <a:pt x="158" y="98"/>
                  <a:pt x="153" y="116"/>
                </a:cubicBezTo>
                <a:cubicBezTo>
                  <a:pt x="149" y="132"/>
                  <a:pt x="147" y="157"/>
                  <a:pt x="146" y="190"/>
                </a:cubicBezTo>
                <a:lnTo>
                  <a:pt x="146" y="248"/>
                </a:lnTo>
                <a:lnTo>
                  <a:pt x="146" y="302"/>
                </a:lnTo>
                <a:cubicBezTo>
                  <a:pt x="146" y="320"/>
                  <a:pt x="146" y="332"/>
                  <a:pt x="147" y="338"/>
                </a:cubicBezTo>
                <a:cubicBezTo>
                  <a:pt x="148" y="344"/>
                  <a:pt x="149" y="348"/>
                  <a:pt x="150" y="350"/>
                </a:cubicBezTo>
                <a:cubicBezTo>
                  <a:pt x="151" y="352"/>
                  <a:pt x="154" y="353"/>
                  <a:pt x="158" y="355"/>
                </a:cubicBezTo>
                <a:cubicBezTo>
                  <a:pt x="170" y="357"/>
                  <a:pt x="185" y="358"/>
                  <a:pt x="202" y="358"/>
                </a:cubicBezTo>
                <a:lnTo>
                  <a:pt x="216" y="358"/>
                </a:lnTo>
                <a:lnTo>
                  <a:pt x="216" y="399"/>
                </a:lnTo>
                <a:lnTo>
                  <a:pt x="209" y="399"/>
                </a:lnTo>
                <a:lnTo>
                  <a:pt x="188" y="398"/>
                </a:lnTo>
                <a:cubicBezTo>
                  <a:pt x="174" y="398"/>
                  <a:pt x="159" y="397"/>
                  <a:pt x="143" y="397"/>
                </a:cubicBezTo>
                <a:cubicBezTo>
                  <a:pt x="126" y="397"/>
                  <a:pt x="115" y="397"/>
                  <a:pt x="108" y="397"/>
                </a:cubicBezTo>
                <a:cubicBezTo>
                  <a:pt x="47" y="397"/>
                  <a:pt x="13" y="397"/>
                  <a:pt x="8" y="399"/>
                </a:cubicBezTo>
                <a:lnTo>
                  <a:pt x="0" y="399"/>
                </a:lnTo>
                <a:lnTo>
                  <a:pt x="0" y="358"/>
                </a:lnTo>
                <a:lnTo>
                  <a:pt x="15" y="358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35" name="フリーフォーム 34"/>
          <p:cNvSpPr/>
          <p:nvPr/>
        </p:nvSpPr>
        <p:spPr>
          <a:xfrm>
            <a:off x="4144770" y="3435750"/>
            <a:ext cx="97470" cy="76410"/>
          </a:xfrm>
          <a:custGeom>
            <a:avLst/>
            <a:gdLst/>
            <a:ahLst/>
            <a:cxnLst/>
            <a:rect l="0" t="0" r="r" b="b"/>
            <a:pathLst>
              <a:path w="361" h="283">
                <a:moveTo>
                  <a:pt x="131" y="283"/>
                </a:moveTo>
                <a:cubicBezTo>
                  <a:pt x="125" y="282"/>
                  <a:pt x="102" y="282"/>
                  <a:pt x="64" y="282"/>
                </a:cubicBezTo>
                <a:cubicBezTo>
                  <a:pt x="29" y="282"/>
                  <a:pt x="10" y="282"/>
                  <a:pt x="4" y="283"/>
                </a:cubicBezTo>
                <a:lnTo>
                  <a:pt x="0" y="283"/>
                </a:lnTo>
                <a:lnTo>
                  <a:pt x="0" y="244"/>
                </a:lnTo>
                <a:lnTo>
                  <a:pt x="61" y="244"/>
                </a:lnTo>
                <a:lnTo>
                  <a:pt x="143" y="147"/>
                </a:lnTo>
                <a:lnTo>
                  <a:pt x="56" y="39"/>
                </a:lnTo>
                <a:lnTo>
                  <a:pt x="3" y="39"/>
                </a:lnTo>
                <a:lnTo>
                  <a:pt x="3" y="0"/>
                </a:lnTo>
                <a:lnTo>
                  <a:pt x="8" y="0"/>
                </a:lnTo>
                <a:cubicBezTo>
                  <a:pt x="15" y="1"/>
                  <a:pt x="38" y="2"/>
                  <a:pt x="78" y="2"/>
                </a:cubicBezTo>
                <a:cubicBezTo>
                  <a:pt x="122" y="2"/>
                  <a:pt x="148" y="1"/>
                  <a:pt x="155" y="0"/>
                </a:cubicBezTo>
                <a:lnTo>
                  <a:pt x="161" y="0"/>
                </a:lnTo>
                <a:lnTo>
                  <a:pt x="161" y="39"/>
                </a:lnTo>
                <a:lnTo>
                  <a:pt x="143" y="39"/>
                </a:lnTo>
                <a:lnTo>
                  <a:pt x="165" y="67"/>
                </a:lnTo>
                <a:cubicBezTo>
                  <a:pt x="180" y="84"/>
                  <a:pt x="187" y="93"/>
                  <a:pt x="188" y="93"/>
                </a:cubicBezTo>
                <a:cubicBezTo>
                  <a:pt x="189" y="93"/>
                  <a:pt x="198" y="84"/>
                  <a:pt x="212" y="65"/>
                </a:cubicBezTo>
                <a:lnTo>
                  <a:pt x="234" y="39"/>
                </a:lnTo>
                <a:lnTo>
                  <a:pt x="211" y="39"/>
                </a:lnTo>
                <a:lnTo>
                  <a:pt x="211" y="0"/>
                </a:lnTo>
                <a:lnTo>
                  <a:pt x="216" y="0"/>
                </a:lnTo>
                <a:cubicBezTo>
                  <a:pt x="222" y="1"/>
                  <a:pt x="245" y="2"/>
                  <a:pt x="284" y="2"/>
                </a:cubicBezTo>
                <a:cubicBezTo>
                  <a:pt x="319" y="2"/>
                  <a:pt x="338" y="1"/>
                  <a:pt x="343" y="0"/>
                </a:cubicBezTo>
                <a:lnTo>
                  <a:pt x="348" y="0"/>
                </a:lnTo>
                <a:lnTo>
                  <a:pt x="348" y="39"/>
                </a:lnTo>
                <a:lnTo>
                  <a:pt x="287" y="39"/>
                </a:lnTo>
                <a:lnTo>
                  <a:pt x="213" y="126"/>
                </a:lnTo>
                <a:lnTo>
                  <a:pt x="308" y="243"/>
                </a:lnTo>
                <a:lnTo>
                  <a:pt x="335" y="244"/>
                </a:lnTo>
                <a:lnTo>
                  <a:pt x="361" y="244"/>
                </a:lnTo>
                <a:lnTo>
                  <a:pt x="361" y="283"/>
                </a:lnTo>
                <a:lnTo>
                  <a:pt x="356" y="283"/>
                </a:lnTo>
                <a:cubicBezTo>
                  <a:pt x="349" y="282"/>
                  <a:pt x="326" y="282"/>
                  <a:pt x="286" y="282"/>
                </a:cubicBezTo>
                <a:cubicBezTo>
                  <a:pt x="241" y="282"/>
                  <a:pt x="215" y="282"/>
                  <a:pt x="208" y="283"/>
                </a:cubicBezTo>
                <a:lnTo>
                  <a:pt x="202" y="283"/>
                </a:lnTo>
                <a:lnTo>
                  <a:pt x="202" y="244"/>
                </a:lnTo>
                <a:lnTo>
                  <a:pt x="220" y="244"/>
                </a:lnTo>
                <a:cubicBezTo>
                  <a:pt x="220" y="244"/>
                  <a:pt x="211" y="233"/>
                  <a:pt x="194" y="212"/>
                </a:cubicBezTo>
                <a:cubicBezTo>
                  <a:pt x="177" y="191"/>
                  <a:pt x="168" y="181"/>
                  <a:pt x="168" y="180"/>
                </a:cubicBezTo>
                <a:lnTo>
                  <a:pt x="113" y="243"/>
                </a:lnTo>
                <a:lnTo>
                  <a:pt x="125" y="244"/>
                </a:lnTo>
                <a:lnTo>
                  <a:pt x="136" y="244"/>
                </a:lnTo>
                <a:lnTo>
                  <a:pt x="136" y="283"/>
                </a:lnTo>
                <a:lnTo>
                  <a:pt x="131" y="283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36" name="フリーフォーム 35"/>
          <p:cNvSpPr/>
          <p:nvPr/>
        </p:nvSpPr>
        <p:spPr>
          <a:xfrm>
            <a:off x="4259790" y="3419010"/>
            <a:ext cx="86130" cy="100440"/>
          </a:xfrm>
          <a:custGeom>
            <a:avLst/>
            <a:gdLst/>
            <a:ahLst/>
            <a:cxnLst/>
            <a:rect l="0" t="0" r="r" b="b"/>
            <a:pathLst>
              <a:path w="319" h="372">
                <a:moveTo>
                  <a:pt x="0" y="185"/>
                </a:moveTo>
                <a:cubicBezTo>
                  <a:pt x="0" y="134"/>
                  <a:pt x="18" y="91"/>
                  <a:pt x="53" y="58"/>
                </a:cubicBezTo>
                <a:cubicBezTo>
                  <a:pt x="87" y="25"/>
                  <a:pt x="129" y="6"/>
                  <a:pt x="176" y="1"/>
                </a:cubicBezTo>
                <a:cubicBezTo>
                  <a:pt x="177" y="1"/>
                  <a:pt x="180" y="1"/>
                  <a:pt x="187" y="1"/>
                </a:cubicBezTo>
                <a:cubicBezTo>
                  <a:pt x="194" y="1"/>
                  <a:pt x="203" y="1"/>
                  <a:pt x="214" y="1"/>
                </a:cubicBezTo>
                <a:cubicBezTo>
                  <a:pt x="225" y="0"/>
                  <a:pt x="236" y="0"/>
                  <a:pt x="247" y="1"/>
                </a:cubicBezTo>
                <a:lnTo>
                  <a:pt x="310" y="1"/>
                </a:lnTo>
                <a:cubicBezTo>
                  <a:pt x="316" y="4"/>
                  <a:pt x="319" y="8"/>
                  <a:pt x="319" y="13"/>
                </a:cubicBezTo>
                <a:cubicBezTo>
                  <a:pt x="319" y="17"/>
                  <a:pt x="316" y="21"/>
                  <a:pt x="311" y="26"/>
                </a:cubicBezTo>
                <a:lnTo>
                  <a:pt x="245" y="26"/>
                </a:lnTo>
                <a:cubicBezTo>
                  <a:pt x="197" y="27"/>
                  <a:pt x="167" y="28"/>
                  <a:pt x="156" y="30"/>
                </a:cubicBezTo>
                <a:cubicBezTo>
                  <a:pt x="136" y="35"/>
                  <a:pt x="117" y="43"/>
                  <a:pt x="101" y="53"/>
                </a:cubicBezTo>
                <a:cubicBezTo>
                  <a:pt x="85" y="63"/>
                  <a:pt x="72" y="73"/>
                  <a:pt x="63" y="84"/>
                </a:cubicBezTo>
                <a:cubicBezTo>
                  <a:pt x="55" y="95"/>
                  <a:pt x="47" y="106"/>
                  <a:pt x="41" y="119"/>
                </a:cubicBezTo>
                <a:cubicBezTo>
                  <a:pt x="34" y="132"/>
                  <a:pt x="30" y="142"/>
                  <a:pt x="29" y="150"/>
                </a:cubicBezTo>
                <a:cubicBezTo>
                  <a:pt x="28" y="157"/>
                  <a:pt x="27" y="164"/>
                  <a:pt x="26" y="171"/>
                </a:cubicBezTo>
                <a:lnTo>
                  <a:pt x="26" y="173"/>
                </a:lnTo>
                <a:lnTo>
                  <a:pt x="310" y="173"/>
                </a:lnTo>
                <a:cubicBezTo>
                  <a:pt x="316" y="176"/>
                  <a:pt x="319" y="180"/>
                  <a:pt x="319" y="185"/>
                </a:cubicBezTo>
                <a:cubicBezTo>
                  <a:pt x="319" y="190"/>
                  <a:pt x="316" y="195"/>
                  <a:pt x="310" y="198"/>
                </a:cubicBezTo>
                <a:lnTo>
                  <a:pt x="26" y="198"/>
                </a:lnTo>
                <a:lnTo>
                  <a:pt x="26" y="199"/>
                </a:lnTo>
                <a:cubicBezTo>
                  <a:pt x="26" y="208"/>
                  <a:pt x="28" y="219"/>
                  <a:pt x="32" y="232"/>
                </a:cubicBezTo>
                <a:cubicBezTo>
                  <a:pt x="37" y="244"/>
                  <a:pt x="44" y="258"/>
                  <a:pt x="53" y="273"/>
                </a:cubicBezTo>
                <a:cubicBezTo>
                  <a:pt x="63" y="288"/>
                  <a:pt x="77" y="302"/>
                  <a:pt x="94" y="314"/>
                </a:cubicBezTo>
                <a:cubicBezTo>
                  <a:pt x="111" y="327"/>
                  <a:pt x="132" y="336"/>
                  <a:pt x="156" y="341"/>
                </a:cubicBezTo>
                <a:cubicBezTo>
                  <a:pt x="167" y="344"/>
                  <a:pt x="197" y="345"/>
                  <a:pt x="245" y="345"/>
                </a:cubicBezTo>
                <a:lnTo>
                  <a:pt x="311" y="345"/>
                </a:lnTo>
                <a:cubicBezTo>
                  <a:pt x="316" y="350"/>
                  <a:pt x="319" y="354"/>
                  <a:pt x="319" y="358"/>
                </a:cubicBezTo>
                <a:cubicBezTo>
                  <a:pt x="319" y="363"/>
                  <a:pt x="316" y="367"/>
                  <a:pt x="310" y="371"/>
                </a:cubicBezTo>
                <a:lnTo>
                  <a:pt x="248" y="371"/>
                </a:lnTo>
                <a:cubicBezTo>
                  <a:pt x="245" y="371"/>
                  <a:pt x="240" y="371"/>
                  <a:pt x="231" y="371"/>
                </a:cubicBezTo>
                <a:cubicBezTo>
                  <a:pt x="223" y="371"/>
                  <a:pt x="217" y="371"/>
                  <a:pt x="212" y="372"/>
                </a:cubicBezTo>
                <a:cubicBezTo>
                  <a:pt x="147" y="372"/>
                  <a:pt x="95" y="353"/>
                  <a:pt x="56" y="316"/>
                </a:cubicBezTo>
                <a:cubicBezTo>
                  <a:pt x="19" y="281"/>
                  <a:pt x="0" y="237"/>
                  <a:pt x="0" y="185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37" name="フリーフォーム 36"/>
          <p:cNvSpPr/>
          <p:nvPr/>
        </p:nvSpPr>
        <p:spPr>
          <a:xfrm>
            <a:off x="4369140" y="3394710"/>
            <a:ext cx="129870" cy="117450"/>
          </a:xfrm>
          <a:custGeom>
            <a:avLst/>
            <a:gdLst/>
            <a:ahLst/>
            <a:cxnLst/>
            <a:rect l="0" t="0" r="r" b="b"/>
            <a:pathLst>
              <a:path w="481" h="435">
                <a:moveTo>
                  <a:pt x="173" y="44"/>
                </a:moveTo>
                <a:cubicBezTo>
                  <a:pt x="159" y="60"/>
                  <a:pt x="143" y="68"/>
                  <a:pt x="126" y="70"/>
                </a:cubicBezTo>
                <a:cubicBezTo>
                  <a:pt x="118" y="70"/>
                  <a:pt x="114" y="67"/>
                  <a:pt x="114" y="63"/>
                </a:cubicBezTo>
                <a:cubicBezTo>
                  <a:pt x="114" y="61"/>
                  <a:pt x="114" y="59"/>
                  <a:pt x="114" y="58"/>
                </a:cubicBezTo>
                <a:cubicBezTo>
                  <a:pt x="115" y="54"/>
                  <a:pt x="118" y="49"/>
                  <a:pt x="122" y="44"/>
                </a:cubicBezTo>
                <a:cubicBezTo>
                  <a:pt x="126" y="38"/>
                  <a:pt x="131" y="32"/>
                  <a:pt x="139" y="25"/>
                </a:cubicBezTo>
                <a:cubicBezTo>
                  <a:pt x="147" y="18"/>
                  <a:pt x="158" y="12"/>
                  <a:pt x="173" y="7"/>
                </a:cubicBezTo>
                <a:cubicBezTo>
                  <a:pt x="188" y="2"/>
                  <a:pt x="204" y="0"/>
                  <a:pt x="221" y="0"/>
                </a:cubicBezTo>
                <a:lnTo>
                  <a:pt x="223" y="0"/>
                </a:lnTo>
                <a:cubicBezTo>
                  <a:pt x="248" y="0"/>
                  <a:pt x="265" y="15"/>
                  <a:pt x="273" y="46"/>
                </a:cubicBezTo>
                <a:cubicBezTo>
                  <a:pt x="274" y="53"/>
                  <a:pt x="276" y="67"/>
                  <a:pt x="278" y="88"/>
                </a:cubicBezTo>
                <a:cubicBezTo>
                  <a:pt x="281" y="108"/>
                  <a:pt x="282" y="128"/>
                  <a:pt x="284" y="145"/>
                </a:cubicBezTo>
                <a:lnTo>
                  <a:pt x="285" y="172"/>
                </a:lnTo>
                <a:cubicBezTo>
                  <a:pt x="287" y="172"/>
                  <a:pt x="297" y="165"/>
                  <a:pt x="317" y="153"/>
                </a:cubicBezTo>
                <a:cubicBezTo>
                  <a:pt x="337" y="141"/>
                  <a:pt x="358" y="127"/>
                  <a:pt x="380" y="110"/>
                </a:cubicBezTo>
                <a:cubicBezTo>
                  <a:pt x="401" y="94"/>
                  <a:pt x="413" y="83"/>
                  <a:pt x="416" y="77"/>
                </a:cubicBezTo>
                <a:cubicBezTo>
                  <a:pt x="417" y="76"/>
                  <a:pt x="418" y="72"/>
                  <a:pt x="418" y="67"/>
                </a:cubicBezTo>
                <a:cubicBezTo>
                  <a:pt x="418" y="53"/>
                  <a:pt x="412" y="45"/>
                  <a:pt x="402" y="44"/>
                </a:cubicBezTo>
                <a:cubicBezTo>
                  <a:pt x="395" y="44"/>
                  <a:pt x="392" y="41"/>
                  <a:pt x="392" y="36"/>
                </a:cubicBezTo>
                <a:cubicBezTo>
                  <a:pt x="392" y="30"/>
                  <a:pt x="398" y="22"/>
                  <a:pt x="410" y="13"/>
                </a:cubicBezTo>
                <a:cubicBezTo>
                  <a:pt x="422" y="4"/>
                  <a:pt x="435" y="0"/>
                  <a:pt x="448" y="0"/>
                </a:cubicBezTo>
                <a:cubicBezTo>
                  <a:pt x="452" y="0"/>
                  <a:pt x="457" y="0"/>
                  <a:pt x="461" y="2"/>
                </a:cubicBezTo>
                <a:cubicBezTo>
                  <a:pt x="465" y="3"/>
                  <a:pt x="470" y="7"/>
                  <a:pt x="474" y="13"/>
                </a:cubicBezTo>
                <a:cubicBezTo>
                  <a:pt x="479" y="19"/>
                  <a:pt x="481" y="28"/>
                  <a:pt x="481" y="38"/>
                </a:cubicBezTo>
                <a:cubicBezTo>
                  <a:pt x="481" y="49"/>
                  <a:pt x="478" y="60"/>
                  <a:pt x="472" y="70"/>
                </a:cubicBezTo>
                <a:cubicBezTo>
                  <a:pt x="465" y="81"/>
                  <a:pt x="449" y="96"/>
                  <a:pt x="421" y="117"/>
                </a:cubicBezTo>
                <a:cubicBezTo>
                  <a:pt x="394" y="138"/>
                  <a:pt x="354" y="164"/>
                  <a:pt x="304" y="195"/>
                </a:cubicBezTo>
                <a:lnTo>
                  <a:pt x="288" y="205"/>
                </a:lnTo>
                <a:lnTo>
                  <a:pt x="288" y="208"/>
                </a:lnTo>
                <a:cubicBezTo>
                  <a:pt x="289" y="212"/>
                  <a:pt x="291" y="229"/>
                  <a:pt x="292" y="257"/>
                </a:cubicBezTo>
                <a:cubicBezTo>
                  <a:pt x="293" y="286"/>
                  <a:pt x="296" y="314"/>
                  <a:pt x="300" y="340"/>
                </a:cubicBezTo>
                <a:cubicBezTo>
                  <a:pt x="304" y="368"/>
                  <a:pt x="311" y="383"/>
                  <a:pt x="321" y="388"/>
                </a:cubicBezTo>
                <a:cubicBezTo>
                  <a:pt x="326" y="390"/>
                  <a:pt x="331" y="391"/>
                  <a:pt x="336" y="391"/>
                </a:cubicBezTo>
                <a:cubicBezTo>
                  <a:pt x="338" y="391"/>
                  <a:pt x="341" y="390"/>
                  <a:pt x="344" y="386"/>
                </a:cubicBezTo>
                <a:cubicBezTo>
                  <a:pt x="357" y="373"/>
                  <a:pt x="371" y="365"/>
                  <a:pt x="388" y="364"/>
                </a:cubicBezTo>
                <a:cubicBezTo>
                  <a:pt x="391" y="364"/>
                  <a:pt x="393" y="364"/>
                  <a:pt x="394" y="364"/>
                </a:cubicBezTo>
                <a:cubicBezTo>
                  <a:pt x="395" y="364"/>
                  <a:pt x="397" y="365"/>
                  <a:pt x="398" y="368"/>
                </a:cubicBezTo>
                <a:cubicBezTo>
                  <a:pt x="399" y="370"/>
                  <a:pt x="400" y="372"/>
                  <a:pt x="399" y="376"/>
                </a:cubicBezTo>
                <a:cubicBezTo>
                  <a:pt x="395" y="390"/>
                  <a:pt x="383" y="404"/>
                  <a:pt x="364" y="416"/>
                </a:cubicBezTo>
                <a:cubicBezTo>
                  <a:pt x="345" y="429"/>
                  <a:pt x="321" y="435"/>
                  <a:pt x="291" y="435"/>
                </a:cubicBezTo>
                <a:cubicBezTo>
                  <a:pt x="281" y="435"/>
                  <a:pt x="273" y="434"/>
                  <a:pt x="266" y="430"/>
                </a:cubicBezTo>
                <a:cubicBezTo>
                  <a:pt x="260" y="426"/>
                  <a:pt x="254" y="421"/>
                  <a:pt x="250" y="415"/>
                </a:cubicBezTo>
                <a:cubicBezTo>
                  <a:pt x="246" y="409"/>
                  <a:pt x="242" y="401"/>
                  <a:pt x="240" y="390"/>
                </a:cubicBezTo>
                <a:cubicBezTo>
                  <a:pt x="238" y="380"/>
                  <a:pt x="236" y="370"/>
                  <a:pt x="235" y="360"/>
                </a:cubicBezTo>
                <a:cubicBezTo>
                  <a:pt x="234" y="351"/>
                  <a:pt x="233" y="339"/>
                  <a:pt x="232" y="324"/>
                </a:cubicBezTo>
                <a:cubicBezTo>
                  <a:pt x="232" y="320"/>
                  <a:pt x="231" y="317"/>
                  <a:pt x="231" y="315"/>
                </a:cubicBezTo>
                <a:cubicBezTo>
                  <a:pt x="230" y="304"/>
                  <a:pt x="229" y="292"/>
                  <a:pt x="228" y="279"/>
                </a:cubicBezTo>
                <a:cubicBezTo>
                  <a:pt x="227" y="266"/>
                  <a:pt x="226" y="257"/>
                  <a:pt x="226" y="252"/>
                </a:cubicBezTo>
                <a:cubicBezTo>
                  <a:pt x="225" y="247"/>
                  <a:pt x="224" y="245"/>
                  <a:pt x="224" y="244"/>
                </a:cubicBezTo>
                <a:cubicBezTo>
                  <a:pt x="223" y="244"/>
                  <a:pt x="211" y="252"/>
                  <a:pt x="186" y="267"/>
                </a:cubicBezTo>
                <a:cubicBezTo>
                  <a:pt x="160" y="282"/>
                  <a:pt x="135" y="299"/>
                  <a:pt x="108" y="319"/>
                </a:cubicBezTo>
                <a:cubicBezTo>
                  <a:pt x="82" y="338"/>
                  <a:pt x="68" y="350"/>
                  <a:pt x="65" y="357"/>
                </a:cubicBezTo>
                <a:cubicBezTo>
                  <a:pt x="64" y="358"/>
                  <a:pt x="63" y="362"/>
                  <a:pt x="63" y="369"/>
                </a:cubicBezTo>
                <a:cubicBezTo>
                  <a:pt x="63" y="384"/>
                  <a:pt x="69" y="391"/>
                  <a:pt x="81" y="391"/>
                </a:cubicBezTo>
                <a:cubicBezTo>
                  <a:pt x="82" y="391"/>
                  <a:pt x="84" y="392"/>
                  <a:pt x="86" y="393"/>
                </a:cubicBezTo>
                <a:cubicBezTo>
                  <a:pt x="87" y="395"/>
                  <a:pt x="88" y="396"/>
                  <a:pt x="88" y="397"/>
                </a:cubicBezTo>
                <a:lnTo>
                  <a:pt x="89" y="398"/>
                </a:lnTo>
                <a:lnTo>
                  <a:pt x="89" y="400"/>
                </a:lnTo>
                <a:cubicBezTo>
                  <a:pt x="89" y="406"/>
                  <a:pt x="83" y="414"/>
                  <a:pt x="70" y="422"/>
                </a:cubicBezTo>
                <a:cubicBezTo>
                  <a:pt x="58" y="431"/>
                  <a:pt x="46" y="435"/>
                  <a:pt x="33" y="435"/>
                </a:cubicBezTo>
                <a:cubicBezTo>
                  <a:pt x="29" y="435"/>
                  <a:pt x="24" y="435"/>
                  <a:pt x="20" y="434"/>
                </a:cubicBezTo>
                <a:cubicBezTo>
                  <a:pt x="16" y="432"/>
                  <a:pt x="11" y="428"/>
                  <a:pt x="7" y="422"/>
                </a:cubicBezTo>
                <a:cubicBezTo>
                  <a:pt x="2" y="416"/>
                  <a:pt x="0" y="407"/>
                  <a:pt x="0" y="397"/>
                </a:cubicBezTo>
                <a:cubicBezTo>
                  <a:pt x="0" y="390"/>
                  <a:pt x="0" y="384"/>
                  <a:pt x="2" y="378"/>
                </a:cubicBezTo>
                <a:cubicBezTo>
                  <a:pt x="4" y="373"/>
                  <a:pt x="10" y="363"/>
                  <a:pt x="21" y="351"/>
                </a:cubicBezTo>
                <a:cubicBezTo>
                  <a:pt x="31" y="339"/>
                  <a:pt x="46" y="326"/>
                  <a:pt x="65" y="313"/>
                </a:cubicBezTo>
                <a:cubicBezTo>
                  <a:pt x="83" y="299"/>
                  <a:pt x="105" y="284"/>
                  <a:pt x="131" y="267"/>
                </a:cubicBezTo>
                <a:cubicBezTo>
                  <a:pt x="158" y="250"/>
                  <a:pt x="180" y="236"/>
                  <a:pt x="197" y="226"/>
                </a:cubicBezTo>
                <a:cubicBezTo>
                  <a:pt x="214" y="216"/>
                  <a:pt x="223" y="211"/>
                  <a:pt x="222" y="210"/>
                </a:cubicBezTo>
                <a:lnTo>
                  <a:pt x="215" y="123"/>
                </a:lnTo>
                <a:cubicBezTo>
                  <a:pt x="215" y="122"/>
                  <a:pt x="215" y="118"/>
                  <a:pt x="215" y="113"/>
                </a:cubicBezTo>
                <a:cubicBezTo>
                  <a:pt x="214" y="107"/>
                  <a:pt x="214" y="103"/>
                  <a:pt x="213" y="100"/>
                </a:cubicBezTo>
                <a:cubicBezTo>
                  <a:pt x="212" y="96"/>
                  <a:pt x="211" y="92"/>
                  <a:pt x="211" y="86"/>
                </a:cubicBezTo>
                <a:cubicBezTo>
                  <a:pt x="211" y="81"/>
                  <a:pt x="209" y="76"/>
                  <a:pt x="208" y="73"/>
                </a:cubicBezTo>
                <a:cubicBezTo>
                  <a:pt x="206" y="69"/>
                  <a:pt x="205" y="66"/>
                  <a:pt x="203" y="61"/>
                </a:cubicBezTo>
                <a:cubicBezTo>
                  <a:pt x="202" y="57"/>
                  <a:pt x="200" y="54"/>
                  <a:pt x="196" y="51"/>
                </a:cubicBezTo>
                <a:cubicBezTo>
                  <a:pt x="193" y="49"/>
                  <a:pt x="190" y="47"/>
                  <a:pt x="188" y="46"/>
                </a:cubicBezTo>
                <a:cubicBezTo>
                  <a:pt x="187" y="45"/>
                  <a:pt x="186" y="45"/>
                  <a:pt x="184" y="44"/>
                </a:cubicBezTo>
                <a:cubicBezTo>
                  <a:pt x="181" y="44"/>
                  <a:pt x="180" y="44"/>
                  <a:pt x="179" y="44"/>
                </a:cubicBezTo>
                <a:lnTo>
                  <a:pt x="173" y="44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38" name="フリーフォーム 37"/>
          <p:cNvSpPr/>
          <p:nvPr/>
        </p:nvSpPr>
        <p:spPr>
          <a:xfrm>
            <a:off x="4576500" y="3182760"/>
            <a:ext cx="120690" cy="221400"/>
          </a:xfrm>
          <a:custGeom>
            <a:avLst/>
            <a:gdLst/>
            <a:ahLst/>
            <a:cxnLst/>
            <a:rect l="0" t="0" r="r" b="b"/>
            <a:pathLst>
              <a:path w="447" h="820">
                <a:moveTo>
                  <a:pt x="57" y="780"/>
                </a:moveTo>
                <a:cubicBezTo>
                  <a:pt x="58" y="780"/>
                  <a:pt x="60" y="781"/>
                  <a:pt x="62" y="782"/>
                </a:cubicBezTo>
                <a:cubicBezTo>
                  <a:pt x="65" y="783"/>
                  <a:pt x="68" y="784"/>
                  <a:pt x="72" y="785"/>
                </a:cubicBezTo>
                <a:cubicBezTo>
                  <a:pt x="76" y="785"/>
                  <a:pt x="80" y="785"/>
                  <a:pt x="83" y="785"/>
                </a:cubicBezTo>
                <a:cubicBezTo>
                  <a:pt x="91" y="785"/>
                  <a:pt x="98" y="782"/>
                  <a:pt x="104" y="774"/>
                </a:cubicBezTo>
                <a:cubicBezTo>
                  <a:pt x="111" y="766"/>
                  <a:pt x="116" y="757"/>
                  <a:pt x="119" y="748"/>
                </a:cubicBezTo>
                <a:cubicBezTo>
                  <a:pt x="125" y="731"/>
                  <a:pt x="135" y="686"/>
                  <a:pt x="149" y="610"/>
                </a:cubicBezTo>
                <a:cubicBezTo>
                  <a:pt x="164" y="534"/>
                  <a:pt x="178" y="462"/>
                  <a:pt x="192" y="394"/>
                </a:cubicBezTo>
                <a:cubicBezTo>
                  <a:pt x="205" y="325"/>
                  <a:pt x="212" y="291"/>
                  <a:pt x="212" y="290"/>
                </a:cubicBezTo>
                <a:lnTo>
                  <a:pt x="212" y="288"/>
                </a:lnTo>
                <a:lnTo>
                  <a:pt x="168" y="288"/>
                </a:lnTo>
                <a:cubicBezTo>
                  <a:pt x="140" y="288"/>
                  <a:pt x="125" y="287"/>
                  <a:pt x="123" y="286"/>
                </a:cubicBezTo>
                <a:cubicBezTo>
                  <a:pt x="121" y="284"/>
                  <a:pt x="120" y="281"/>
                  <a:pt x="120" y="277"/>
                </a:cubicBezTo>
                <a:lnTo>
                  <a:pt x="126" y="252"/>
                </a:lnTo>
                <a:cubicBezTo>
                  <a:pt x="127" y="249"/>
                  <a:pt x="130" y="247"/>
                  <a:pt x="133" y="247"/>
                </a:cubicBezTo>
                <a:cubicBezTo>
                  <a:pt x="137" y="247"/>
                  <a:pt x="151" y="247"/>
                  <a:pt x="176" y="246"/>
                </a:cubicBezTo>
                <a:cubicBezTo>
                  <a:pt x="205" y="246"/>
                  <a:pt x="220" y="246"/>
                  <a:pt x="220" y="245"/>
                </a:cubicBezTo>
                <a:cubicBezTo>
                  <a:pt x="220" y="244"/>
                  <a:pt x="222" y="229"/>
                  <a:pt x="228" y="200"/>
                </a:cubicBezTo>
                <a:cubicBezTo>
                  <a:pt x="233" y="171"/>
                  <a:pt x="237" y="154"/>
                  <a:pt x="239" y="148"/>
                </a:cubicBezTo>
                <a:cubicBezTo>
                  <a:pt x="261" y="49"/>
                  <a:pt x="305" y="0"/>
                  <a:pt x="370" y="0"/>
                </a:cubicBezTo>
                <a:cubicBezTo>
                  <a:pt x="392" y="1"/>
                  <a:pt x="411" y="7"/>
                  <a:pt x="425" y="19"/>
                </a:cubicBezTo>
                <a:cubicBezTo>
                  <a:pt x="439" y="31"/>
                  <a:pt x="447" y="47"/>
                  <a:pt x="447" y="67"/>
                </a:cubicBezTo>
                <a:cubicBezTo>
                  <a:pt x="447" y="89"/>
                  <a:pt x="440" y="104"/>
                  <a:pt x="428" y="114"/>
                </a:cubicBezTo>
                <a:cubicBezTo>
                  <a:pt x="415" y="123"/>
                  <a:pt x="403" y="129"/>
                  <a:pt x="390" y="129"/>
                </a:cubicBezTo>
                <a:cubicBezTo>
                  <a:pt x="363" y="129"/>
                  <a:pt x="350" y="117"/>
                  <a:pt x="350" y="91"/>
                </a:cubicBezTo>
                <a:cubicBezTo>
                  <a:pt x="350" y="80"/>
                  <a:pt x="354" y="70"/>
                  <a:pt x="360" y="62"/>
                </a:cubicBezTo>
                <a:cubicBezTo>
                  <a:pt x="367" y="53"/>
                  <a:pt x="374" y="47"/>
                  <a:pt x="382" y="43"/>
                </a:cubicBezTo>
                <a:lnTo>
                  <a:pt x="390" y="38"/>
                </a:lnTo>
                <a:cubicBezTo>
                  <a:pt x="380" y="35"/>
                  <a:pt x="371" y="33"/>
                  <a:pt x="363" y="33"/>
                </a:cubicBezTo>
                <a:cubicBezTo>
                  <a:pt x="356" y="33"/>
                  <a:pt x="349" y="36"/>
                  <a:pt x="342" y="42"/>
                </a:cubicBezTo>
                <a:cubicBezTo>
                  <a:pt x="336" y="48"/>
                  <a:pt x="331" y="56"/>
                  <a:pt x="329" y="67"/>
                </a:cubicBezTo>
                <a:cubicBezTo>
                  <a:pt x="324" y="84"/>
                  <a:pt x="320" y="108"/>
                  <a:pt x="314" y="137"/>
                </a:cubicBezTo>
                <a:cubicBezTo>
                  <a:pt x="309" y="167"/>
                  <a:pt x="304" y="192"/>
                  <a:pt x="300" y="212"/>
                </a:cubicBezTo>
                <a:cubicBezTo>
                  <a:pt x="296" y="232"/>
                  <a:pt x="294" y="243"/>
                  <a:pt x="294" y="244"/>
                </a:cubicBezTo>
                <a:cubicBezTo>
                  <a:pt x="294" y="246"/>
                  <a:pt x="310" y="246"/>
                  <a:pt x="343" y="246"/>
                </a:cubicBezTo>
                <a:cubicBezTo>
                  <a:pt x="370" y="246"/>
                  <a:pt x="386" y="246"/>
                  <a:pt x="390" y="247"/>
                </a:cubicBezTo>
                <a:cubicBezTo>
                  <a:pt x="394" y="248"/>
                  <a:pt x="397" y="249"/>
                  <a:pt x="400" y="252"/>
                </a:cubicBezTo>
                <a:cubicBezTo>
                  <a:pt x="400" y="255"/>
                  <a:pt x="400" y="260"/>
                  <a:pt x="398" y="268"/>
                </a:cubicBezTo>
                <a:cubicBezTo>
                  <a:pt x="396" y="276"/>
                  <a:pt x="395" y="280"/>
                  <a:pt x="394" y="282"/>
                </a:cubicBezTo>
                <a:cubicBezTo>
                  <a:pt x="392" y="285"/>
                  <a:pt x="390" y="287"/>
                  <a:pt x="385" y="287"/>
                </a:cubicBezTo>
                <a:cubicBezTo>
                  <a:pt x="381" y="287"/>
                  <a:pt x="365" y="287"/>
                  <a:pt x="337" y="288"/>
                </a:cubicBezTo>
                <a:lnTo>
                  <a:pt x="286" y="288"/>
                </a:lnTo>
                <a:lnTo>
                  <a:pt x="266" y="397"/>
                </a:lnTo>
                <a:cubicBezTo>
                  <a:pt x="237" y="546"/>
                  <a:pt x="217" y="639"/>
                  <a:pt x="205" y="677"/>
                </a:cubicBezTo>
                <a:cubicBezTo>
                  <a:pt x="189" y="728"/>
                  <a:pt x="167" y="765"/>
                  <a:pt x="141" y="790"/>
                </a:cubicBezTo>
                <a:cubicBezTo>
                  <a:pt x="119" y="810"/>
                  <a:pt x="97" y="820"/>
                  <a:pt x="76" y="820"/>
                </a:cubicBezTo>
                <a:cubicBezTo>
                  <a:pt x="56" y="820"/>
                  <a:pt x="39" y="814"/>
                  <a:pt x="23" y="802"/>
                </a:cubicBezTo>
                <a:cubicBezTo>
                  <a:pt x="8" y="790"/>
                  <a:pt x="0" y="774"/>
                  <a:pt x="0" y="753"/>
                </a:cubicBezTo>
                <a:cubicBezTo>
                  <a:pt x="0" y="731"/>
                  <a:pt x="6" y="715"/>
                  <a:pt x="19" y="704"/>
                </a:cubicBezTo>
                <a:cubicBezTo>
                  <a:pt x="31" y="694"/>
                  <a:pt x="44" y="689"/>
                  <a:pt x="57" y="689"/>
                </a:cubicBezTo>
                <a:cubicBezTo>
                  <a:pt x="83" y="689"/>
                  <a:pt x="96" y="702"/>
                  <a:pt x="96" y="727"/>
                </a:cubicBezTo>
                <a:cubicBezTo>
                  <a:pt x="96" y="738"/>
                  <a:pt x="93" y="748"/>
                  <a:pt x="86" y="757"/>
                </a:cubicBezTo>
                <a:cubicBezTo>
                  <a:pt x="80" y="765"/>
                  <a:pt x="73" y="771"/>
                  <a:pt x="65" y="776"/>
                </a:cubicBezTo>
                <a:lnTo>
                  <a:pt x="57" y="78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39" name="フリーフォーム 38"/>
          <p:cNvSpPr/>
          <p:nvPr/>
        </p:nvSpPr>
        <p:spPr>
          <a:xfrm>
            <a:off x="4719600" y="3171690"/>
            <a:ext cx="58320" cy="243270"/>
          </a:xfrm>
          <a:custGeom>
            <a:avLst/>
            <a:gdLst/>
            <a:ahLst/>
            <a:cxnLst/>
            <a:rect l="0" t="0" r="r" b="b"/>
            <a:pathLst>
              <a:path w="216" h="901">
                <a:moveTo>
                  <a:pt x="0" y="450"/>
                </a:moveTo>
                <a:cubicBezTo>
                  <a:pt x="0" y="409"/>
                  <a:pt x="3" y="369"/>
                  <a:pt x="9" y="332"/>
                </a:cubicBezTo>
                <a:cubicBezTo>
                  <a:pt x="15" y="295"/>
                  <a:pt x="22" y="263"/>
                  <a:pt x="30" y="236"/>
                </a:cubicBezTo>
                <a:cubicBezTo>
                  <a:pt x="38" y="209"/>
                  <a:pt x="50" y="182"/>
                  <a:pt x="64" y="157"/>
                </a:cubicBezTo>
                <a:cubicBezTo>
                  <a:pt x="79" y="131"/>
                  <a:pt x="90" y="111"/>
                  <a:pt x="98" y="96"/>
                </a:cubicBezTo>
                <a:cubicBezTo>
                  <a:pt x="107" y="82"/>
                  <a:pt x="119" y="66"/>
                  <a:pt x="136" y="50"/>
                </a:cubicBezTo>
                <a:cubicBezTo>
                  <a:pt x="153" y="33"/>
                  <a:pt x="163" y="23"/>
                  <a:pt x="166" y="19"/>
                </a:cubicBezTo>
                <a:cubicBezTo>
                  <a:pt x="169" y="15"/>
                  <a:pt x="177" y="9"/>
                  <a:pt x="189" y="0"/>
                </a:cubicBezTo>
                <a:lnTo>
                  <a:pt x="200" y="0"/>
                </a:lnTo>
                <a:lnTo>
                  <a:pt x="204" y="0"/>
                </a:lnTo>
                <a:cubicBezTo>
                  <a:pt x="212" y="0"/>
                  <a:pt x="216" y="3"/>
                  <a:pt x="216" y="8"/>
                </a:cubicBezTo>
                <a:cubicBezTo>
                  <a:pt x="216" y="10"/>
                  <a:pt x="211" y="16"/>
                  <a:pt x="201" y="27"/>
                </a:cubicBezTo>
                <a:cubicBezTo>
                  <a:pt x="191" y="38"/>
                  <a:pt x="179" y="54"/>
                  <a:pt x="164" y="75"/>
                </a:cubicBezTo>
                <a:cubicBezTo>
                  <a:pt x="150" y="96"/>
                  <a:pt x="135" y="122"/>
                  <a:pt x="120" y="152"/>
                </a:cubicBezTo>
                <a:cubicBezTo>
                  <a:pt x="105" y="183"/>
                  <a:pt x="92" y="224"/>
                  <a:pt x="82" y="276"/>
                </a:cubicBezTo>
                <a:cubicBezTo>
                  <a:pt x="72" y="329"/>
                  <a:pt x="67" y="387"/>
                  <a:pt x="67" y="450"/>
                </a:cubicBezTo>
                <a:cubicBezTo>
                  <a:pt x="67" y="514"/>
                  <a:pt x="72" y="571"/>
                  <a:pt x="82" y="623"/>
                </a:cubicBezTo>
                <a:cubicBezTo>
                  <a:pt x="92" y="675"/>
                  <a:pt x="105" y="716"/>
                  <a:pt x="119" y="748"/>
                </a:cubicBezTo>
                <a:cubicBezTo>
                  <a:pt x="134" y="780"/>
                  <a:pt x="148" y="806"/>
                  <a:pt x="163" y="826"/>
                </a:cubicBezTo>
                <a:cubicBezTo>
                  <a:pt x="178" y="845"/>
                  <a:pt x="191" y="861"/>
                  <a:pt x="201" y="873"/>
                </a:cubicBezTo>
                <a:cubicBezTo>
                  <a:pt x="211" y="886"/>
                  <a:pt x="216" y="893"/>
                  <a:pt x="216" y="893"/>
                </a:cubicBezTo>
                <a:cubicBezTo>
                  <a:pt x="216" y="899"/>
                  <a:pt x="212" y="901"/>
                  <a:pt x="203" y="901"/>
                </a:cubicBezTo>
                <a:lnTo>
                  <a:pt x="200" y="901"/>
                </a:lnTo>
                <a:lnTo>
                  <a:pt x="189" y="901"/>
                </a:lnTo>
                <a:lnTo>
                  <a:pt x="163" y="880"/>
                </a:lnTo>
                <a:cubicBezTo>
                  <a:pt x="107" y="828"/>
                  <a:pt x="66" y="764"/>
                  <a:pt x="39" y="688"/>
                </a:cubicBezTo>
                <a:cubicBezTo>
                  <a:pt x="13" y="612"/>
                  <a:pt x="0" y="532"/>
                  <a:pt x="0" y="45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40" name="フリーフォーム 39"/>
          <p:cNvSpPr/>
          <p:nvPr/>
        </p:nvSpPr>
        <p:spPr>
          <a:xfrm>
            <a:off x="4796550" y="3245940"/>
            <a:ext cx="137430" cy="108270"/>
          </a:xfrm>
          <a:custGeom>
            <a:avLst/>
            <a:gdLst/>
            <a:ahLst/>
            <a:cxnLst/>
            <a:rect l="0" t="0" r="r" b="b"/>
            <a:pathLst>
              <a:path w="509" h="401">
                <a:moveTo>
                  <a:pt x="185" y="401"/>
                </a:moveTo>
                <a:cubicBezTo>
                  <a:pt x="176" y="399"/>
                  <a:pt x="144" y="399"/>
                  <a:pt x="90" y="399"/>
                </a:cubicBezTo>
                <a:cubicBezTo>
                  <a:pt x="41" y="399"/>
                  <a:pt x="13" y="399"/>
                  <a:pt x="6" y="401"/>
                </a:cubicBezTo>
                <a:lnTo>
                  <a:pt x="0" y="401"/>
                </a:lnTo>
                <a:lnTo>
                  <a:pt x="0" y="345"/>
                </a:lnTo>
                <a:lnTo>
                  <a:pt x="86" y="345"/>
                </a:lnTo>
                <a:lnTo>
                  <a:pt x="201" y="209"/>
                </a:lnTo>
                <a:lnTo>
                  <a:pt x="79" y="56"/>
                </a:lnTo>
                <a:lnTo>
                  <a:pt x="4" y="56"/>
                </a:lnTo>
                <a:lnTo>
                  <a:pt x="4" y="0"/>
                </a:lnTo>
                <a:lnTo>
                  <a:pt x="11" y="0"/>
                </a:lnTo>
                <a:cubicBezTo>
                  <a:pt x="20" y="2"/>
                  <a:pt x="53" y="3"/>
                  <a:pt x="110" y="3"/>
                </a:cubicBezTo>
                <a:cubicBezTo>
                  <a:pt x="172" y="3"/>
                  <a:pt x="209" y="2"/>
                  <a:pt x="219" y="0"/>
                </a:cubicBezTo>
                <a:lnTo>
                  <a:pt x="228" y="0"/>
                </a:lnTo>
                <a:lnTo>
                  <a:pt x="228" y="56"/>
                </a:lnTo>
                <a:lnTo>
                  <a:pt x="202" y="56"/>
                </a:lnTo>
                <a:lnTo>
                  <a:pt x="234" y="95"/>
                </a:lnTo>
                <a:cubicBezTo>
                  <a:pt x="254" y="120"/>
                  <a:pt x="265" y="134"/>
                  <a:pt x="265" y="134"/>
                </a:cubicBezTo>
                <a:cubicBezTo>
                  <a:pt x="268" y="134"/>
                  <a:pt x="280" y="120"/>
                  <a:pt x="301" y="93"/>
                </a:cubicBezTo>
                <a:lnTo>
                  <a:pt x="332" y="56"/>
                </a:lnTo>
                <a:lnTo>
                  <a:pt x="299" y="56"/>
                </a:lnTo>
                <a:lnTo>
                  <a:pt x="299" y="0"/>
                </a:lnTo>
                <a:lnTo>
                  <a:pt x="306" y="0"/>
                </a:lnTo>
                <a:cubicBezTo>
                  <a:pt x="315" y="2"/>
                  <a:pt x="347" y="3"/>
                  <a:pt x="401" y="3"/>
                </a:cubicBezTo>
                <a:cubicBezTo>
                  <a:pt x="450" y="3"/>
                  <a:pt x="478" y="2"/>
                  <a:pt x="485" y="0"/>
                </a:cubicBezTo>
                <a:lnTo>
                  <a:pt x="491" y="0"/>
                </a:lnTo>
                <a:lnTo>
                  <a:pt x="491" y="56"/>
                </a:lnTo>
                <a:lnTo>
                  <a:pt x="406" y="56"/>
                </a:lnTo>
                <a:lnTo>
                  <a:pt x="301" y="180"/>
                </a:lnTo>
                <a:lnTo>
                  <a:pt x="436" y="345"/>
                </a:lnTo>
                <a:lnTo>
                  <a:pt x="473" y="345"/>
                </a:lnTo>
                <a:lnTo>
                  <a:pt x="509" y="345"/>
                </a:lnTo>
                <a:lnTo>
                  <a:pt x="509" y="401"/>
                </a:lnTo>
                <a:lnTo>
                  <a:pt x="502" y="401"/>
                </a:lnTo>
                <a:cubicBezTo>
                  <a:pt x="493" y="399"/>
                  <a:pt x="460" y="399"/>
                  <a:pt x="404" y="399"/>
                </a:cubicBezTo>
                <a:cubicBezTo>
                  <a:pt x="342" y="399"/>
                  <a:pt x="305" y="399"/>
                  <a:pt x="294" y="401"/>
                </a:cubicBezTo>
                <a:lnTo>
                  <a:pt x="286" y="401"/>
                </a:lnTo>
                <a:lnTo>
                  <a:pt x="286" y="345"/>
                </a:lnTo>
                <a:lnTo>
                  <a:pt x="311" y="345"/>
                </a:lnTo>
                <a:cubicBezTo>
                  <a:pt x="311" y="345"/>
                  <a:pt x="299" y="330"/>
                  <a:pt x="275" y="300"/>
                </a:cubicBezTo>
                <a:cubicBezTo>
                  <a:pt x="250" y="271"/>
                  <a:pt x="238" y="256"/>
                  <a:pt x="237" y="254"/>
                </a:cubicBezTo>
                <a:lnTo>
                  <a:pt x="159" y="345"/>
                </a:lnTo>
                <a:lnTo>
                  <a:pt x="176" y="345"/>
                </a:lnTo>
                <a:lnTo>
                  <a:pt x="192" y="345"/>
                </a:lnTo>
                <a:lnTo>
                  <a:pt x="192" y="401"/>
                </a:lnTo>
                <a:lnTo>
                  <a:pt x="185" y="401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41" name="フリーフォーム 40"/>
          <p:cNvSpPr/>
          <p:nvPr/>
        </p:nvSpPr>
        <p:spPr>
          <a:xfrm>
            <a:off x="4952340" y="3171690"/>
            <a:ext cx="58320" cy="243270"/>
          </a:xfrm>
          <a:custGeom>
            <a:avLst/>
            <a:gdLst/>
            <a:ahLst/>
            <a:cxnLst/>
            <a:rect l="0" t="0" r="r" b="b"/>
            <a:pathLst>
              <a:path w="216" h="901">
                <a:moveTo>
                  <a:pt x="4" y="1"/>
                </a:moveTo>
                <a:lnTo>
                  <a:pt x="8" y="0"/>
                </a:lnTo>
                <a:cubicBezTo>
                  <a:pt x="11" y="0"/>
                  <a:pt x="14" y="0"/>
                  <a:pt x="17" y="0"/>
                </a:cubicBezTo>
                <a:lnTo>
                  <a:pt x="28" y="0"/>
                </a:lnTo>
                <a:lnTo>
                  <a:pt x="54" y="22"/>
                </a:lnTo>
                <a:cubicBezTo>
                  <a:pt x="110" y="73"/>
                  <a:pt x="151" y="136"/>
                  <a:pt x="177" y="212"/>
                </a:cubicBezTo>
                <a:cubicBezTo>
                  <a:pt x="203" y="289"/>
                  <a:pt x="216" y="368"/>
                  <a:pt x="216" y="450"/>
                </a:cubicBezTo>
                <a:cubicBezTo>
                  <a:pt x="216" y="491"/>
                  <a:pt x="213" y="530"/>
                  <a:pt x="207" y="568"/>
                </a:cubicBezTo>
                <a:cubicBezTo>
                  <a:pt x="201" y="606"/>
                  <a:pt x="194" y="638"/>
                  <a:pt x="186" y="664"/>
                </a:cubicBezTo>
                <a:cubicBezTo>
                  <a:pt x="178" y="691"/>
                  <a:pt x="167" y="717"/>
                  <a:pt x="153" y="744"/>
                </a:cubicBezTo>
                <a:cubicBezTo>
                  <a:pt x="139" y="770"/>
                  <a:pt x="127" y="790"/>
                  <a:pt x="119" y="804"/>
                </a:cubicBezTo>
                <a:cubicBezTo>
                  <a:pt x="110" y="818"/>
                  <a:pt x="98" y="833"/>
                  <a:pt x="82" y="850"/>
                </a:cubicBezTo>
                <a:cubicBezTo>
                  <a:pt x="66" y="867"/>
                  <a:pt x="56" y="877"/>
                  <a:pt x="53" y="881"/>
                </a:cubicBezTo>
                <a:cubicBezTo>
                  <a:pt x="50" y="884"/>
                  <a:pt x="43" y="889"/>
                  <a:pt x="31" y="898"/>
                </a:cubicBezTo>
                <a:cubicBezTo>
                  <a:pt x="30" y="899"/>
                  <a:pt x="28" y="901"/>
                  <a:pt x="28" y="901"/>
                </a:cubicBezTo>
                <a:lnTo>
                  <a:pt x="17" y="901"/>
                </a:lnTo>
                <a:cubicBezTo>
                  <a:pt x="12" y="901"/>
                  <a:pt x="9" y="901"/>
                  <a:pt x="7" y="901"/>
                </a:cubicBezTo>
                <a:cubicBezTo>
                  <a:pt x="5" y="901"/>
                  <a:pt x="4" y="900"/>
                  <a:pt x="3" y="899"/>
                </a:cubicBezTo>
                <a:cubicBezTo>
                  <a:pt x="1" y="897"/>
                  <a:pt x="0" y="894"/>
                  <a:pt x="0" y="890"/>
                </a:cubicBezTo>
                <a:cubicBezTo>
                  <a:pt x="0" y="890"/>
                  <a:pt x="4" y="886"/>
                  <a:pt x="10" y="879"/>
                </a:cubicBezTo>
                <a:cubicBezTo>
                  <a:pt x="104" y="781"/>
                  <a:pt x="150" y="639"/>
                  <a:pt x="150" y="450"/>
                </a:cubicBezTo>
                <a:cubicBezTo>
                  <a:pt x="150" y="262"/>
                  <a:pt x="104" y="119"/>
                  <a:pt x="10" y="23"/>
                </a:cubicBezTo>
                <a:cubicBezTo>
                  <a:pt x="4" y="15"/>
                  <a:pt x="0" y="11"/>
                  <a:pt x="0" y="11"/>
                </a:cubicBezTo>
                <a:cubicBezTo>
                  <a:pt x="0" y="6"/>
                  <a:pt x="1" y="3"/>
                  <a:pt x="4" y="1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42" name="テキスト ボックス 41"/>
          <p:cNvSpPr txBox="1"/>
          <p:nvPr/>
        </p:nvSpPr>
        <p:spPr>
          <a:xfrm>
            <a:off x="560791" y="2784240"/>
            <a:ext cx="6876883" cy="2503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altLang="en-US" sz="1627">
                <a:solidFill>
                  <a:srgbClr val="1F2328"/>
                </a:solidFill>
                <a:latin typeface="HiraginoSans-W4"/>
                <a:ea typeface="HiraginoSans-W4"/>
              </a:rPr>
              <a:t>与えられた制約条件の下で、⽬的関数を最⼩化（または最⼤化）する問題</a:t>
            </a:r>
            <a:endParaRPr lang="en-US" sz="1627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43" name="フリーフォーム 42"/>
          <p:cNvSpPr/>
          <p:nvPr/>
        </p:nvSpPr>
        <p:spPr>
          <a:xfrm>
            <a:off x="807030" y="4214700"/>
            <a:ext cx="64530" cy="64530"/>
          </a:xfrm>
          <a:custGeom>
            <a:avLst/>
            <a:gdLst/>
            <a:ahLst/>
            <a:cxn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3" y="180"/>
                  <a:pt x="215" y="193"/>
                  <a:pt x="204" y="204"/>
                </a:cubicBezTo>
                <a:cubicBezTo>
                  <a:pt x="192" y="215"/>
                  <a:pt x="180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4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4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80" y="15"/>
                  <a:pt x="192" y="24"/>
                  <a:pt x="204" y="35"/>
                </a:cubicBezTo>
                <a:cubicBezTo>
                  <a:pt x="215" y="46"/>
                  <a:pt x="223" y="59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44" name="フリーフォーム 43"/>
          <p:cNvSpPr/>
          <p:nvPr/>
        </p:nvSpPr>
        <p:spPr>
          <a:xfrm>
            <a:off x="983610" y="4200390"/>
            <a:ext cx="137700" cy="108270"/>
          </a:xfrm>
          <a:custGeom>
            <a:avLst/>
            <a:gdLst/>
            <a:ahLst/>
            <a:cxnLst/>
            <a:rect l="0" t="0" r="r" b="b"/>
            <a:pathLst>
              <a:path w="510" h="401">
                <a:moveTo>
                  <a:pt x="187" y="401"/>
                </a:moveTo>
                <a:cubicBezTo>
                  <a:pt x="178" y="399"/>
                  <a:pt x="145" y="398"/>
                  <a:pt x="90" y="398"/>
                </a:cubicBezTo>
                <a:cubicBezTo>
                  <a:pt x="42" y="398"/>
                  <a:pt x="14" y="399"/>
                  <a:pt x="6" y="401"/>
                </a:cubicBezTo>
                <a:lnTo>
                  <a:pt x="0" y="401"/>
                </a:lnTo>
                <a:lnTo>
                  <a:pt x="0" y="345"/>
                </a:lnTo>
                <a:lnTo>
                  <a:pt x="87" y="345"/>
                </a:lnTo>
                <a:lnTo>
                  <a:pt x="203" y="209"/>
                </a:lnTo>
                <a:lnTo>
                  <a:pt x="79" y="56"/>
                </a:lnTo>
                <a:lnTo>
                  <a:pt x="5" y="56"/>
                </a:lnTo>
                <a:lnTo>
                  <a:pt x="5" y="0"/>
                </a:lnTo>
                <a:lnTo>
                  <a:pt x="12" y="0"/>
                </a:lnTo>
                <a:cubicBezTo>
                  <a:pt x="21" y="2"/>
                  <a:pt x="54" y="3"/>
                  <a:pt x="110" y="3"/>
                </a:cubicBezTo>
                <a:cubicBezTo>
                  <a:pt x="173" y="3"/>
                  <a:pt x="210" y="2"/>
                  <a:pt x="221" y="0"/>
                </a:cubicBezTo>
                <a:lnTo>
                  <a:pt x="229" y="0"/>
                </a:lnTo>
                <a:lnTo>
                  <a:pt x="229" y="56"/>
                </a:lnTo>
                <a:lnTo>
                  <a:pt x="204" y="56"/>
                </a:lnTo>
                <a:lnTo>
                  <a:pt x="235" y="95"/>
                </a:lnTo>
                <a:cubicBezTo>
                  <a:pt x="255" y="120"/>
                  <a:pt x="266" y="132"/>
                  <a:pt x="267" y="132"/>
                </a:cubicBezTo>
                <a:cubicBezTo>
                  <a:pt x="269" y="132"/>
                  <a:pt x="280" y="119"/>
                  <a:pt x="301" y="93"/>
                </a:cubicBezTo>
                <a:lnTo>
                  <a:pt x="332" y="56"/>
                </a:lnTo>
                <a:lnTo>
                  <a:pt x="299" y="56"/>
                </a:lnTo>
                <a:lnTo>
                  <a:pt x="299" y="0"/>
                </a:lnTo>
                <a:lnTo>
                  <a:pt x="306" y="0"/>
                </a:lnTo>
                <a:cubicBezTo>
                  <a:pt x="315" y="2"/>
                  <a:pt x="347" y="3"/>
                  <a:pt x="402" y="3"/>
                </a:cubicBezTo>
                <a:cubicBezTo>
                  <a:pt x="450" y="3"/>
                  <a:pt x="478" y="2"/>
                  <a:pt x="485" y="0"/>
                </a:cubicBezTo>
                <a:lnTo>
                  <a:pt x="492" y="0"/>
                </a:lnTo>
                <a:lnTo>
                  <a:pt x="492" y="56"/>
                </a:lnTo>
                <a:lnTo>
                  <a:pt x="406" y="56"/>
                </a:lnTo>
                <a:lnTo>
                  <a:pt x="302" y="178"/>
                </a:lnTo>
                <a:lnTo>
                  <a:pt x="436" y="344"/>
                </a:lnTo>
                <a:lnTo>
                  <a:pt x="473" y="345"/>
                </a:lnTo>
                <a:lnTo>
                  <a:pt x="510" y="345"/>
                </a:lnTo>
                <a:lnTo>
                  <a:pt x="510" y="401"/>
                </a:lnTo>
                <a:lnTo>
                  <a:pt x="502" y="401"/>
                </a:lnTo>
                <a:cubicBezTo>
                  <a:pt x="493" y="399"/>
                  <a:pt x="461" y="398"/>
                  <a:pt x="404" y="398"/>
                </a:cubicBezTo>
                <a:cubicBezTo>
                  <a:pt x="342" y="398"/>
                  <a:pt x="305" y="399"/>
                  <a:pt x="294" y="401"/>
                </a:cubicBezTo>
                <a:lnTo>
                  <a:pt x="286" y="401"/>
                </a:lnTo>
                <a:lnTo>
                  <a:pt x="286" y="345"/>
                </a:lnTo>
                <a:lnTo>
                  <a:pt x="312" y="345"/>
                </a:lnTo>
                <a:cubicBezTo>
                  <a:pt x="312" y="344"/>
                  <a:pt x="300" y="329"/>
                  <a:pt x="276" y="300"/>
                </a:cubicBezTo>
                <a:cubicBezTo>
                  <a:pt x="252" y="270"/>
                  <a:pt x="239" y="255"/>
                  <a:pt x="239" y="254"/>
                </a:cubicBezTo>
                <a:lnTo>
                  <a:pt x="159" y="344"/>
                </a:lnTo>
                <a:lnTo>
                  <a:pt x="178" y="345"/>
                </a:lnTo>
                <a:lnTo>
                  <a:pt x="194" y="345"/>
                </a:lnTo>
                <a:lnTo>
                  <a:pt x="194" y="401"/>
                </a:lnTo>
                <a:lnTo>
                  <a:pt x="187" y="401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45" name="テキスト ボックス 44"/>
          <p:cNvSpPr txBox="1"/>
          <p:nvPr/>
        </p:nvSpPr>
        <p:spPr>
          <a:xfrm>
            <a:off x="560790" y="3691440"/>
            <a:ext cx="833562" cy="2503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altLang="en-US" sz="1627">
                <a:solidFill>
                  <a:srgbClr val="1F2328"/>
                </a:solidFill>
                <a:latin typeface="HiraginoSans-W4"/>
                <a:ea typeface="HiraginoSans-W4"/>
              </a:rPr>
              <a:t>ここで：</a:t>
            </a:r>
            <a:endParaRPr lang="en-US" sz="1627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46" name="フリーフォーム 45"/>
          <p:cNvSpPr/>
          <p:nvPr/>
        </p:nvSpPr>
        <p:spPr>
          <a:xfrm>
            <a:off x="2279610" y="4136130"/>
            <a:ext cx="187380" cy="166050"/>
          </a:xfrm>
          <a:custGeom>
            <a:avLst/>
            <a:gdLst/>
            <a:ahLst/>
            <a:cxnLst/>
            <a:rect l="0" t="0" r="r" b="b"/>
            <a:pathLst>
              <a:path w="694" h="615">
                <a:moveTo>
                  <a:pt x="230" y="49"/>
                </a:moveTo>
                <a:cubicBezTo>
                  <a:pt x="230" y="45"/>
                  <a:pt x="212" y="42"/>
                  <a:pt x="177" y="41"/>
                </a:cubicBezTo>
                <a:cubicBezTo>
                  <a:pt x="163" y="41"/>
                  <a:pt x="154" y="41"/>
                  <a:pt x="150" y="40"/>
                </a:cubicBezTo>
                <a:cubicBezTo>
                  <a:pt x="146" y="40"/>
                  <a:pt x="144" y="37"/>
                  <a:pt x="144" y="32"/>
                </a:cubicBezTo>
                <a:cubicBezTo>
                  <a:pt x="144" y="27"/>
                  <a:pt x="145" y="21"/>
                  <a:pt x="148" y="14"/>
                </a:cubicBezTo>
                <a:cubicBezTo>
                  <a:pt x="150" y="7"/>
                  <a:pt x="152" y="3"/>
                  <a:pt x="154" y="1"/>
                </a:cubicBezTo>
                <a:cubicBezTo>
                  <a:pt x="155" y="0"/>
                  <a:pt x="216" y="0"/>
                  <a:pt x="334" y="0"/>
                </a:cubicBezTo>
                <a:cubicBezTo>
                  <a:pt x="434" y="0"/>
                  <a:pt x="490" y="1"/>
                  <a:pt x="502" y="1"/>
                </a:cubicBezTo>
                <a:cubicBezTo>
                  <a:pt x="514" y="1"/>
                  <a:pt x="526" y="3"/>
                  <a:pt x="538" y="6"/>
                </a:cubicBezTo>
                <a:cubicBezTo>
                  <a:pt x="581" y="16"/>
                  <a:pt x="618" y="40"/>
                  <a:pt x="648" y="77"/>
                </a:cubicBezTo>
                <a:cubicBezTo>
                  <a:pt x="678" y="114"/>
                  <a:pt x="693" y="164"/>
                  <a:pt x="694" y="227"/>
                </a:cubicBezTo>
                <a:cubicBezTo>
                  <a:pt x="694" y="320"/>
                  <a:pt x="662" y="404"/>
                  <a:pt x="597" y="479"/>
                </a:cubicBezTo>
                <a:cubicBezTo>
                  <a:pt x="533" y="554"/>
                  <a:pt x="458" y="598"/>
                  <a:pt x="371" y="613"/>
                </a:cubicBezTo>
                <a:lnTo>
                  <a:pt x="358" y="614"/>
                </a:lnTo>
                <a:lnTo>
                  <a:pt x="183" y="615"/>
                </a:lnTo>
                <a:lnTo>
                  <a:pt x="83" y="615"/>
                </a:lnTo>
                <a:lnTo>
                  <a:pt x="35" y="615"/>
                </a:lnTo>
                <a:cubicBezTo>
                  <a:pt x="21" y="615"/>
                  <a:pt x="11" y="615"/>
                  <a:pt x="7" y="613"/>
                </a:cubicBezTo>
                <a:cubicBezTo>
                  <a:pt x="3" y="612"/>
                  <a:pt x="1" y="610"/>
                  <a:pt x="0" y="605"/>
                </a:cubicBezTo>
                <a:cubicBezTo>
                  <a:pt x="0" y="604"/>
                  <a:pt x="1" y="600"/>
                  <a:pt x="3" y="593"/>
                </a:cubicBezTo>
                <a:cubicBezTo>
                  <a:pt x="5" y="583"/>
                  <a:pt x="8" y="578"/>
                  <a:pt x="10" y="577"/>
                </a:cubicBezTo>
                <a:cubicBezTo>
                  <a:pt x="12" y="575"/>
                  <a:pt x="19" y="574"/>
                  <a:pt x="31" y="574"/>
                </a:cubicBezTo>
                <a:cubicBezTo>
                  <a:pt x="47" y="574"/>
                  <a:pt x="65" y="573"/>
                  <a:pt x="85" y="571"/>
                </a:cubicBezTo>
                <a:cubicBezTo>
                  <a:pt x="93" y="569"/>
                  <a:pt x="99" y="566"/>
                  <a:pt x="102" y="560"/>
                </a:cubicBezTo>
                <a:cubicBezTo>
                  <a:pt x="103" y="558"/>
                  <a:pt x="125" y="475"/>
                  <a:pt x="166" y="309"/>
                </a:cubicBezTo>
                <a:cubicBezTo>
                  <a:pt x="209" y="145"/>
                  <a:pt x="230" y="58"/>
                  <a:pt x="230" y="49"/>
                </a:cubicBezTo>
                <a:moveTo>
                  <a:pt x="604" y="192"/>
                </a:moveTo>
                <a:cubicBezTo>
                  <a:pt x="604" y="170"/>
                  <a:pt x="600" y="149"/>
                  <a:pt x="594" y="131"/>
                </a:cubicBezTo>
                <a:cubicBezTo>
                  <a:pt x="587" y="113"/>
                  <a:pt x="579" y="99"/>
                  <a:pt x="570" y="89"/>
                </a:cubicBezTo>
                <a:cubicBezTo>
                  <a:pt x="561" y="79"/>
                  <a:pt x="550" y="70"/>
                  <a:pt x="537" y="63"/>
                </a:cubicBezTo>
                <a:cubicBezTo>
                  <a:pt x="524" y="56"/>
                  <a:pt x="512" y="51"/>
                  <a:pt x="502" y="48"/>
                </a:cubicBezTo>
                <a:cubicBezTo>
                  <a:pt x="492" y="46"/>
                  <a:pt x="481" y="44"/>
                  <a:pt x="471" y="42"/>
                </a:cubicBezTo>
                <a:cubicBezTo>
                  <a:pt x="469" y="42"/>
                  <a:pt x="465" y="42"/>
                  <a:pt x="458" y="42"/>
                </a:cubicBezTo>
                <a:cubicBezTo>
                  <a:pt x="451" y="42"/>
                  <a:pt x="442" y="42"/>
                  <a:pt x="432" y="42"/>
                </a:cubicBezTo>
                <a:cubicBezTo>
                  <a:pt x="422" y="42"/>
                  <a:pt x="412" y="42"/>
                  <a:pt x="402" y="41"/>
                </a:cubicBezTo>
                <a:lnTo>
                  <a:pt x="364" y="41"/>
                </a:lnTo>
                <a:cubicBezTo>
                  <a:pt x="337" y="41"/>
                  <a:pt x="322" y="44"/>
                  <a:pt x="319" y="50"/>
                </a:cubicBezTo>
                <a:cubicBezTo>
                  <a:pt x="317" y="53"/>
                  <a:pt x="295" y="139"/>
                  <a:pt x="253" y="309"/>
                </a:cubicBezTo>
                <a:cubicBezTo>
                  <a:pt x="210" y="481"/>
                  <a:pt x="188" y="567"/>
                  <a:pt x="188" y="568"/>
                </a:cubicBezTo>
                <a:cubicBezTo>
                  <a:pt x="188" y="571"/>
                  <a:pt x="191" y="572"/>
                  <a:pt x="198" y="572"/>
                </a:cubicBezTo>
                <a:cubicBezTo>
                  <a:pt x="205" y="572"/>
                  <a:pt x="229" y="572"/>
                  <a:pt x="268" y="573"/>
                </a:cubicBezTo>
                <a:cubicBezTo>
                  <a:pt x="271" y="573"/>
                  <a:pt x="277" y="573"/>
                  <a:pt x="285" y="573"/>
                </a:cubicBezTo>
                <a:cubicBezTo>
                  <a:pt x="294" y="573"/>
                  <a:pt x="301" y="573"/>
                  <a:pt x="307" y="574"/>
                </a:cubicBezTo>
                <a:cubicBezTo>
                  <a:pt x="382" y="574"/>
                  <a:pt x="445" y="549"/>
                  <a:pt x="494" y="500"/>
                </a:cubicBezTo>
                <a:cubicBezTo>
                  <a:pt x="516" y="478"/>
                  <a:pt x="533" y="453"/>
                  <a:pt x="547" y="424"/>
                </a:cubicBezTo>
                <a:cubicBezTo>
                  <a:pt x="561" y="395"/>
                  <a:pt x="574" y="357"/>
                  <a:pt x="586" y="309"/>
                </a:cubicBezTo>
                <a:cubicBezTo>
                  <a:pt x="598" y="262"/>
                  <a:pt x="604" y="223"/>
                  <a:pt x="604" y="19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47" name="フリーフォーム 46"/>
          <p:cNvSpPr/>
          <p:nvPr/>
        </p:nvSpPr>
        <p:spPr>
          <a:xfrm>
            <a:off x="807030" y="4571910"/>
            <a:ext cx="64530" cy="64530"/>
          </a:xfrm>
          <a:custGeom>
            <a:avLst/>
            <a:gdLst/>
            <a:ahLst/>
            <a:cxn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4"/>
                </a:cubicBezTo>
                <a:cubicBezTo>
                  <a:pt x="223" y="180"/>
                  <a:pt x="215" y="193"/>
                  <a:pt x="204" y="204"/>
                </a:cubicBezTo>
                <a:cubicBezTo>
                  <a:pt x="192" y="215"/>
                  <a:pt x="180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4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4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4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80" y="15"/>
                  <a:pt x="192" y="24"/>
                  <a:pt x="204" y="35"/>
                </a:cubicBezTo>
                <a:cubicBezTo>
                  <a:pt x="215" y="46"/>
                  <a:pt x="223" y="59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48" name="フリーフォーム 47"/>
          <p:cNvSpPr/>
          <p:nvPr/>
        </p:nvSpPr>
        <p:spPr>
          <a:xfrm>
            <a:off x="991980" y="4497120"/>
            <a:ext cx="120420" cy="221400"/>
          </a:xfrm>
          <a:custGeom>
            <a:avLst/>
            <a:gdLst/>
            <a:ahLst/>
            <a:cxnLst/>
            <a:rect l="0" t="0" r="r" b="b"/>
            <a:pathLst>
              <a:path w="446" h="820">
                <a:moveTo>
                  <a:pt x="57" y="781"/>
                </a:moveTo>
                <a:cubicBezTo>
                  <a:pt x="58" y="781"/>
                  <a:pt x="60" y="782"/>
                  <a:pt x="62" y="783"/>
                </a:cubicBezTo>
                <a:cubicBezTo>
                  <a:pt x="64" y="784"/>
                  <a:pt x="68" y="785"/>
                  <a:pt x="72" y="786"/>
                </a:cubicBezTo>
                <a:cubicBezTo>
                  <a:pt x="76" y="786"/>
                  <a:pt x="80" y="787"/>
                  <a:pt x="83" y="787"/>
                </a:cubicBezTo>
                <a:cubicBezTo>
                  <a:pt x="90" y="787"/>
                  <a:pt x="98" y="783"/>
                  <a:pt x="104" y="775"/>
                </a:cubicBezTo>
                <a:cubicBezTo>
                  <a:pt x="112" y="767"/>
                  <a:pt x="117" y="758"/>
                  <a:pt x="120" y="749"/>
                </a:cubicBezTo>
                <a:cubicBezTo>
                  <a:pt x="126" y="733"/>
                  <a:pt x="136" y="687"/>
                  <a:pt x="150" y="611"/>
                </a:cubicBezTo>
                <a:cubicBezTo>
                  <a:pt x="165" y="535"/>
                  <a:pt x="178" y="463"/>
                  <a:pt x="192" y="395"/>
                </a:cubicBezTo>
                <a:cubicBezTo>
                  <a:pt x="205" y="327"/>
                  <a:pt x="211" y="292"/>
                  <a:pt x="211" y="292"/>
                </a:cubicBezTo>
                <a:lnTo>
                  <a:pt x="211" y="289"/>
                </a:lnTo>
                <a:lnTo>
                  <a:pt x="169" y="289"/>
                </a:lnTo>
                <a:cubicBezTo>
                  <a:pt x="141" y="289"/>
                  <a:pt x="126" y="288"/>
                  <a:pt x="124" y="287"/>
                </a:cubicBezTo>
                <a:cubicBezTo>
                  <a:pt x="122" y="285"/>
                  <a:pt x="121" y="282"/>
                  <a:pt x="121" y="278"/>
                </a:cubicBezTo>
                <a:lnTo>
                  <a:pt x="127" y="253"/>
                </a:lnTo>
                <a:cubicBezTo>
                  <a:pt x="128" y="250"/>
                  <a:pt x="130" y="248"/>
                  <a:pt x="134" y="248"/>
                </a:cubicBezTo>
                <a:cubicBezTo>
                  <a:pt x="138" y="248"/>
                  <a:pt x="152" y="248"/>
                  <a:pt x="176" y="247"/>
                </a:cubicBezTo>
                <a:cubicBezTo>
                  <a:pt x="205" y="247"/>
                  <a:pt x="220" y="247"/>
                  <a:pt x="220" y="247"/>
                </a:cubicBezTo>
                <a:cubicBezTo>
                  <a:pt x="220" y="245"/>
                  <a:pt x="222" y="230"/>
                  <a:pt x="228" y="202"/>
                </a:cubicBezTo>
                <a:cubicBezTo>
                  <a:pt x="233" y="173"/>
                  <a:pt x="237" y="155"/>
                  <a:pt x="238" y="149"/>
                </a:cubicBezTo>
                <a:cubicBezTo>
                  <a:pt x="261" y="50"/>
                  <a:pt x="304" y="0"/>
                  <a:pt x="370" y="0"/>
                </a:cubicBezTo>
                <a:cubicBezTo>
                  <a:pt x="392" y="1"/>
                  <a:pt x="410" y="8"/>
                  <a:pt x="425" y="21"/>
                </a:cubicBezTo>
                <a:cubicBezTo>
                  <a:pt x="439" y="33"/>
                  <a:pt x="446" y="49"/>
                  <a:pt x="446" y="68"/>
                </a:cubicBezTo>
                <a:cubicBezTo>
                  <a:pt x="446" y="90"/>
                  <a:pt x="440" y="106"/>
                  <a:pt x="427" y="115"/>
                </a:cubicBezTo>
                <a:cubicBezTo>
                  <a:pt x="415" y="125"/>
                  <a:pt x="402" y="130"/>
                  <a:pt x="390" y="130"/>
                </a:cubicBezTo>
                <a:cubicBezTo>
                  <a:pt x="363" y="130"/>
                  <a:pt x="350" y="118"/>
                  <a:pt x="350" y="93"/>
                </a:cubicBezTo>
                <a:cubicBezTo>
                  <a:pt x="350" y="81"/>
                  <a:pt x="353" y="71"/>
                  <a:pt x="360" y="63"/>
                </a:cubicBezTo>
                <a:cubicBezTo>
                  <a:pt x="367" y="55"/>
                  <a:pt x="374" y="48"/>
                  <a:pt x="382" y="44"/>
                </a:cubicBezTo>
                <a:lnTo>
                  <a:pt x="390" y="40"/>
                </a:lnTo>
                <a:cubicBezTo>
                  <a:pt x="380" y="36"/>
                  <a:pt x="371" y="34"/>
                  <a:pt x="363" y="34"/>
                </a:cubicBezTo>
                <a:cubicBezTo>
                  <a:pt x="355" y="34"/>
                  <a:pt x="349" y="37"/>
                  <a:pt x="342" y="43"/>
                </a:cubicBezTo>
                <a:cubicBezTo>
                  <a:pt x="335" y="49"/>
                  <a:pt x="331" y="58"/>
                  <a:pt x="328" y="68"/>
                </a:cubicBezTo>
                <a:cubicBezTo>
                  <a:pt x="324" y="86"/>
                  <a:pt x="319" y="109"/>
                  <a:pt x="314" y="139"/>
                </a:cubicBezTo>
                <a:cubicBezTo>
                  <a:pt x="309" y="168"/>
                  <a:pt x="304" y="193"/>
                  <a:pt x="300" y="213"/>
                </a:cubicBezTo>
                <a:cubicBezTo>
                  <a:pt x="295" y="234"/>
                  <a:pt x="293" y="244"/>
                  <a:pt x="293" y="246"/>
                </a:cubicBezTo>
                <a:cubicBezTo>
                  <a:pt x="293" y="247"/>
                  <a:pt x="310" y="247"/>
                  <a:pt x="343" y="247"/>
                </a:cubicBezTo>
                <a:cubicBezTo>
                  <a:pt x="370" y="247"/>
                  <a:pt x="385" y="248"/>
                  <a:pt x="390" y="248"/>
                </a:cubicBezTo>
                <a:cubicBezTo>
                  <a:pt x="394" y="249"/>
                  <a:pt x="397" y="251"/>
                  <a:pt x="400" y="254"/>
                </a:cubicBezTo>
                <a:cubicBezTo>
                  <a:pt x="400" y="256"/>
                  <a:pt x="400" y="261"/>
                  <a:pt x="398" y="269"/>
                </a:cubicBezTo>
                <a:cubicBezTo>
                  <a:pt x="396" y="277"/>
                  <a:pt x="394" y="282"/>
                  <a:pt x="393" y="283"/>
                </a:cubicBezTo>
                <a:cubicBezTo>
                  <a:pt x="392" y="286"/>
                  <a:pt x="389" y="288"/>
                  <a:pt x="385" y="288"/>
                </a:cubicBezTo>
                <a:cubicBezTo>
                  <a:pt x="381" y="288"/>
                  <a:pt x="365" y="288"/>
                  <a:pt x="337" y="289"/>
                </a:cubicBezTo>
                <a:lnTo>
                  <a:pt x="286" y="289"/>
                </a:lnTo>
                <a:lnTo>
                  <a:pt x="265" y="399"/>
                </a:lnTo>
                <a:cubicBezTo>
                  <a:pt x="237" y="547"/>
                  <a:pt x="217" y="640"/>
                  <a:pt x="205" y="678"/>
                </a:cubicBezTo>
                <a:cubicBezTo>
                  <a:pt x="189" y="729"/>
                  <a:pt x="168" y="766"/>
                  <a:pt x="142" y="791"/>
                </a:cubicBezTo>
                <a:cubicBezTo>
                  <a:pt x="120" y="810"/>
                  <a:pt x="97" y="820"/>
                  <a:pt x="75" y="820"/>
                </a:cubicBezTo>
                <a:cubicBezTo>
                  <a:pt x="56" y="820"/>
                  <a:pt x="39" y="814"/>
                  <a:pt x="23" y="803"/>
                </a:cubicBezTo>
                <a:cubicBezTo>
                  <a:pt x="8" y="791"/>
                  <a:pt x="0" y="775"/>
                  <a:pt x="0" y="754"/>
                </a:cubicBezTo>
                <a:cubicBezTo>
                  <a:pt x="0" y="732"/>
                  <a:pt x="6" y="716"/>
                  <a:pt x="19" y="706"/>
                </a:cubicBezTo>
                <a:cubicBezTo>
                  <a:pt x="31" y="695"/>
                  <a:pt x="44" y="690"/>
                  <a:pt x="57" y="690"/>
                </a:cubicBezTo>
                <a:cubicBezTo>
                  <a:pt x="83" y="690"/>
                  <a:pt x="96" y="703"/>
                  <a:pt x="96" y="728"/>
                </a:cubicBezTo>
                <a:cubicBezTo>
                  <a:pt x="96" y="739"/>
                  <a:pt x="93" y="749"/>
                  <a:pt x="86" y="758"/>
                </a:cubicBezTo>
                <a:cubicBezTo>
                  <a:pt x="80" y="766"/>
                  <a:pt x="72" y="772"/>
                  <a:pt x="65" y="777"/>
                </a:cubicBezTo>
                <a:lnTo>
                  <a:pt x="57" y="781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49" name="フリーフォーム 48"/>
          <p:cNvSpPr/>
          <p:nvPr/>
        </p:nvSpPr>
        <p:spPr>
          <a:xfrm>
            <a:off x="1135080" y="4486050"/>
            <a:ext cx="58320" cy="243270"/>
          </a:xfrm>
          <a:custGeom>
            <a:avLst/>
            <a:gdLst/>
            <a:ahLst/>
            <a:cxnLst/>
            <a:rect l="0" t="0" r="r" b="b"/>
            <a:pathLst>
              <a:path w="216" h="901">
                <a:moveTo>
                  <a:pt x="0" y="450"/>
                </a:moveTo>
                <a:cubicBezTo>
                  <a:pt x="0" y="409"/>
                  <a:pt x="3" y="370"/>
                  <a:pt x="9" y="332"/>
                </a:cubicBezTo>
                <a:cubicBezTo>
                  <a:pt x="15" y="295"/>
                  <a:pt x="22" y="263"/>
                  <a:pt x="30" y="236"/>
                </a:cubicBezTo>
                <a:cubicBezTo>
                  <a:pt x="37" y="209"/>
                  <a:pt x="49" y="183"/>
                  <a:pt x="63" y="157"/>
                </a:cubicBezTo>
                <a:cubicBezTo>
                  <a:pt x="77" y="131"/>
                  <a:pt x="89" y="111"/>
                  <a:pt x="97" y="97"/>
                </a:cubicBezTo>
                <a:cubicBezTo>
                  <a:pt x="106" y="82"/>
                  <a:pt x="118" y="67"/>
                  <a:pt x="135" y="50"/>
                </a:cubicBezTo>
                <a:cubicBezTo>
                  <a:pt x="152" y="33"/>
                  <a:pt x="162" y="23"/>
                  <a:pt x="165" y="19"/>
                </a:cubicBezTo>
                <a:cubicBezTo>
                  <a:pt x="168" y="16"/>
                  <a:pt x="175" y="9"/>
                  <a:pt x="187" y="0"/>
                </a:cubicBezTo>
                <a:lnTo>
                  <a:pt x="199" y="0"/>
                </a:lnTo>
                <a:lnTo>
                  <a:pt x="202" y="0"/>
                </a:lnTo>
                <a:cubicBezTo>
                  <a:pt x="212" y="0"/>
                  <a:pt x="216" y="3"/>
                  <a:pt x="216" y="8"/>
                </a:cubicBezTo>
                <a:cubicBezTo>
                  <a:pt x="216" y="10"/>
                  <a:pt x="211" y="17"/>
                  <a:pt x="200" y="27"/>
                </a:cubicBezTo>
                <a:cubicBezTo>
                  <a:pt x="190" y="38"/>
                  <a:pt x="177" y="54"/>
                  <a:pt x="163" y="75"/>
                </a:cubicBezTo>
                <a:cubicBezTo>
                  <a:pt x="148" y="96"/>
                  <a:pt x="134" y="122"/>
                  <a:pt x="119" y="152"/>
                </a:cubicBezTo>
                <a:cubicBezTo>
                  <a:pt x="104" y="183"/>
                  <a:pt x="91" y="224"/>
                  <a:pt x="81" y="277"/>
                </a:cubicBezTo>
                <a:cubicBezTo>
                  <a:pt x="71" y="329"/>
                  <a:pt x="66" y="387"/>
                  <a:pt x="66" y="450"/>
                </a:cubicBezTo>
                <a:cubicBezTo>
                  <a:pt x="66" y="515"/>
                  <a:pt x="71" y="573"/>
                  <a:pt x="81" y="624"/>
                </a:cubicBezTo>
                <a:cubicBezTo>
                  <a:pt x="91" y="676"/>
                  <a:pt x="103" y="717"/>
                  <a:pt x="118" y="749"/>
                </a:cubicBezTo>
                <a:cubicBezTo>
                  <a:pt x="132" y="781"/>
                  <a:pt x="147" y="807"/>
                  <a:pt x="162" y="827"/>
                </a:cubicBezTo>
                <a:cubicBezTo>
                  <a:pt x="177" y="846"/>
                  <a:pt x="190" y="862"/>
                  <a:pt x="200" y="874"/>
                </a:cubicBezTo>
                <a:cubicBezTo>
                  <a:pt x="211" y="886"/>
                  <a:pt x="216" y="893"/>
                  <a:pt x="216" y="893"/>
                </a:cubicBezTo>
                <a:cubicBezTo>
                  <a:pt x="216" y="899"/>
                  <a:pt x="212" y="901"/>
                  <a:pt x="202" y="901"/>
                </a:cubicBezTo>
                <a:lnTo>
                  <a:pt x="199" y="901"/>
                </a:lnTo>
                <a:lnTo>
                  <a:pt x="187" y="901"/>
                </a:lnTo>
                <a:lnTo>
                  <a:pt x="162" y="880"/>
                </a:lnTo>
                <a:cubicBezTo>
                  <a:pt x="106" y="829"/>
                  <a:pt x="64" y="765"/>
                  <a:pt x="39" y="689"/>
                </a:cubicBezTo>
                <a:cubicBezTo>
                  <a:pt x="13" y="613"/>
                  <a:pt x="0" y="534"/>
                  <a:pt x="0" y="45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50" name="フリーフォーム 49"/>
          <p:cNvSpPr/>
          <p:nvPr/>
        </p:nvSpPr>
        <p:spPr>
          <a:xfrm>
            <a:off x="1211760" y="4560570"/>
            <a:ext cx="137700" cy="108000"/>
          </a:xfrm>
          <a:custGeom>
            <a:avLst/>
            <a:gdLst/>
            <a:ahLst/>
            <a:cxnLst/>
            <a:rect l="0" t="0" r="r" b="b"/>
            <a:pathLst>
              <a:path w="510" h="400">
                <a:moveTo>
                  <a:pt x="186" y="400"/>
                </a:moveTo>
                <a:cubicBezTo>
                  <a:pt x="177" y="399"/>
                  <a:pt x="145" y="398"/>
                  <a:pt x="90" y="398"/>
                </a:cubicBezTo>
                <a:cubicBezTo>
                  <a:pt x="42" y="398"/>
                  <a:pt x="14" y="399"/>
                  <a:pt x="7" y="400"/>
                </a:cubicBezTo>
                <a:lnTo>
                  <a:pt x="0" y="400"/>
                </a:lnTo>
                <a:lnTo>
                  <a:pt x="0" y="345"/>
                </a:lnTo>
                <a:lnTo>
                  <a:pt x="87" y="345"/>
                </a:lnTo>
                <a:lnTo>
                  <a:pt x="202" y="209"/>
                </a:lnTo>
                <a:lnTo>
                  <a:pt x="80" y="57"/>
                </a:lnTo>
                <a:lnTo>
                  <a:pt x="5" y="57"/>
                </a:lnTo>
                <a:lnTo>
                  <a:pt x="5" y="0"/>
                </a:lnTo>
                <a:lnTo>
                  <a:pt x="12" y="0"/>
                </a:lnTo>
                <a:cubicBezTo>
                  <a:pt x="21" y="2"/>
                  <a:pt x="54" y="2"/>
                  <a:pt x="110" y="2"/>
                </a:cubicBezTo>
                <a:cubicBezTo>
                  <a:pt x="173" y="2"/>
                  <a:pt x="209" y="2"/>
                  <a:pt x="220" y="0"/>
                </a:cubicBezTo>
                <a:lnTo>
                  <a:pt x="228" y="0"/>
                </a:lnTo>
                <a:lnTo>
                  <a:pt x="228" y="57"/>
                </a:lnTo>
                <a:lnTo>
                  <a:pt x="203" y="57"/>
                </a:lnTo>
                <a:lnTo>
                  <a:pt x="234" y="95"/>
                </a:lnTo>
                <a:cubicBezTo>
                  <a:pt x="255" y="120"/>
                  <a:pt x="265" y="133"/>
                  <a:pt x="266" y="133"/>
                </a:cubicBezTo>
                <a:cubicBezTo>
                  <a:pt x="268" y="133"/>
                  <a:pt x="280" y="120"/>
                  <a:pt x="300" y="93"/>
                </a:cubicBezTo>
                <a:lnTo>
                  <a:pt x="332" y="57"/>
                </a:lnTo>
                <a:lnTo>
                  <a:pt x="298" y="57"/>
                </a:lnTo>
                <a:lnTo>
                  <a:pt x="298" y="0"/>
                </a:lnTo>
                <a:lnTo>
                  <a:pt x="305" y="0"/>
                </a:lnTo>
                <a:cubicBezTo>
                  <a:pt x="314" y="2"/>
                  <a:pt x="347" y="2"/>
                  <a:pt x="402" y="2"/>
                </a:cubicBezTo>
                <a:cubicBezTo>
                  <a:pt x="450" y="2"/>
                  <a:pt x="478" y="2"/>
                  <a:pt x="486" y="0"/>
                </a:cubicBezTo>
                <a:lnTo>
                  <a:pt x="492" y="0"/>
                </a:lnTo>
                <a:lnTo>
                  <a:pt x="492" y="57"/>
                </a:lnTo>
                <a:lnTo>
                  <a:pt x="406" y="57"/>
                </a:lnTo>
                <a:lnTo>
                  <a:pt x="301" y="179"/>
                </a:lnTo>
                <a:lnTo>
                  <a:pt x="436" y="344"/>
                </a:lnTo>
                <a:lnTo>
                  <a:pt x="473" y="345"/>
                </a:lnTo>
                <a:lnTo>
                  <a:pt x="510" y="345"/>
                </a:lnTo>
                <a:lnTo>
                  <a:pt x="510" y="400"/>
                </a:lnTo>
                <a:lnTo>
                  <a:pt x="503" y="400"/>
                </a:lnTo>
                <a:cubicBezTo>
                  <a:pt x="494" y="399"/>
                  <a:pt x="461" y="398"/>
                  <a:pt x="405" y="398"/>
                </a:cubicBezTo>
                <a:cubicBezTo>
                  <a:pt x="342" y="398"/>
                  <a:pt x="305" y="399"/>
                  <a:pt x="294" y="400"/>
                </a:cubicBezTo>
                <a:lnTo>
                  <a:pt x="286" y="400"/>
                </a:lnTo>
                <a:lnTo>
                  <a:pt x="286" y="345"/>
                </a:lnTo>
                <a:lnTo>
                  <a:pt x="311" y="345"/>
                </a:lnTo>
                <a:cubicBezTo>
                  <a:pt x="311" y="344"/>
                  <a:pt x="299" y="329"/>
                  <a:pt x="275" y="300"/>
                </a:cubicBezTo>
                <a:cubicBezTo>
                  <a:pt x="251" y="270"/>
                  <a:pt x="239" y="255"/>
                  <a:pt x="238" y="254"/>
                </a:cubicBezTo>
                <a:lnTo>
                  <a:pt x="160" y="344"/>
                </a:lnTo>
                <a:lnTo>
                  <a:pt x="177" y="345"/>
                </a:lnTo>
                <a:lnTo>
                  <a:pt x="193" y="345"/>
                </a:lnTo>
                <a:lnTo>
                  <a:pt x="193" y="400"/>
                </a:lnTo>
                <a:lnTo>
                  <a:pt x="186" y="40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51" name="フリーフォーム 50"/>
          <p:cNvSpPr/>
          <p:nvPr/>
        </p:nvSpPr>
        <p:spPr>
          <a:xfrm>
            <a:off x="1367550" y="4486050"/>
            <a:ext cx="58320" cy="243270"/>
          </a:xfrm>
          <a:custGeom>
            <a:avLst/>
            <a:gdLst/>
            <a:ahLst/>
            <a:cxnLst/>
            <a:rect l="0" t="0" r="r" b="b"/>
            <a:pathLst>
              <a:path w="216" h="901">
                <a:moveTo>
                  <a:pt x="5" y="1"/>
                </a:moveTo>
                <a:lnTo>
                  <a:pt x="8" y="0"/>
                </a:lnTo>
                <a:cubicBezTo>
                  <a:pt x="11" y="0"/>
                  <a:pt x="14" y="0"/>
                  <a:pt x="17" y="0"/>
                </a:cubicBezTo>
                <a:lnTo>
                  <a:pt x="28" y="0"/>
                </a:lnTo>
                <a:lnTo>
                  <a:pt x="53" y="22"/>
                </a:lnTo>
                <a:cubicBezTo>
                  <a:pt x="110" y="73"/>
                  <a:pt x="151" y="137"/>
                  <a:pt x="177" y="213"/>
                </a:cubicBezTo>
                <a:cubicBezTo>
                  <a:pt x="202" y="289"/>
                  <a:pt x="216" y="368"/>
                  <a:pt x="216" y="450"/>
                </a:cubicBezTo>
                <a:cubicBezTo>
                  <a:pt x="216" y="491"/>
                  <a:pt x="213" y="531"/>
                  <a:pt x="207" y="569"/>
                </a:cubicBezTo>
                <a:cubicBezTo>
                  <a:pt x="200" y="607"/>
                  <a:pt x="193" y="639"/>
                  <a:pt x="186" y="666"/>
                </a:cubicBezTo>
                <a:cubicBezTo>
                  <a:pt x="178" y="692"/>
                  <a:pt x="167" y="718"/>
                  <a:pt x="152" y="745"/>
                </a:cubicBezTo>
                <a:cubicBezTo>
                  <a:pt x="138" y="771"/>
                  <a:pt x="127" y="791"/>
                  <a:pt x="118" y="805"/>
                </a:cubicBezTo>
                <a:cubicBezTo>
                  <a:pt x="110" y="819"/>
                  <a:pt x="97" y="834"/>
                  <a:pt x="81" y="851"/>
                </a:cubicBezTo>
                <a:cubicBezTo>
                  <a:pt x="65" y="868"/>
                  <a:pt x="55" y="878"/>
                  <a:pt x="52" y="881"/>
                </a:cubicBezTo>
                <a:cubicBezTo>
                  <a:pt x="49" y="884"/>
                  <a:pt x="43" y="889"/>
                  <a:pt x="32" y="898"/>
                </a:cubicBezTo>
                <a:cubicBezTo>
                  <a:pt x="30" y="900"/>
                  <a:pt x="29" y="901"/>
                  <a:pt x="28" y="901"/>
                </a:cubicBezTo>
                <a:lnTo>
                  <a:pt x="17" y="901"/>
                </a:lnTo>
                <a:cubicBezTo>
                  <a:pt x="13" y="901"/>
                  <a:pt x="9" y="901"/>
                  <a:pt x="7" y="901"/>
                </a:cubicBezTo>
                <a:cubicBezTo>
                  <a:pt x="6" y="901"/>
                  <a:pt x="4" y="900"/>
                  <a:pt x="3" y="899"/>
                </a:cubicBezTo>
                <a:cubicBezTo>
                  <a:pt x="2" y="897"/>
                  <a:pt x="1" y="894"/>
                  <a:pt x="0" y="891"/>
                </a:cubicBezTo>
                <a:cubicBezTo>
                  <a:pt x="1" y="890"/>
                  <a:pt x="4" y="886"/>
                  <a:pt x="10" y="879"/>
                </a:cubicBezTo>
                <a:cubicBezTo>
                  <a:pt x="103" y="782"/>
                  <a:pt x="150" y="640"/>
                  <a:pt x="150" y="450"/>
                </a:cubicBezTo>
                <a:cubicBezTo>
                  <a:pt x="150" y="262"/>
                  <a:pt x="103" y="119"/>
                  <a:pt x="10" y="23"/>
                </a:cubicBezTo>
                <a:cubicBezTo>
                  <a:pt x="4" y="16"/>
                  <a:pt x="1" y="12"/>
                  <a:pt x="0" y="11"/>
                </a:cubicBezTo>
                <a:cubicBezTo>
                  <a:pt x="0" y="6"/>
                  <a:pt x="2" y="3"/>
                  <a:pt x="5" y="1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52" name="テキスト ボックス 51"/>
          <p:cNvSpPr txBox="1"/>
          <p:nvPr/>
        </p:nvSpPr>
        <p:spPr>
          <a:xfrm>
            <a:off x="1122660" y="4120200"/>
            <a:ext cx="2685030" cy="2503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27">
                <a:solidFill>
                  <a:srgbClr val="1F2328"/>
                </a:solidFill>
                <a:latin typeface="Arial"/>
                <a:ea typeface="Arial"/>
              </a:rPr>
              <a:t>: </a:t>
            </a:r>
            <a:r>
              <a:rPr lang="ja-JP" altLang="en-US" sz="1627">
                <a:solidFill>
                  <a:srgbClr val="1F2328"/>
                </a:solidFill>
                <a:latin typeface="HiraginoSans-W4"/>
                <a:ea typeface="HiraginoSans-W4"/>
              </a:rPr>
              <a:t>決定変数（ 次元ベクトル）</a:t>
            </a:r>
            <a:endParaRPr lang="en-US" sz="1627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53" name="フリーフォーム 52"/>
          <p:cNvSpPr/>
          <p:nvPr/>
        </p:nvSpPr>
        <p:spPr>
          <a:xfrm>
            <a:off x="807030" y="4936140"/>
            <a:ext cx="64530" cy="64530"/>
          </a:xfrm>
          <a:custGeom>
            <a:avLst/>
            <a:gdLst/>
            <a:ahLst/>
            <a:cxn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3" y="180"/>
                  <a:pt x="215" y="193"/>
                  <a:pt x="204" y="204"/>
                </a:cubicBezTo>
                <a:cubicBezTo>
                  <a:pt x="192" y="216"/>
                  <a:pt x="180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4" y="239"/>
                  <a:pt x="88" y="236"/>
                  <a:pt x="74" y="230"/>
                </a:cubicBezTo>
                <a:cubicBezTo>
                  <a:pt x="59" y="224"/>
                  <a:pt x="46" y="216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5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5"/>
                  <a:pt x="59" y="16"/>
                  <a:pt x="74" y="10"/>
                </a:cubicBezTo>
                <a:cubicBezTo>
                  <a:pt x="88" y="3"/>
                  <a:pt x="104" y="0"/>
                  <a:pt x="119" y="0"/>
                </a:cubicBezTo>
                <a:cubicBezTo>
                  <a:pt x="135" y="0"/>
                  <a:pt x="150" y="3"/>
                  <a:pt x="165" y="10"/>
                </a:cubicBezTo>
                <a:cubicBezTo>
                  <a:pt x="180" y="16"/>
                  <a:pt x="192" y="25"/>
                  <a:pt x="204" y="36"/>
                </a:cubicBezTo>
                <a:cubicBezTo>
                  <a:pt x="215" y="47"/>
                  <a:pt x="223" y="60"/>
                  <a:pt x="230" y="75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54" name="フリーフォーム 53"/>
          <p:cNvSpPr/>
          <p:nvPr/>
        </p:nvSpPr>
        <p:spPr>
          <a:xfrm>
            <a:off x="991170" y="4864860"/>
            <a:ext cx="183600" cy="166050"/>
          </a:xfrm>
          <a:custGeom>
            <a:avLst/>
            <a:gdLst/>
            <a:ahLst/>
            <a:cxnLst/>
            <a:rect l="0" t="0" r="r" b="b"/>
            <a:pathLst>
              <a:path w="680" h="615">
                <a:moveTo>
                  <a:pt x="246" y="62"/>
                </a:moveTo>
                <a:cubicBezTo>
                  <a:pt x="226" y="84"/>
                  <a:pt x="204" y="97"/>
                  <a:pt x="179" y="99"/>
                </a:cubicBezTo>
                <a:cubicBezTo>
                  <a:pt x="168" y="99"/>
                  <a:pt x="162" y="95"/>
                  <a:pt x="162" y="89"/>
                </a:cubicBezTo>
                <a:cubicBezTo>
                  <a:pt x="162" y="86"/>
                  <a:pt x="163" y="83"/>
                  <a:pt x="163" y="81"/>
                </a:cubicBezTo>
                <a:cubicBezTo>
                  <a:pt x="165" y="76"/>
                  <a:pt x="169" y="69"/>
                  <a:pt x="174" y="62"/>
                </a:cubicBezTo>
                <a:cubicBezTo>
                  <a:pt x="179" y="54"/>
                  <a:pt x="188" y="45"/>
                  <a:pt x="198" y="36"/>
                </a:cubicBezTo>
                <a:cubicBezTo>
                  <a:pt x="209" y="26"/>
                  <a:pt x="225" y="18"/>
                  <a:pt x="246" y="10"/>
                </a:cubicBezTo>
                <a:cubicBezTo>
                  <a:pt x="267" y="3"/>
                  <a:pt x="290" y="0"/>
                  <a:pt x="314" y="0"/>
                </a:cubicBezTo>
                <a:lnTo>
                  <a:pt x="317" y="0"/>
                </a:lnTo>
                <a:cubicBezTo>
                  <a:pt x="352" y="0"/>
                  <a:pt x="376" y="22"/>
                  <a:pt x="387" y="65"/>
                </a:cubicBezTo>
                <a:cubicBezTo>
                  <a:pt x="390" y="75"/>
                  <a:pt x="392" y="94"/>
                  <a:pt x="395" y="124"/>
                </a:cubicBezTo>
                <a:cubicBezTo>
                  <a:pt x="398" y="153"/>
                  <a:pt x="401" y="180"/>
                  <a:pt x="402" y="207"/>
                </a:cubicBezTo>
                <a:lnTo>
                  <a:pt x="405" y="243"/>
                </a:lnTo>
                <a:cubicBezTo>
                  <a:pt x="407" y="243"/>
                  <a:pt x="422" y="235"/>
                  <a:pt x="450" y="217"/>
                </a:cubicBezTo>
                <a:cubicBezTo>
                  <a:pt x="478" y="199"/>
                  <a:pt x="507" y="179"/>
                  <a:pt x="537" y="156"/>
                </a:cubicBezTo>
                <a:cubicBezTo>
                  <a:pt x="567" y="133"/>
                  <a:pt x="584" y="118"/>
                  <a:pt x="589" y="109"/>
                </a:cubicBezTo>
                <a:cubicBezTo>
                  <a:pt x="590" y="107"/>
                  <a:pt x="590" y="102"/>
                  <a:pt x="590" y="94"/>
                </a:cubicBezTo>
                <a:cubicBezTo>
                  <a:pt x="590" y="75"/>
                  <a:pt x="583" y="64"/>
                  <a:pt x="568" y="62"/>
                </a:cubicBezTo>
                <a:cubicBezTo>
                  <a:pt x="559" y="62"/>
                  <a:pt x="554" y="58"/>
                  <a:pt x="554" y="51"/>
                </a:cubicBezTo>
                <a:cubicBezTo>
                  <a:pt x="554" y="42"/>
                  <a:pt x="563" y="31"/>
                  <a:pt x="580" y="19"/>
                </a:cubicBezTo>
                <a:cubicBezTo>
                  <a:pt x="596" y="6"/>
                  <a:pt x="614" y="0"/>
                  <a:pt x="634" y="0"/>
                </a:cubicBezTo>
                <a:cubicBezTo>
                  <a:pt x="640" y="0"/>
                  <a:pt x="646" y="1"/>
                  <a:pt x="652" y="2"/>
                </a:cubicBezTo>
                <a:cubicBezTo>
                  <a:pt x="658" y="4"/>
                  <a:pt x="664" y="10"/>
                  <a:pt x="671" y="19"/>
                </a:cubicBezTo>
                <a:cubicBezTo>
                  <a:pt x="677" y="28"/>
                  <a:pt x="680" y="39"/>
                  <a:pt x="680" y="54"/>
                </a:cubicBezTo>
                <a:cubicBezTo>
                  <a:pt x="680" y="70"/>
                  <a:pt x="676" y="85"/>
                  <a:pt x="667" y="99"/>
                </a:cubicBezTo>
                <a:cubicBezTo>
                  <a:pt x="658" y="114"/>
                  <a:pt x="634" y="136"/>
                  <a:pt x="596" y="165"/>
                </a:cubicBezTo>
                <a:cubicBezTo>
                  <a:pt x="557" y="195"/>
                  <a:pt x="503" y="232"/>
                  <a:pt x="431" y="277"/>
                </a:cubicBezTo>
                <a:lnTo>
                  <a:pt x="409" y="290"/>
                </a:lnTo>
                <a:lnTo>
                  <a:pt x="409" y="295"/>
                </a:lnTo>
                <a:cubicBezTo>
                  <a:pt x="411" y="301"/>
                  <a:pt x="412" y="324"/>
                  <a:pt x="414" y="365"/>
                </a:cubicBezTo>
                <a:cubicBezTo>
                  <a:pt x="416" y="406"/>
                  <a:pt x="420" y="445"/>
                  <a:pt x="426" y="482"/>
                </a:cubicBezTo>
                <a:cubicBezTo>
                  <a:pt x="432" y="519"/>
                  <a:pt x="442" y="541"/>
                  <a:pt x="456" y="547"/>
                </a:cubicBezTo>
                <a:cubicBezTo>
                  <a:pt x="463" y="551"/>
                  <a:pt x="470" y="553"/>
                  <a:pt x="476" y="553"/>
                </a:cubicBezTo>
                <a:cubicBezTo>
                  <a:pt x="479" y="553"/>
                  <a:pt x="483" y="550"/>
                  <a:pt x="488" y="546"/>
                </a:cubicBezTo>
                <a:cubicBezTo>
                  <a:pt x="507" y="527"/>
                  <a:pt x="527" y="517"/>
                  <a:pt x="548" y="516"/>
                </a:cubicBezTo>
                <a:cubicBezTo>
                  <a:pt x="552" y="516"/>
                  <a:pt x="555" y="516"/>
                  <a:pt x="557" y="516"/>
                </a:cubicBezTo>
                <a:cubicBezTo>
                  <a:pt x="559" y="516"/>
                  <a:pt x="561" y="517"/>
                  <a:pt x="563" y="520"/>
                </a:cubicBezTo>
                <a:cubicBezTo>
                  <a:pt x="564" y="522"/>
                  <a:pt x="565" y="526"/>
                  <a:pt x="564" y="530"/>
                </a:cubicBezTo>
                <a:cubicBezTo>
                  <a:pt x="558" y="551"/>
                  <a:pt x="542" y="571"/>
                  <a:pt x="516" y="588"/>
                </a:cubicBezTo>
                <a:cubicBezTo>
                  <a:pt x="489" y="605"/>
                  <a:pt x="455" y="614"/>
                  <a:pt x="413" y="615"/>
                </a:cubicBezTo>
                <a:cubicBezTo>
                  <a:pt x="399" y="615"/>
                  <a:pt x="388" y="612"/>
                  <a:pt x="378" y="607"/>
                </a:cubicBezTo>
                <a:cubicBezTo>
                  <a:pt x="369" y="601"/>
                  <a:pt x="361" y="595"/>
                  <a:pt x="355" y="586"/>
                </a:cubicBezTo>
                <a:cubicBezTo>
                  <a:pt x="349" y="578"/>
                  <a:pt x="344" y="566"/>
                  <a:pt x="341" y="551"/>
                </a:cubicBezTo>
                <a:cubicBezTo>
                  <a:pt x="338" y="536"/>
                  <a:pt x="336" y="522"/>
                  <a:pt x="334" y="510"/>
                </a:cubicBezTo>
                <a:cubicBezTo>
                  <a:pt x="332" y="497"/>
                  <a:pt x="331" y="480"/>
                  <a:pt x="330" y="459"/>
                </a:cubicBezTo>
                <a:cubicBezTo>
                  <a:pt x="329" y="453"/>
                  <a:pt x="329" y="449"/>
                  <a:pt x="329" y="446"/>
                </a:cubicBezTo>
                <a:cubicBezTo>
                  <a:pt x="327" y="430"/>
                  <a:pt x="325" y="413"/>
                  <a:pt x="324" y="395"/>
                </a:cubicBezTo>
                <a:cubicBezTo>
                  <a:pt x="323" y="377"/>
                  <a:pt x="322" y="365"/>
                  <a:pt x="321" y="358"/>
                </a:cubicBezTo>
                <a:cubicBezTo>
                  <a:pt x="319" y="351"/>
                  <a:pt x="319" y="347"/>
                  <a:pt x="319" y="346"/>
                </a:cubicBezTo>
                <a:cubicBezTo>
                  <a:pt x="318" y="346"/>
                  <a:pt x="299" y="357"/>
                  <a:pt x="264" y="378"/>
                </a:cubicBezTo>
                <a:cubicBezTo>
                  <a:pt x="229" y="400"/>
                  <a:pt x="192" y="424"/>
                  <a:pt x="155" y="451"/>
                </a:cubicBezTo>
                <a:cubicBezTo>
                  <a:pt x="118" y="478"/>
                  <a:pt x="97" y="496"/>
                  <a:pt x="93" y="505"/>
                </a:cubicBezTo>
                <a:cubicBezTo>
                  <a:pt x="92" y="508"/>
                  <a:pt x="91" y="513"/>
                  <a:pt x="91" y="521"/>
                </a:cubicBezTo>
                <a:cubicBezTo>
                  <a:pt x="91" y="542"/>
                  <a:pt x="100" y="553"/>
                  <a:pt x="116" y="553"/>
                </a:cubicBezTo>
                <a:cubicBezTo>
                  <a:pt x="118" y="553"/>
                  <a:pt x="120" y="554"/>
                  <a:pt x="123" y="556"/>
                </a:cubicBezTo>
                <a:cubicBezTo>
                  <a:pt x="125" y="557"/>
                  <a:pt x="126" y="559"/>
                  <a:pt x="126" y="561"/>
                </a:cubicBezTo>
                <a:lnTo>
                  <a:pt x="127" y="563"/>
                </a:lnTo>
                <a:lnTo>
                  <a:pt x="127" y="565"/>
                </a:lnTo>
                <a:cubicBezTo>
                  <a:pt x="127" y="574"/>
                  <a:pt x="119" y="584"/>
                  <a:pt x="101" y="596"/>
                </a:cubicBezTo>
                <a:cubicBezTo>
                  <a:pt x="84" y="608"/>
                  <a:pt x="66" y="614"/>
                  <a:pt x="48" y="615"/>
                </a:cubicBezTo>
                <a:cubicBezTo>
                  <a:pt x="41" y="615"/>
                  <a:pt x="35" y="614"/>
                  <a:pt x="29" y="612"/>
                </a:cubicBezTo>
                <a:cubicBezTo>
                  <a:pt x="23" y="610"/>
                  <a:pt x="17" y="605"/>
                  <a:pt x="10" y="596"/>
                </a:cubicBezTo>
                <a:cubicBezTo>
                  <a:pt x="4" y="587"/>
                  <a:pt x="0" y="575"/>
                  <a:pt x="0" y="561"/>
                </a:cubicBezTo>
                <a:cubicBezTo>
                  <a:pt x="0" y="551"/>
                  <a:pt x="2" y="542"/>
                  <a:pt x="4" y="534"/>
                </a:cubicBezTo>
                <a:cubicBezTo>
                  <a:pt x="6" y="526"/>
                  <a:pt x="15" y="514"/>
                  <a:pt x="30" y="497"/>
                </a:cubicBezTo>
                <a:cubicBezTo>
                  <a:pt x="45" y="480"/>
                  <a:pt x="67" y="462"/>
                  <a:pt x="94" y="443"/>
                </a:cubicBezTo>
                <a:cubicBezTo>
                  <a:pt x="119" y="424"/>
                  <a:pt x="150" y="402"/>
                  <a:pt x="188" y="378"/>
                </a:cubicBezTo>
                <a:cubicBezTo>
                  <a:pt x="225" y="354"/>
                  <a:pt x="256" y="335"/>
                  <a:pt x="280" y="321"/>
                </a:cubicBezTo>
                <a:cubicBezTo>
                  <a:pt x="305" y="306"/>
                  <a:pt x="317" y="299"/>
                  <a:pt x="316" y="298"/>
                </a:cubicBezTo>
                <a:lnTo>
                  <a:pt x="306" y="174"/>
                </a:lnTo>
                <a:cubicBezTo>
                  <a:pt x="306" y="172"/>
                  <a:pt x="306" y="168"/>
                  <a:pt x="305" y="160"/>
                </a:cubicBezTo>
                <a:cubicBezTo>
                  <a:pt x="305" y="152"/>
                  <a:pt x="304" y="146"/>
                  <a:pt x="303" y="141"/>
                </a:cubicBezTo>
                <a:cubicBezTo>
                  <a:pt x="301" y="136"/>
                  <a:pt x="301" y="130"/>
                  <a:pt x="300" y="122"/>
                </a:cubicBezTo>
                <a:cubicBezTo>
                  <a:pt x="299" y="114"/>
                  <a:pt x="298" y="108"/>
                  <a:pt x="295" y="103"/>
                </a:cubicBezTo>
                <a:cubicBezTo>
                  <a:pt x="293" y="98"/>
                  <a:pt x="291" y="93"/>
                  <a:pt x="289" y="87"/>
                </a:cubicBezTo>
                <a:cubicBezTo>
                  <a:pt x="287" y="81"/>
                  <a:pt x="284" y="76"/>
                  <a:pt x="279" y="72"/>
                </a:cubicBezTo>
                <a:cubicBezTo>
                  <a:pt x="274" y="69"/>
                  <a:pt x="271" y="66"/>
                  <a:pt x="268" y="64"/>
                </a:cubicBezTo>
                <a:cubicBezTo>
                  <a:pt x="266" y="64"/>
                  <a:pt x="264" y="63"/>
                  <a:pt x="261" y="63"/>
                </a:cubicBezTo>
                <a:cubicBezTo>
                  <a:pt x="258" y="62"/>
                  <a:pt x="256" y="62"/>
                  <a:pt x="254" y="62"/>
                </a:cubicBezTo>
                <a:lnTo>
                  <a:pt x="246" y="62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55" name="テキスト ボックス 54"/>
          <p:cNvSpPr txBox="1"/>
          <p:nvPr/>
        </p:nvSpPr>
        <p:spPr>
          <a:xfrm>
            <a:off x="1445310" y="4477410"/>
            <a:ext cx="948978" cy="2503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27">
                <a:solidFill>
                  <a:srgbClr val="1F2328"/>
                </a:solidFill>
                <a:latin typeface="Arial"/>
                <a:ea typeface="Arial"/>
              </a:rPr>
              <a:t>: </a:t>
            </a:r>
            <a:r>
              <a:rPr lang="ja-JP" altLang="en-US" sz="1627">
                <a:solidFill>
                  <a:srgbClr val="1F2328"/>
                </a:solidFill>
                <a:latin typeface="HiraginoSans-W4"/>
                <a:ea typeface="HiraginoSans-W4"/>
              </a:rPr>
              <a:t>⽬的関数</a:t>
            </a:r>
            <a:endParaRPr lang="en-US" sz="1627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56" name="テキスト ボックス 55"/>
          <p:cNvSpPr txBox="1"/>
          <p:nvPr/>
        </p:nvSpPr>
        <p:spPr>
          <a:xfrm>
            <a:off x="1171260" y="4841640"/>
            <a:ext cx="1365758" cy="2503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27">
                <a:solidFill>
                  <a:srgbClr val="1F2328"/>
                </a:solidFill>
                <a:latin typeface="Arial"/>
                <a:ea typeface="Arial"/>
              </a:rPr>
              <a:t>: </a:t>
            </a:r>
            <a:r>
              <a:rPr lang="ja-JP" altLang="en-US" sz="1627">
                <a:solidFill>
                  <a:srgbClr val="1F2328"/>
                </a:solidFill>
                <a:latin typeface="HiraginoSans-W4"/>
                <a:ea typeface="HiraginoSans-W4"/>
              </a:rPr>
              <a:t>実⾏可能領域</a:t>
            </a:r>
            <a:endParaRPr lang="en-US" sz="1627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57" name="テキスト ボックス 56"/>
          <p:cNvSpPr txBox="1"/>
          <p:nvPr/>
        </p:nvSpPr>
        <p:spPr>
          <a:xfrm>
            <a:off x="8834130" y="5624100"/>
            <a:ext cx="96180" cy="2077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>
                <a:solidFill>
                  <a:srgbClr val="777777"/>
                </a:solidFill>
                <a:latin typeface="Arial"/>
                <a:ea typeface="Arial"/>
              </a:rPr>
              <a:t>3</a:t>
            </a:r>
            <a:endParaRPr lang="en-US" sz="1350">
              <a:solidFill>
                <a:srgbClr val="000000"/>
              </a:solidFill>
              <a:latin typeface="ヒラギノ明朝 Pro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8f7ec304-3185-4497-a158-80c99868b8e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160" y="836712"/>
            <a:ext cx="2975265" cy="19587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>
            <a:noAutofit/>
          </a:bodyPr>
          <a:lstStyle/>
          <a:p>
            <a:r>
              <a:rPr kumimoji="1" lang="en-US" altLang="ja-JP" sz="3200" dirty="0"/>
              <a:t>PSO</a:t>
            </a:r>
            <a:r>
              <a:rPr lang="ja-JP" altLang="en-US" sz="3200" dirty="0"/>
              <a:t>と</a:t>
            </a:r>
            <a:r>
              <a:rPr kumimoji="1" lang="en-US" altLang="ja-JP" sz="3200" dirty="0"/>
              <a:t>DE</a:t>
            </a:r>
            <a:r>
              <a:rPr lang="ja-JP" altLang="en-US" sz="3200" dirty="0"/>
              <a:t>が</a:t>
            </a:r>
            <a:r>
              <a:rPr kumimoji="1" lang="ja-JP" altLang="en-US" sz="3200" dirty="0"/>
              <a:t>適用可能な問題</a:t>
            </a:r>
          </a:p>
        </p:txBody>
      </p:sp>
      <p:sp>
        <p:nvSpPr>
          <p:cNvPr id="4" name="正方形/長方形 3"/>
          <p:cNvSpPr/>
          <p:nvPr/>
        </p:nvSpPr>
        <p:spPr>
          <a:xfrm>
            <a:off x="179079" y="4102780"/>
            <a:ext cx="8929425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000" dirty="0"/>
              <a:t>探索する関数の性質が分からなくても</a:t>
            </a:r>
            <a:endParaRPr lang="en-US" altLang="ja-JP" sz="2000" dirty="0"/>
          </a:p>
          <a:p>
            <a:r>
              <a:rPr lang="ja-JP" altLang="en-US" sz="2000" dirty="0"/>
              <a:t>（目的関数が不連続関数，微分不可能関数であっても）</a:t>
            </a:r>
            <a:endParaRPr lang="en-US" altLang="ja-JP" sz="2000" dirty="0"/>
          </a:p>
          <a:p>
            <a:endParaRPr lang="en-US" altLang="ja-JP" sz="900" dirty="0"/>
          </a:p>
          <a:p>
            <a:r>
              <a:rPr lang="ja-JP" altLang="en-US" sz="2000" dirty="0"/>
              <a:t>探索点</a:t>
            </a:r>
            <a:r>
              <a:rPr lang="en-US" altLang="ja-JP" sz="2000" dirty="0"/>
              <a:t>(</a:t>
            </a:r>
            <a:r>
              <a:rPr lang="ja-JP" altLang="en-US" sz="2000" dirty="0"/>
              <a:t>個体</a:t>
            </a:r>
            <a:r>
              <a:rPr lang="en-US" altLang="ja-JP" sz="2000" dirty="0"/>
              <a:t>/</a:t>
            </a:r>
            <a:r>
              <a:rPr lang="ja-JP" altLang="en-US" sz="2000" dirty="0"/>
              <a:t>粒子</a:t>
            </a:r>
            <a:r>
              <a:rPr lang="en-US" altLang="ja-JP" sz="2000" dirty="0"/>
              <a:t>)</a:t>
            </a:r>
            <a:r>
              <a:rPr lang="ja-JP" altLang="en-US" sz="2000" dirty="0"/>
              <a:t>に対し，良さの評価値</a:t>
            </a:r>
            <a:r>
              <a:rPr lang="en-US" altLang="ja-JP" sz="2000" dirty="0"/>
              <a:t>(</a:t>
            </a:r>
            <a:r>
              <a:rPr lang="ja-JP" altLang="en-US" sz="2000" dirty="0"/>
              <a:t>関数値</a:t>
            </a:r>
            <a:r>
              <a:rPr lang="en-US" altLang="ja-JP" sz="2000" dirty="0"/>
              <a:t>)</a:t>
            </a:r>
            <a:r>
              <a:rPr lang="ja-JP" altLang="en-US" sz="2000" dirty="0"/>
              <a:t>を得ることができれば適用可能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正方形/長方形 2"/>
              <p:cNvSpPr/>
              <p:nvPr/>
            </p:nvSpPr>
            <p:spPr>
              <a:xfrm>
                <a:off x="250546" y="1001623"/>
                <a:ext cx="8497918" cy="298543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ja-JP" altLang="en-US" sz="2000" dirty="0"/>
                  <a:t>決定変数の上下限制約のみを有する最適化問題</a:t>
                </a:r>
                <a:endParaRPr lang="en-US" altLang="ja-JP" sz="2000" dirty="0"/>
              </a:p>
              <a:p>
                <a:endParaRPr lang="ja-JP" altLang="en-US" sz="2000" dirty="0"/>
              </a:p>
              <a:p>
                <a:r>
                  <a:rPr lang="ja-JP" altLang="en-US" sz="2400" i="0" dirty="0">
                    <a:latin typeface="+mj-lt"/>
                  </a:rPr>
                  <a:t>　　　　minimize　</a:t>
                </a:r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ja-JP" altLang="en-US" sz="2400" dirty="0"/>
                  <a:t>𝑓</a:t>
                </a:r>
                <a:r>
                  <a:rPr lang="en-US" altLang="ja-JP" sz="2400" dirty="0"/>
                  <a:t>(</a:t>
                </a:r>
                <a:r>
                  <a:rPr lang="ja-JP" altLang="en-US" sz="2400" dirty="0"/>
                  <a:t>𝒙</a:t>
                </a:r>
                <a:r>
                  <a:rPr lang="en-US" altLang="ja-JP" sz="2400" dirty="0"/>
                  <a:t>)</a:t>
                </a:r>
              </a:p>
              <a:p>
                <a:r>
                  <a:rPr lang="ja-JP" altLang="en-US" sz="2400" dirty="0"/>
                  <a:t>　　　　</a:t>
                </a:r>
                <a:r>
                  <a:rPr lang="en-US" altLang="ja-JP" sz="2400" dirty="0"/>
                  <a:t>subject to</a:t>
                </a:r>
                <a:r>
                  <a:rPr lang="ja-JP" altLang="en-US" sz="2400" dirty="0"/>
                  <a:t>　</a:t>
                </a:r>
                <a:r>
                  <a:rPr lang="en-US" altLang="ja-JP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ja-JP" altLang="en-US" sz="2400" i="1" dirty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ja-JP" altLang="en-US" sz="2400" dirty="0"/>
                  <a:t>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sz="2400" i="1" dirty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ja-JP" altLang="en-US" sz="2400" i="1" dirty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ja-JP" altLang="en-US" sz="2400" dirty="0"/>
                  <a:t>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ja-JP" altLang="en-US" sz="2400" i="1" dirty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ja-JP" sz="2400" dirty="0"/>
                  <a:t>,  </a:t>
                </a:r>
                <a:r>
                  <a:rPr lang="ja-JP" altLang="en-US" sz="2400" dirty="0"/>
                  <a:t>𝑖</a:t>
                </a:r>
                <a:r>
                  <a:rPr lang="en-US" altLang="ja-JP" sz="2400" dirty="0"/>
                  <a:t>=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/>
                      </a:rPr>
                      <m:t>1</m:t>
                    </m:r>
                  </m:oMath>
                </a14:m>
                <a:r>
                  <a:rPr lang="en-US" altLang="ja-JP" sz="2400" dirty="0"/>
                  <a:t>,…,</a:t>
                </a:r>
                <a:r>
                  <a:rPr lang="ja-JP" altLang="en-US" sz="2400" dirty="0"/>
                  <a:t>𝐷</a:t>
                </a:r>
              </a:p>
              <a:p>
                <a:pPr algn="ctr"/>
                <a:endParaRPr lang="ja-JP" altLang="en-US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ja-JP" altLang="en-US" sz="2000" b="1" i="1" dirty="0" smtClean="0">
                        <a:latin typeface="Cambria Math"/>
                      </a:rPr>
                      <m:t>𝒙</m:t>
                    </m:r>
                    <m:r>
                      <a:rPr lang="en-US" altLang="ja-JP" sz="2000" i="1" dirty="0" smtClean="0">
                        <a:latin typeface="Cambria Math"/>
                      </a:rPr>
                      <m:t>=</m:t>
                    </m:r>
                  </m:oMath>
                </a14:m>
                <a:r>
                  <a:rPr lang="en-US" altLang="ja-JP" sz="20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sz="2000" i="1" dirty="0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altLang="ja-JP" sz="2000" i="1" dirty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ja-JP" sz="2000" dirty="0"/>
                  <a:t>,…,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sz="2000" i="1" dirty="0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ja-JP" altLang="en-US" sz="2000" i="1" dirty="0">
                            <a:latin typeface="Cambria Math"/>
                          </a:rPr>
                          <m:t>𝐷</m:t>
                        </m:r>
                      </m:sub>
                    </m:sSub>
                    <m:r>
                      <a:rPr lang="ja-JP" altLang="en-US" sz="2000" i="1" dirty="0">
                        <a:latin typeface="Cambria Math"/>
                      </a:rPr>
                      <m:t> </m:t>
                    </m:r>
                  </m:oMath>
                </a14:m>
                <a:r>
                  <a:rPr lang="en-US" altLang="ja-JP" sz="2000" dirty="0"/>
                  <a:t>)</a:t>
                </a:r>
                <a:r>
                  <a:rPr lang="ja-JP" altLang="en-US" sz="2000" dirty="0"/>
                  <a:t>は𝐷次元決定変数ベクトル</a:t>
                </a:r>
                <a:endParaRPr lang="en-US" altLang="ja-JP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ja-JP" altLang="en-US" sz="2000" dirty="0"/>
                  <a:t>𝑓</a:t>
                </a:r>
                <a:r>
                  <a:rPr lang="en-US" altLang="ja-JP" sz="2000" dirty="0"/>
                  <a:t>(</a:t>
                </a:r>
                <a:r>
                  <a:rPr lang="ja-JP" altLang="en-US" sz="2000" dirty="0"/>
                  <a:t>𝒙</a:t>
                </a:r>
                <a:r>
                  <a:rPr lang="en-US" altLang="ja-JP" sz="2000" dirty="0"/>
                  <a:t>)</a:t>
                </a:r>
                <a:r>
                  <a:rPr lang="ja-JP" altLang="en-US" sz="2000" dirty="0"/>
                  <a:t>は目的関数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ja-JP" altLang="en-US" sz="2000" i="1" dirty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ja-JP" altLang="en-US" sz="2000" i="1" dirty="0">
                        <a:latin typeface="Cambria Math"/>
                      </a:rPr>
                      <m:t>，</m:t>
                    </m:r>
                    <m:sSub>
                      <m:sSubPr>
                        <m:ctrlPr>
                          <a:rPr lang="en-US" altLang="ja-JP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b="0" i="1" dirty="0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ja-JP" altLang="en-US" sz="2000" i="1" dirty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ja-JP" altLang="en-US" sz="2000" dirty="0"/>
                  <a:t>はそれぞれ，𝐷個の決定変数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sz="2000" i="1" dirty="0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ja-JP" altLang="en-US" sz="2000" i="1" dirty="0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ja-JP" altLang="en-US" sz="2000" dirty="0"/>
                  <a:t>の下限値，上限値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ja-JP" altLang="en-US" sz="2000" dirty="0"/>
                  <a:t>全ての上下限制約を満足する領域</a:t>
                </a:r>
                <a:r>
                  <a:rPr lang="en-US" altLang="ja-JP" sz="2000" dirty="0"/>
                  <a:t>: </a:t>
                </a:r>
                <a:r>
                  <a:rPr lang="ja-JP" altLang="en-US" sz="2000" dirty="0"/>
                  <a:t>探索空間</a:t>
                </a:r>
              </a:p>
            </p:txBody>
          </p:sp>
        </mc:Choice>
        <mc:Fallback xmlns="">
          <p:sp>
            <p:nvSpPr>
              <p:cNvPr id="3" name="正方形/長方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546" y="1001623"/>
                <a:ext cx="8497918" cy="2985433"/>
              </a:xfrm>
              <a:prstGeom prst="rect">
                <a:avLst/>
              </a:prstGeom>
              <a:blipFill>
                <a:blip r:embed="rId4"/>
                <a:stretch>
                  <a:fillRect l="-717" t="-1633" b="-285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正方形/長方形 5"/>
          <p:cNvSpPr/>
          <p:nvPr/>
        </p:nvSpPr>
        <p:spPr>
          <a:xfrm>
            <a:off x="6811843" y="2795439"/>
            <a:ext cx="18646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dirty="0">
                <a:solidFill>
                  <a:srgbClr val="800000"/>
                </a:solidFill>
                <a:latin typeface="Helvetica" pitchFamily="34" charset="0"/>
              </a:rPr>
              <a:t>Sphere function </a:t>
            </a:r>
            <a:endParaRPr lang="en-US" altLang="ja-JP" dirty="0">
              <a:solidFill>
                <a:srgbClr val="800000"/>
              </a:solidFill>
            </a:endParaRPr>
          </a:p>
        </p:txBody>
      </p:sp>
      <p:sp>
        <p:nvSpPr>
          <p:cNvPr id="7" name="Freeform 33"/>
          <p:cNvSpPr>
            <a:spLocks noChangeAspect="1"/>
          </p:cNvSpPr>
          <p:nvPr/>
        </p:nvSpPr>
        <p:spPr bwMode="auto">
          <a:xfrm>
            <a:off x="1979225" y="5476261"/>
            <a:ext cx="2520280" cy="1243568"/>
          </a:xfrm>
          <a:custGeom>
            <a:avLst/>
            <a:gdLst>
              <a:gd name="T0" fmla="*/ 0 w 2722"/>
              <a:gd name="T1" fmla="*/ 2147483647 h 2002"/>
              <a:gd name="T2" fmla="*/ 2147483647 w 2722"/>
              <a:gd name="T3" fmla="*/ 2147483647 h 2002"/>
              <a:gd name="T4" fmla="*/ 2147483647 w 2722"/>
              <a:gd name="T5" fmla="*/ 2147483647 h 2002"/>
              <a:gd name="T6" fmla="*/ 2147483647 w 2722"/>
              <a:gd name="T7" fmla="*/ 2147483647 h 2002"/>
              <a:gd name="T8" fmla="*/ 2147483647 w 2722"/>
              <a:gd name="T9" fmla="*/ 0 h 200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722"/>
              <a:gd name="T16" fmla="*/ 0 h 2002"/>
              <a:gd name="T17" fmla="*/ 2722 w 2722"/>
              <a:gd name="T18" fmla="*/ 2002 h 200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722" h="2002">
                <a:moveTo>
                  <a:pt x="0" y="317"/>
                </a:moveTo>
                <a:cubicBezTo>
                  <a:pt x="151" y="770"/>
                  <a:pt x="302" y="1224"/>
                  <a:pt x="499" y="1315"/>
                </a:cubicBezTo>
                <a:cubicBezTo>
                  <a:pt x="696" y="1406"/>
                  <a:pt x="938" y="770"/>
                  <a:pt x="1180" y="861"/>
                </a:cubicBezTo>
                <a:cubicBezTo>
                  <a:pt x="1422" y="952"/>
                  <a:pt x="1694" y="2002"/>
                  <a:pt x="1951" y="1859"/>
                </a:cubicBezTo>
                <a:cubicBezTo>
                  <a:pt x="2208" y="1716"/>
                  <a:pt x="2465" y="858"/>
                  <a:pt x="2722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8" name="正方形/長方形 7"/>
          <p:cNvSpPr/>
          <p:nvPr/>
        </p:nvSpPr>
        <p:spPr>
          <a:xfrm>
            <a:off x="1970565" y="5949280"/>
            <a:ext cx="2592288" cy="5760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solidFill>
                  <a:schemeClr val="tx1"/>
                </a:solidFill>
              </a:rPr>
              <a:t>？</a:t>
            </a:r>
          </a:p>
        </p:txBody>
      </p:sp>
      <p:cxnSp>
        <p:nvCxnSpPr>
          <p:cNvPr id="13" name="カギ線コネクタ 12"/>
          <p:cNvCxnSpPr>
            <a:stCxn id="14" idx="6"/>
            <a:endCxn id="15" idx="1"/>
          </p:cNvCxnSpPr>
          <p:nvPr/>
        </p:nvCxnSpPr>
        <p:spPr>
          <a:xfrm flipV="1">
            <a:off x="4145621" y="6007033"/>
            <a:ext cx="1310722" cy="148632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円/楕円 13"/>
              <p:cNvSpPr/>
              <p:nvPr/>
            </p:nvSpPr>
            <p:spPr>
              <a:xfrm>
                <a:off x="3871173" y="6007844"/>
                <a:ext cx="274448" cy="295641"/>
              </a:xfrm>
              <a:prstGeom prst="ellipse">
                <a:avLst/>
              </a:prstGeom>
              <a:solidFill>
                <a:srgbClr val="CCECFF"/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kumimoji="1" lang="ja-JP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円/楕円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1173" y="6007844"/>
                <a:ext cx="274448" cy="295641"/>
              </a:xfrm>
              <a:prstGeom prst="ellipse">
                <a:avLst/>
              </a:prstGeom>
              <a:blipFill rotWithShape="0">
                <a:blip r:embed="rId5"/>
                <a:stretch>
                  <a:fillRect l="-6522"/>
                </a:stretch>
              </a:blipFill>
              <a:ln w="0"/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テキスト ボックス 14"/>
              <p:cNvSpPr txBox="1"/>
              <p:nvPr/>
            </p:nvSpPr>
            <p:spPr>
              <a:xfrm>
                <a:off x="5456343" y="5653090"/>
                <a:ext cx="2956515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ja-JP" altLang="en-US" sz="2000" b="1" i="1" dirty="0" smtClean="0">
                        <a:latin typeface="Cambria Math"/>
                      </a:rPr>
                      <m:t>𝒙</m:t>
                    </m:r>
                    <m:r>
                      <a:rPr lang="en-US" altLang="ja-JP" sz="2000" i="1" dirty="0">
                        <a:latin typeface="Cambria Math"/>
                      </a:rPr>
                      <m:t>=</m:t>
                    </m:r>
                  </m:oMath>
                </a14:m>
                <a:r>
                  <a:rPr lang="en-US" altLang="ja-JP" sz="2000" dirty="0"/>
                  <a:t>(</a:t>
                </a:r>
                <a14:m>
                  <m:oMath xmlns:m="http://schemas.openxmlformats.org/officeDocument/2006/math">
                    <m:r>
                      <a:rPr lang="en-US" altLang="ja-JP" sz="2000" i="1" dirty="0" smtClean="0">
                        <a:latin typeface="Cambria Math" panose="02040503050406030204" pitchFamily="18" charset="0"/>
                      </a:rPr>
                      <m:t>0.4, 1.3, −0</m:t>
                    </m:r>
                    <m:r>
                      <a:rPr lang="en-US" altLang="ja-JP" sz="2000" b="0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ja-JP" sz="2000" i="1" dirty="0" smtClean="0">
                        <a:latin typeface="Cambria Math" panose="02040503050406030204" pitchFamily="18" charset="0"/>
                      </a:rPr>
                      <m:t>4, 9.3, </m:t>
                    </m:r>
                    <m:r>
                      <a:rPr lang="en-US" altLang="ja-JP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ja-JP" altLang="en-US" sz="20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ja-JP" sz="2000" dirty="0"/>
                  <a:t>)</a:t>
                </a:r>
                <a:endParaRPr kumimoji="1" lang="en-US" altLang="ja-JP" sz="2000" b="0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000" b="0" i="1" dirty="0" smtClean="0"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kumimoji="1" lang="en-US" altLang="ja-JP" sz="2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2000" b="1" i="1" dirty="0" smtClean="0">
                              <a:latin typeface="Cambria Math"/>
                            </a:rPr>
                            <m:t>𝒙</m:t>
                          </m:r>
                        </m:e>
                      </m:d>
                      <m:r>
                        <a:rPr kumimoji="1" lang="en-US" altLang="ja-JP" sz="2000" b="0" i="1" dirty="0" smtClean="0">
                          <a:latin typeface="Cambria Math"/>
                        </a:rPr>
                        <m:t>=0.67</m:t>
                      </m:r>
                    </m:oMath>
                  </m:oMathPara>
                </a14:m>
                <a:endParaRPr kumimoji="1" lang="ja-JP" altLang="en-US" sz="2000" dirty="0"/>
              </a:p>
            </p:txBody>
          </p:sp>
        </mc:Choice>
        <mc:Fallback xmlns="">
          <p:sp>
            <p:nvSpPr>
              <p:cNvPr id="15" name="テキスト ボックス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6343" y="5653090"/>
                <a:ext cx="2956515" cy="707886"/>
              </a:xfrm>
              <a:prstGeom prst="rect">
                <a:avLst/>
              </a:prstGeom>
              <a:blipFill>
                <a:blip r:embed="rId6"/>
                <a:stretch>
                  <a:fillRect t="-3509" r="-1288" b="-526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4341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4" grpId="0" animBg="1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DE</a:t>
            </a:r>
            <a:r>
              <a:rPr kumimoji="1" lang="ja-JP" altLang="en-US" dirty="0"/>
              <a:t>と</a:t>
            </a:r>
            <a:r>
              <a:rPr kumimoji="1" lang="en-US" altLang="ja-JP" dirty="0"/>
              <a:t>PSO</a:t>
            </a:r>
            <a:r>
              <a:rPr lang="ja-JP" altLang="en-US" dirty="0" err="1"/>
              <a:t>に共</a:t>
            </a:r>
            <a:r>
              <a:rPr lang="ja-JP" altLang="en-US" dirty="0"/>
              <a:t>通する</a:t>
            </a:r>
            <a:r>
              <a:rPr kumimoji="1" lang="ja-JP" altLang="en-US" dirty="0"/>
              <a:t>特徴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/>
              <p:cNvSpPr>
                <a:spLocks noGrp="1"/>
              </p:cNvSpPr>
              <p:nvPr>
                <p:ph idx="1"/>
              </p:nvPr>
            </p:nvSpPr>
            <p:spPr>
              <a:xfrm>
                <a:off x="251520" y="1456185"/>
                <a:ext cx="8640960" cy="4565103"/>
              </a:xfrm>
            </p:spPr>
            <p:txBody>
              <a:bodyPr>
                <a:normAutofit/>
              </a:bodyPr>
              <a:lstStyle/>
              <a:p>
                <a:r>
                  <a:rPr lang="ja-JP" altLang="en-US" sz="2400" dirty="0"/>
                  <a:t>解集団を用いた多点探索，解候補を実数値ベクトルで表す</a:t>
                </a:r>
                <a:endParaRPr lang="en-US" altLang="ja-JP" sz="2400" dirty="0"/>
              </a:p>
              <a:p>
                <a:r>
                  <a:rPr lang="ja-JP" altLang="en-US" sz="2400" dirty="0"/>
                  <a:t>探索過程は確率的（乱数パラメータを含む）</a:t>
                </a:r>
                <a:endParaRPr lang="en-US" altLang="ja-JP" sz="2400" dirty="0"/>
              </a:p>
              <a:p>
                <a:r>
                  <a:rPr lang="ja-JP" altLang="en-US" sz="2400" dirty="0"/>
                  <a:t>集団内では個体</a:t>
                </a:r>
                <a:r>
                  <a:rPr lang="en-US" altLang="ja-JP" sz="2400" dirty="0"/>
                  <a:t>/</a:t>
                </a:r>
                <a:r>
                  <a:rPr lang="ja-JP" altLang="en-US" sz="2400" dirty="0"/>
                  <a:t>粒子間に</a:t>
                </a:r>
                <a:r>
                  <a:rPr lang="ja-JP" altLang="en-US" sz="2400" dirty="0">
                    <a:solidFill>
                      <a:srgbClr val="FF0000"/>
                    </a:solidFill>
                  </a:rPr>
                  <a:t>インタラクション</a:t>
                </a:r>
                <a:r>
                  <a:rPr lang="ja-JP" altLang="en-US" sz="2400" dirty="0"/>
                  <a:t>がある</a:t>
                </a:r>
                <a:endParaRPr lang="en-US" altLang="ja-JP" sz="2400" dirty="0"/>
              </a:p>
              <a:p>
                <a:pPr lvl="1"/>
                <a:r>
                  <a:rPr kumimoji="1" lang="en-US" altLang="ja-JP" sz="2000" dirty="0"/>
                  <a:t>DE</a:t>
                </a:r>
                <a:r>
                  <a:rPr kumimoji="1" lang="ja-JP" altLang="en-US" sz="2000" dirty="0"/>
                  <a:t>なら交叉，突然変異</a:t>
                </a:r>
                <a:endParaRPr kumimoji="1" lang="en-US" altLang="ja-JP" sz="2000" dirty="0"/>
              </a:p>
              <a:p>
                <a:pPr lvl="1"/>
                <a:r>
                  <a:rPr lang="en-US" altLang="ja-JP" sz="2000" dirty="0">
                    <a:solidFill>
                      <a:srgbClr val="7030A0"/>
                    </a:solidFill>
                  </a:rPr>
                  <a:t>PSO</a:t>
                </a:r>
                <a:r>
                  <a:rPr lang="ja-JP" altLang="en-US" sz="2000" dirty="0">
                    <a:solidFill>
                      <a:srgbClr val="7030A0"/>
                    </a:solidFill>
                  </a:rPr>
                  <a:t>なら最良位置の情報共有</a:t>
                </a:r>
                <a:endParaRPr lang="en-US" altLang="ja-JP" sz="2000" dirty="0">
                  <a:solidFill>
                    <a:srgbClr val="7030A0"/>
                  </a:solidFill>
                </a:endParaRPr>
              </a:p>
              <a:p>
                <a:r>
                  <a:rPr kumimoji="1" lang="ja-JP" altLang="en-US" sz="2400" dirty="0"/>
                  <a:t>複数の個体</a:t>
                </a:r>
                <a:r>
                  <a:rPr kumimoji="1" lang="en-US" altLang="ja-JP" sz="2400" dirty="0"/>
                  <a:t>/</a:t>
                </a:r>
                <a:r>
                  <a:rPr lang="ja-JP" altLang="en-US" sz="2400" dirty="0"/>
                  <a:t>粒子</a:t>
                </a:r>
                <a:r>
                  <a:rPr kumimoji="1" lang="ja-JP" altLang="en-US" sz="2400" dirty="0"/>
                  <a:t>が存在して一定の性能を示す</a:t>
                </a:r>
                <a:endParaRPr kumimoji="1" lang="en-US" altLang="ja-JP" sz="2400" dirty="0"/>
              </a:p>
              <a:p>
                <a:r>
                  <a:rPr lang="ja-JP" altLang="en-US" sz="2400" dirty="0"/>
                  <a:t>いくつかの制御パラメータが存在</a:t>
                </a:r>
                <a:endParaRPr lang="en-US" altLang="ja-JP" sz="2400" dirty="0"/>
              </a:p>
              <a:p>
                <a:pPr lvl="1"/>
                <a:r>
                  <a:rPr kumimoji="1" lang="en-US" altLang="ja-JP" sz="2000" dirty="0"/>
                  <a:t>DE:</a:t>
                </a:r>
                <a:r>
                  <a:rPr kumimoji="1" lang="ja-JP" altLang="en-US" sz="2000" dirty="0"/>
                  <a:t>　個体数</a:t>
                </a:r>
                <a14:m>
                  <m:oMath xmlns:m="http://schemas.openxmlformats.org/officeDocument/2006/math">
                    <m:r>
                      <a:rPr kumimoji="1" lang="en-US" altLang="ja-JP" sz="2000" i="1" dirty="0" smtClean="0">
                        <a:latin typeface="Cambria Math"/>
                      </a:rPr>
                      <m:t>𝑁𝑃</m:t>
                    </m:r>
                  </m:oMath>
                </a14:m>
                <a:r>
                  <a:rPr kumimoji="1" lang="ja-JP" altLang="en-US" sz="2000" dirty="0" err="1"/>
                  <a:t>，</a:t>
                </a:r>
                <a:r>
                  <a:rPr kumimoji="1" lang="ja-JP" altLang="en-US" sz="2000" dirty="0"/>
                  <a:t>スケーリングファクタ</a:t>
                </a:r>
                <a14:m>
                  <m:oMath xmlns:m="http://schemas.openxmlformats.org/officeDocument/2006/math">
                    <m:r>
                      <a:rPr kumimoji="1" lang="en-US" altLang="ja-JP" sz="2000" i="1" dirty="0" smtClean="0">
                        <a:latin typeface="Cambria Math"/>
                      </a:rPr>
                      <m:t>𝐹</m:t>
                    </m:r>
                  </m:oMath>
                </a14:m>
                <a:r>
                  <a:rPr kumimoji="1" lang="ja-JP" altLang="en-US" sz="2000" dirty="0" err="1"/>
                  <a:t>，</a:t>
                </a:r>
                <a:r>
                  <a:rPr kumimoji="1" lang="ja-JP" altLang="en-US" sz="2000" dirty="0"/>
                  <a:t>交叉率</a:t>
                </a:r>
                <a14:m>
                  <m:oMath xmlns:m="http://schemas.openxmlformats.org/officeDocument/2006/math">
                    <m:r>
                      <a:rPr kumimoji="1" lang="en-US" altLang="ja-JP" sz="2000" i="1" dirty="0" smtClean="0">
                        <a:latin typeface="Cambria Math"/>
                      </a:rPr>
                      <m:t>𝐶𝑅</m:t>
                    </m:r>
                  </m:oMath>
                </a14:m>
                <a:r>
                  <a:rPr kumimoji="1" lang="ja-JP" altLang="en-US" sz="2000" dirty="0" err="1"/>
                  <a:t>，</a:t>
                </a:r>
                <a:r>
                  <a:rPr kumimoji="1" lang="ja-JP" altLang="en-US" sz="2000" dirty="0"/>
                  <a:t>（突然変異戦略）</a:t>
                </a:r>
                <a:endParaRPr kumimoji="1" lang="en-US" altLang="ja-JP" sz="2000" dirty="0"/>
              </a:p>
              <a:p>
                <a:pPr lvl="1"/>
                <a:r>
                  <a:rPr kumimoji="1" lang="en-US" altLang="ja-JP" sz="2000" dirty="0">
                    <a:solidFill>
                      <a:srgbClr val="7030A0"/>
                    </a:solidFill>
                  </a:rPr>
                  <a:t>PSO</a:t>
                </a:r>
                <a:r>
                  <a:rPr kumimoji="1" lang="ja-JP" altLang="en-US" sz="2000" dirty="0">
                    <a:solidFill>
                      <a:srgbClr val="7030A0"/>
                    </a:solidFill>
                  </a:rPr>
                  <a:t>：　粒子数</a:t>
                </a:r>
                <a14:m>
                  <m:oMath xmlns:m="http://schemas.openxmlformats.org/officeDocument/2006/math">
                    <m:r>
                      <a:rPr kumimoji="1" lang="en-US" altLang="ja-JP" sz="2000" i="1" dirty="0" smtClean="0">
                        <a:solidFill>
                          <a:srgbClr val="7030A0"/>
                        </a:solidFill>
                        <a:latin typeface="Cambria Math"/>
                      </a:rPr>
                      <m:t>𝑁𝑃</m:t>
                    </m:r>
                  </m:oMath>
                </a14:m>
                <a:r>
                  <a:rPr kumimoji="1" lang="ja-JP" altLang="en-US" sz="2000" dirty="0" err="1">
                    <a:solidFill>
                      <a:srgbClr val="7030A0"/>
                    </a:solidFill>
                  </a:rPr>
                  <a:t>，</a:t>
                </a:r>
                <a:r>
                  <a:rPr kumimoji="1" lang="ja-JP" altLang="en-US" sz="2000" dirty="0">
                    <a:solidFill>
                      <a:srgbClr val="7030A0"/>
                    </a:solidFill>
                  </a:rPr>
                  <a:t>慣性係数</a:t>
                </a:r>
                <a14:m>
                  <m:oMath xmlns:m="http://schemas.openxmlformats.org/officeDocument/2006/math">
                    <m:r>
                      <a:rPr kumimoji="1" lang="en-US" altLang="ja-JP" sz="2000" i="1" dirty="0" smtClean="0">
                        <a:solidFill>
                          <a:srgbClr val="7030A0"/>
                        </a:solidFill>
                        <a:latin typeface="Cambria Math"/>
                      </a:rPr>
                      <m:t>𝑤</m:t>
                    </m:r>
                    <m:r>
                      <a:rPr kumimoji="1" lang="ja-JP" altLang="en-US" sz="2000" b="0" i="1" dirty="0" smtClean="0">
                        <a:solidFill>
                          <a:srgbClr val="7030A0"/>
                        </a:solidFill>
                        <a:latin typeface="Cambria Math"/>
                      </a:rPr>
                      <m:t>，</m:t>
                    </m:r>
                  </m:oMath>
                </a14:m>
                <a:r>
                  <a:rPr kumimoji="1" lang="ja-JP" altLang="en-US" sz="2000" dirty="0">
                    <a:solidFill>
                      <a:srgbClr val="7030A0"/>
                    </a:solidFill>
                  </a:rPr>
                  <a:t>認知パラメータ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00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000" i="1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kumimoji="1" lang="en-US" altLang="ja-JP" sz="2000" i="1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ja-JP" altLang="en-US" sz="2000" dirty="0" err="1">
                    <a:solidFill>
                      <a:srgbClr val="7030A0"/>
                    </a:solidFill>
                  </a:rPr>
                  <a:t>，</a:t>
                </a:r>
                <a:r>
                  <a:rPr kumimoji="1" lang="ja-JP" altLang="en-US" sz="2000" dirty="0">
                    <a:solidFill>
                      <a:srgbClr val="7030A0"/>
                    </a:solidFill>
                  </a:rPr>
                  <a:t>社会パラメータ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00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i="1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altLang="ja-JP" sz="2000" i="1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endParaRPr kumimoji="1" lang="en-US" altLang="ja-JP" sz="2000" dirty="0"/>
              </a:p>
              <a:p>
                <a:r>
                  <a:rPr kumimoji="1" lang="ja-JP" altLang="en-US" sz="2400" dirty="0">
                    <a:solidFill>
                      <a:srgbClr val="0070C0"/>
                    </a:solidFill>
                  </a:rPr>
                  <a:t>制御パラメータの値により，探索性能は大きく左右される</a:t>
                </a:r>
                <a:endParaRPr kumimoji="1" lang="en-US" altLang="ja-JP" sz="2400" dirty="0">
                  <a:solidFill>
                    <a:srgbClr val="0070C0"/>
                  </a:solidFill>
                </a:endParaRPr>
              </a:p>
              <a:p>
                <a:r>
                  <a:rPr lang="ja-JP" altLang="en-US" sz="2400" dirty="0">
                    <a:solidFill>
                      <a:srgbClr val="0070C0"/>
                    </a:solidFill>
                  </a:rPr>
                  <a:t>対象とする問題の性質により，適するパラメータは異なる</a:t>
                </a:r>
                <a:endParaRPr kumimoji="1" lang="en-US" altLang="ja-JP" sz="2400" dirty="0">
                  <a:solidFill>
                    <a:srgbClr val="0070C0"/>
                  </a:solidFill>
                </a:endParaRPr>
              </a:p>
              <a:p>
                <a:endParaRPr kumimoji="1" lang="ja-JP" altLang="en-US" sz="2400" dirty="0"/>
              </a:p>
            </p:txBody>
          </p:sp>
        </mc:Choice>
        <mc:Fallback xmlns="">
          <p:sp>
            <p:nvSpPr>
              <p:cNvPr id="3" name="コンテンツ プレースホルダー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1456185"/>
                <a:ext cx="8640960" cy="4565103"/>
              </a:xfrm>
              <a:blipFill>
                <a:blip r:embed="rId2"/>
                <a:stretch>
                  <a:fillRect l="-917" t="-1602" b="-240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D5F38-347F-4466-AB9F-04B1B3000A8E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22256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r>
              <a:rPr kumimoji="1" lang="ja-JP" altLang="en-US" dirty="0"/>
              <a:t>理想的な解探索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208823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kumimoji="1" lang="ja-JP" altLang="en-US" dirty="0"/>
              <a:t>大域的な探索から，局所的な探索へシフトする探索</a:t>
            </a:r>
            <a:endParaRPr kumimoji="1" lang="en-US" altLang="ja-JP" dirty="0"/>
          </a:p>
          <a:p>
            <a:r>
              <a:rPr lang="ja-JP" altLang="en-US" dirty="0"/>
              <a:t>探索序盤は十分な多様性を保持し，網羅的に広い範囲を探索</a:t>
            </a:r>
            <a:endParaRPr lang="en-US" altLang="ja-JP" dirty="0"/>
          </a:p>
          <a:p>
            <a:r>
              <a:rPr kumimoji="1" lang="ja-JP" altLang="en-US" dirty="0"/>
              <a:t>探索終盤は集団を収束させ，優良な解周辺を集中的に探索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4" name="フリーフォーム 3"/>
          <p:cNvSpPr/>
          <p:nvPr/>
        </p:nvSpPr>
        <p:spPr>
          <a:xfrm>
            <a:off x="611560" y="3553102"/>
            <a:ext cx="5727075" cy="2643560"/>
          </a:xfrm>
          <a:custGeom>
            <a:avLst/>
            <a:gdLst>
              <a:gd name="connsiteX0" fmla="*/ 0 w 4791075"/>
              <a:gd name="connsiteY0" fmla="*/ 0 h 2211512"/>
              <a:gd name="connsiteX1" fmla="*/ 400050 w 4791075"/>
              <a:gd name="connsiteY1" fmla="*/ 1123950 h 2211512"/>
              <a:gd name="connsiteX2" fmla="*/ 1133475 w 4791075"/>
              <a:gd name="connsiteY2" fmla="*/ 809625 h 2211512"/>
              <a:gd name="connsiteX3" fmla="*/ 1762125 w 4791075"/>
              <a:gd name="connsiteY3" fmla="*/ 1162050 h 2211512"/>
              <a:gd name="connsiteX4" fmla="*/ 2257425 w 4791075"/>
              <a:gd name="connsiteY4" fmla="*/ 2200275 h 2211512"/>
              <a:gd name="connsiteX5" fmla="*/ 2724150 w 4791075"/>
              <a:gd name="connsiteY5" fmla="*/ 1676400 h 2211512"/>
              <a:gd name="connsiteX6" fmla="*/ 3257550 w 4791075"/>
              <a:gd name="connsiteY6" fmla="*/ 1104900 h 2211512"/>
              <a:gd name="connsiteX7" fmla="*/ 3886200 w 4791075"/>
              <a:gd name="connsiteY7" fmla="*/ 1552575 h 2211512"/>
              <a:gd name="connsiteX8" fmla="*/ 4257675 w 4791075"/>
              <a:gd name="connsiteY8" fmla="*/ 1133475 h 2211512"/>
              <a:gd name="connsiteX9" fmla="*/ 4791075 w 4791075"/>
              <a:gd name="connsiteY9" fmla="*/ 28575 h 2211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791075" h="2211512">
                <a:moveTo>
                  <a:pt x="0" y="0"/>
                </a:moveTo>
                <a:cubicBezTo>
                  <a:pt x="105569" y="494506"/>
                  <a:pt x="211138" y="989013"/>
                  <a:pt x="400050" y="1123950"/>
                </a:cubicBezTo>
                <a:cubicBezTo>
                  <a:pt x="588963" y="1258888"/>
                  <a:pt x="906463" y="803275"/>
                  <a:pt x="1133475" y="809625"/>
                </a:cubicBezTo>
                <a:cubicBezTo>
                  <a:pt x="1360487" y="815975"/>
                  <a:pt x="1574800" y="930275"/>
                  <a:pt x="1762125" y="1162050"/>
                </a:cubicBezTo>
                <a:cubicBezTo>
                  <a:pt x="1949450" y="1393825"/>
                  <a:pt x="2097088" y="2114550"/>
                  <a:pt x="2257425" y="2200275"/>
                </a:cubicBezTo>
                <a:cubicBezTo>
                  <a:pt x="2417762" y="2286000"/>
                  <a:pt x="2557463" y="1858962"/>
                  <a:pt x="2724150" y="1676400"/>
                </a:cubicBezTo>
                <a:cubicBezTo>
                  <a:pt x="2890837" y="1493838"/>
                  <a:pt x="3063875" y="1125537"/>
                  <a:pt x="3257550" y="1104900"/>
                </a:cubicBezTo>
                <a:cubicBezTo>
                  <a:pt x="3451225" y="1084263"/>
                  <a:pt x="3719513" y="1547813"/>
                  <a:pt x="3886200" y="1552575"/>
                </a:cubicBezTo>
                <a:cubicBezTo>
                  <a:pt x="4052887" y="1557337"/>
                  <a:pt x="4106863" y="1387475"/>
                  <a:pt x="4257675" y="1133475"/>
                </a:cubicBezTo>
                <a:cubicBezTo>
                  <a:pt x="4408487" y="879475"/>
                  <a:pt x="4599781" y="454025"/>
                  <a:pt x="4791075" y="28575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円/楕円 4"/>
          <p:cNvSpPr/>
          <p:nvPr/>
        </p:nvSpPr>
        <p:spPr>
          <a:xfrm>
            <a:off x="1314857" y="3496981"/>
            <a:ext cx="4320480" cy="524792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円/楕円 5"/>
          <p:cNvSpPr/>
          <p:nvPr/>
        </p:nvSpPr>
        <p:spPr>
          <a:xfrm>
            <a:off x="2195736" y="4396462"/>
            <a:ext cx="2592288" cy="31487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円/楕円 6"/>
          <p:cNvSpPr/>
          <p:nvPr/>
        </p:nvSpPr>
        <p:spPr>
          <a:xfrm>
            <a:off x="2892737" y="5190426"/>
            <a:ext cx="1164719" cy="141474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2801124" y="3068960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/>
              <a:t>集団の分布</a:t>
            </a:r>
          </a:p>
        </p:txBody>
      </p:sp>
      <p:sp>
        <p:nvSpPr>
          <p:cNvPr id="12" name="下矢印 11"/>
          <p:cNvSpPr/>
          <p:nvPr/>
        </p:nvSpPr>
        <p:spPr>
          <a:xfrm>
            <a:off x="3362526" y="4108430"/>
            <a:ext cx="216024" cy="26274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下矢印 12"/>
          <p:cNvSpPr/>
          <p:nvPr/>
        </p:nvSpPr>
        <p:spPr>
          <a:xfrm>
            <a:off x="3347864" y="4874882"/>
            <a:ext cx="216024" cy="26274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3600519" y="5661248"/>
            <a:ext cx="53639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>
                <a:solidFill>
                  <a:srgbClr val="0070C0"/>
                </a:solidFill>
              </a:rPr>
              <a:t>多様性の保持と探索の集中化は</a:t>
            </a:r>
            <a:r>
              <a:rPr kumimoji="1" lang="ja-JP" altLang="en-US" sz="2000" b="1" dirty="0">
                <a:solidFill>
                  <a:srgbClr val="0070C0"/>
                </a:solidFill>
              </a:rPr>
              <a:t>トレードオフ</a:t>
            </a:r>
            <a:endParaRPr kumimoji="1" lang="en-US" altLang="ja-JP" sz="2000" b="1" dirty="0">
              <a:solidFill>
                <a:srgbClr val="0070C0"/>
              </a:solidFill>
            </a:endParaRPr>
          </a:p>
          <a:p>
            <a:r>
              <a:rPr kumimoji="1" lang="ja-JP" altLang="en-US" sz="2000" dirty="0">
                <a:solidFill>
                  <a:srgbClr val="0070C0"/>
                </a:solidFill>
              </a:rPr>
              <a:t>→バランスを</a:t>
            </a:r>
            <a:r>
              <a:rPr lang="ja-JP" altLang="en-US" sz="2000" dirty="0">
                <a:solidFill>
                  <a:srgbClr val="0070C0"/>
                </a:solidFill>
              </a:rPr>
              <a:t>考慮した探索を</a:t>
            </a:r>
            <a:r>
              <a:rPr kumimoji="1" lang="ja-JP" altLang="en-US" sz="2000" dirty="0">
                <a:solidFill>
                  <a:srgbClr val="0070C0"/>
                </a:solidFill>
              </a:rPr>
              <a:t>実現することが課題</a:t>
            </a: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683568" y="4952962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/>
              <a:t>局所解</a:t>
            </a:r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5461472" y="5143424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/>
              <a:t>局所解</a:t>
            </a:r>
          </a:p>
        </p:txBody>
      </p:sp>
      <p:sp>
        <p:nvSpPr>
          <p:cNvPr id="10" name="正方形/長方形 9"/>
          <p:cNvSpPr/>
          <p:nvPr/>
        </p:nvSpPr>
        <p:spPr>
          <a:xfrm>
            <a:off x="2885472" y="6286793"/>
            <a:ext cx="9541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2000" dirty="0">
                <a:solidFill>
                  <a:srgbClr val="FF0000"/>
                </a:solidFill>
              </a:rPr>
              <a:t>最適解</a:t>
            </a:r>
          </a:p>
        </p:txBody>
      </p:sp>
      <p:sp>
        <p:nvSpPr>
          <p:cNvPr id="11" name="スライド番号プレースホルダー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D5F38-347F-4466-AB9F-04B1B3000A8E}" type="slidenum">
              <a:rPr kumimoji="1" lang="ja-JP" altLang="en-US" smtClean="0"/>
              <a:t>6</a:t>
            </a:fld>
            <a:endParaRPr kumimoji="1" lang="ja-JP" altLang="en-US"/>
          </a:p>
        </p:txBody>
      </p:sp>
      <p:sp>
        <p:nvSpPr>
          <p:cNvPr id="16" name="角丸四角形吹き出し 15"/>
          <p:cNvSpPr/>
          <p:nvPr/>
        </p:nvSpPr>
        <p:spPr>
          <a:xfrm>
            <a:off x="6084168" y="3275740"/>
            <a:ext cx="2920708" cy="1008112"/>
          </a:xfrm>
          <a:prstGeom prst="wedgeRoundRectCallout">
            <a:avLst>
              <a:gd name="adj1" fmla="val -93427"/>
              <a:gd name="adj2" fmla="val 4556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000" dirty="0"/>
              <a:t>制御パラメータや</a:t>
            </a:r>
            <a:endParaRPr kumimoji="1" lang="en-US" altLang="ja-JP" sz="2000" dirty="0"/>
          </a:p>
          <a:p>
            <a:pPr algn="ctr"/>
            <a:r>
              <a:rPr kumimoji="1" lang="ja-JP" altLang="en-US" sz="2000" dirty="0"/>
              <a:t>戦略で調整</a:t>
            </a:r>
          </a:p>
        </p:txBody>
      </p:sp>
    </p:spTree>
    <p:extLst>
      <p:ext uri="{BB962C8B-B14F-4D97-AF65-F5344CB8AC3E}">
        <p14:creationId xmlns:p14="http://schemas.microsoft.com/office/powerpoint/2010/main" val="4262833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フリーフォーム 25"/>
          <p:cNvSpPr/>
          <p:nvPr/>
        </p:nvSpPr>
        <p:spPr>
          <a:xfrm>
            <a:off x="0" y="857250"/>
            <a:ext cx="9144090" cy="51435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27" name="フリーフォーム 26"/>
          <p:cNvSpPr/>
          <p:nvPr/>
        </p:nvSpPr>
        <p:spPr>
          <a:xfrm>
            <a:off x="0" y="857250"/>
            <a:ext cx="9144090" cy="51435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28" name="フリーフォーム 27"/>
          <p:cNvSpPr/>
          <p:nvPr/>
        </p:nvSpPr>
        <p:spPr>
          <a:xfrm>
            <a:off x="0" y="857250"/>
            <a:ext cx="9144090" cy="51435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000000"/>
              </a:solidFill>
              <a:latin typeface="ヒラギノ明朝 ProN"/>
            </a:endParaRPr>
          </a:p>
        </p:txBody>
      </p:sp>
      <p:pic>
        <p:nvPicPr>
          <p:cNvPr id="29" name="図 28"/>
          <p:cNvPicPr/>
          <p:nvPr/>
        </p:nvPicPr>
        <p:blipFill>
          <a:blip r:embed="rId2"/>
          <a:stretch/>
        </p:blipFill>
        <p:spPr>
          <a:xfrm>
            <a:off x="5486400" y="2057400"/>
            <a:ext cx="3657420" cy="274293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" name="テキスト ボックス 29"/>
          <p:cNvSpPr txBox="1"/>
          <p:nvPr/>
        </p:nvSpPr>
        <p:spPr>
          <a:xfrm>
            <a:off x="500040" y="1349190"/>
            <a:ext cx="2284280" cy="4547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955" b="1">
                <a:solidFill>
                  <a:srgbClr val="455A64"/>
                </a:solidFill>
                <a:latin typeface="Lato"/>
                <a:ea typeface="Lato"/>
              </a:rPr>
              <a:t>1. PSO</a:t>
            </a:r>
            <a:r>
              <a:rPr lang="ja-JP" altLang="en-US" sz="2955" b="1">
                <a:solidFill>
                  <a:srgbClr val="455A64"/>
                </a:solidFill>
                <a:latin typeface="HiraKakuProN-W6"/>
                <a:ea typeface="HiraKakuProN-W6"/>
              </a:rPr>
              <a:t>とは？</a:t>
            </a:r>
            <a:endParaRPr lang="en-US" sz="2955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31" name="テキスト ボックス 30"/>
          <p:cNvSpPr txBox="1"/>
          <p:nvPr/>
        </p:nvSpPr>
        <p:spPr>
          <a:xfrm>
            <a:off x="500041" y="2024191"/>
            <a:ext cx="4272003" cy="39472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altLang="en-US" sz="2565" b="1">
                <a:solidFill>
                  <a:srgbClr val="455A64"/>
                </a:solidFill>
                <a:latin typeface="HiraKakuProN-W6"/>
                <a:ea typeface="HiraKakuProN-W6"/>
              </a:rPr>
              <a:t>群知能に基づく最適化アルゴ</a:t>
            </a:r>
            <a:endParaRPr lang="en-US" sz="2565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32" name="フリーフォーム 31"/>
          <p:cNvSpPr/>
          <p:nvPr/>
        </p:nvSpPr>
        <p:spPr>
          <a:xfrm>
            <a:off x="571320" y="3293190"/>
            <a:ext cx="86130" cy="85860"/>
          </a:xfrm>
          <a:custGeom>
            <a:avLst/>
            <a:gdLst/>
            <a:ahLst/>
            <a:cxnLst/>
            <a:rect l="0" t="0" r="r" b="b"/>
            <a:pathLst>
              <a:path w="319" h="318">
                <a:moveTo>
                  <a:pt x="319" y="160"/>
                </a:moveTo>
                <a:cubicBezTo>
                  <a:pt x="319" y="170"/>
                  <a:pt x="318" y="180"/>
                  <a:pt x="316" y="191"/>
                </a:cubicBezTo>
                <a:cubicBezTo>
                  <a:pt x="314" y="201"/>
                  <a:pt x="311" y="211"/>
                  <a:pt x="307" y="220"/>
                </a:cubicBezTo>
                <a:cubicBezTo>
                  <a:pt x="303" y="230"/>
                  <a:pt x="298" y="239"/>
                  <a:pt x="292" y="248"/>
                </a:cubicBezTo>
                <a:cubicBezTo>
                  <a:pt x="286" y="256"/>
                  <a:pt x="280" y="264"/>
                  <a:pt x="272" y="272"/>
                </a:cubicBezTo>
                <a:cubicBezTo>
                  <a:pt x="265" y="279"/>
                  <a:pt x="256" y="286"/>
                  <a:pt x="247" y="292"/>
                </a:cubicBezTo>
                <a:cubicBezTo>
                  <a:pt x="238" y="297"/>
                  <a:pt x="229" y="302"/>
                  <a:pt x="220" y="306"/>
                </a:cubicBezTo>
                <a:cubicBezTo>
                  <a:pt x="210" y="310"/>
                  <a:pt x="200" y="313"/>
                  <a:pt x="190" y="315"/>
                </a:cubicBezTo>
                <a:cubicBezTo>
                  <a:pt x="180" y="317"/>
                  <a:pt x="169" y="318"/>
                  <a:pt x="159" y="318"/>
                </a:cubicBezTo>
                <a:cubicBezTo>
                  <a:pt x="148" y="318"/>
                  <a:pt x="138" y="317"/>
                  <a:pt x="128" y="315"/>
                </a:cubicBezTo>
                <a:cubicBezTo>
                  <a:pt x="118" y="313"/>
                  <a:pt x="108" y="310"/>
                  <a:pt x="98" y="306"/>
                </a:cubicBezTo>
                <a:cubicBezTo>
                  <a:pt x="89" y="302"/>
                  <a:pt x="79" y="297"/>
                  <a:pt x="71" y="292"/>
                </a:cubicBezTo>
                <a:cubicBezTo>
                  <a:pt x="62" y="286"/>
                  <a:pt x="54" y="279"/>
                  <a:pt x="47" y="272"/>
                </a:cubicBezTo>
                <a:cubicBezTo>
                  <a:pt x="39" y="264"/>
                  <a:pt x="33" y="256"/>
                  <a:pt x="27" y="248"/>
                </a:cubicBezTo>
                <a:cubicBezTo>
                  <a:pt x="21" y="239"/>
                  <a:pt x="16" y="230"/>
                  <a:pt x="12" y="220"/>
                </a:cubicBezTo>
                <a:cubicBezTo>
                  <a:pt x="8" y="211"/>
                  <a:pt x="5" y="201"/>
                  <a:pt x="3" y="191"/>
                </a:cubicBezTo>
                <a:cubicBezTo>
                  <a:pt x="1" y="180"/>
                  <a:pt x="0" y="170"/>
                  <a:pt x="0" y="160"/>
                </a:cubicBezTo>
                <a:cubicBezTo>
                  <a:pt x="0" y="149"/>
                  <a:pt x="1" y="139"/>
                  <a:pt x="3" y="129"/>
                </a:cubicBezTo>
                <a:cubicBezTo>
                  <a:pt x="5" y="118"/>
                  <a:pt x="8" y="108"/>
                  <a:pt x="12" y="99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3"/>
                  <a:pt x="39" y="55"/>
                  <a:pt x="47" y="47"/>
                </a:cubicBezTo>
                <a:cubicBezTo>
                  <a:pt x="54" y="40"/>
                  <a:pt x="62" y="33"/>
                  <a:pt x="71" y="28"/>
                </a:cubicBezTo>
                <a:cubicBezTo>
                  <a:pt x="79" y="22"/>
                  <a:pt x="89" y="17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cubicBezTo>
                  <a:pt x="169" y="0"/>
                  <a:pt x="180" y="1"/>
                  <a:pt x="190" y="3"/>
                </a:cubicBezTo>
                <a:cubicBezTo>
                  <a:pt x="200" y="5"/>
                  <a:pt x="210" y="8"/>
                  <a:pt x="220" y="12"/>
                </a:cubicBezTo>
                <a:cubicBezTo>
                  <a:pt x="229" y="17"/>
                  <a:pt x="238" y="22"/>
                  <a:pt x="247" y="28"/>
                </a:cubicBezTo>
                <a:cubicBezTo>
                  <a:pt x="256" y="33"/>
                  <a:pt x="265" y="40"/>
                  <a:pt x="272" y="47"/>
                </a:cubicBezTo>
                <a:cubicBezTo>
                  <a:pt x="280" y="55"/>
                  <a:pt x="286" y="63"/>
                  <a:pt x="292" y="71"/>
                </a:cubicBezTo>
                <a:cubicBezTo>
                  <a:pt x="298" y="80"/>
                  <a:pt x="303" y="89"/>
                  <a:pt x="307" y="99"/>
                </a:cubicBezTo>
                <a:cubicBezTo>
                  <a:pt x="311" y="108"/>
                  <a:pt x="314" y="118"/>
                  <a:pt x="316" y="129"/>
                </a:cubicBezTo>
                <a:cubicBezTo>
                  <a:pt x="318" y="139"/>
                  <a:pt x="319" y="149"/>
                  <a:pt x="319" y="160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33" name="テキスト ボックス 32"/>
          <p:cNvSpPr txBox="1"/>
          <p:nvPr/>
        </p:nvSpPr>
        <p:spPr>
          <a:xfrm>
            <a:off x="500041" y="2459971"/>
            <a:ext cx="985847" cy="39472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altLang="en-US" sz="2565" b="1">
                <a:solidFill>
                  <a:srgbClr val="455A64"/>
                </a:solidFill>
                <a:latin typeface="HiraKakuProN-W6"/>
                <a:ea typeface="HiraKakuProN-W6"/>
              </a:rPr>
              <a:t>リズム</a:t>
            </a:r>
            <a:endParaRPr lang="en-US" sz="2565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34" name="テキスト ボックス 33"/>
          <p:cNvSpPr txBox="1"/>
          <p:nvPr/>
        </p:nvSpPr>
        <p:spPr>
          <a:xfrm>
            <a:off x="785700" y="3147390"/>
            <a:ext cx="3792705" cy="3023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965" b="1">
                <a:solidFill>
                  <a:srgbClr val="455A64"/>
                </a:solidFill>
                <a:latin typeface="Lato"/>
                <a:ea typeface="Lato"/>
              </a:rPr>
              <a:t>1995</a:t>
            </a:r>
            <a:r>
              <a:rPr lang="ja-JP" altLang="en-US" sz="1965" b="1">
                <a:solidFill>
                  <a:srgbClr val="455A64"/>
                </a:solidFill>
                <a:latin typeface="HiraKakuProN-W6"/>
                <a:ea typeface="HiraKakuProN-W6"/>
              </a:rPr>
              <a:t>年</a:t>
            </a:r>
            <a:r>
              <a:rPr lang="ja-JP" altLang="en-US" sz="1965">
                <a:solidFill>
                  <a:srgbClr val="455A64"/>
                </a:solidFill>
                <a:latin typeface="HiraKakuProN-W3"/>
                <a:ea typeface="HiraKakuProN-W3"/>
              </a:rPr>
              <a:t>に</a:t>
            </a:r>
            <a:r>
              <a:rPr lang="en-US" sz="1965">
                <a:solidFill>
                  <a:srgbClr val="455A64"/>
                </a:solidFill>
                <a:latin typeface="Lato"/>
                <a:ea typeface="Lato"/>
              </a:rPr>
              <a:t>J. Kennedy</a:t>
            </a:r>
            <a:r>
              <a:rPr lang="ja-JP" altLang="en-US" sz="1965">
                <a:solidFill>
                  <a:srgbClr val="455A64"/>
                </a:solidFill>
                <a:latin typeface="HiraKakuProN-W3"/>
                <a:ea typeface="HiraKakuProN-W3"/>
              </a:rPr>
              <a:t>と</a:t>
            </a:r>
            <a:r>
              <a:rPr lang="en-US" sz="1965">
                <a:solidFill>
                  <a:srgbClr val="455A64"/>
                </a:solidFill>
                <a:latin typeface="Lato"/>
                <a:ea typeface="Lato"/>
              </a:rPr>
              <a:t>R. Eberhart</a:t>
            </a:r>
            <a:endParaRPr lang="en-US" sz="1965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35" name="フリーフォーム 34"/>
          <p:cNvSpPr/>
          <p:nvPr/>
        </p:nvSpPr>
        <p:spPr>
          <a:xfrm>
            <a:off x="571320" y="4043250"/>
            <a:ext cx="86130" cy="85860"/>
          </a:xfrm>
          <a:custGeom>
            <a:avLst/>
            <a:gdLst/>
            <a:ahLst/>
            <a:cxnLst/>
            <a:rect l="0" t="0" r="r" b="b"/>
            <a:pathLst>
              <a:path w="319" h="318">
                <a:moveTo>
                  <a:pt x="319" y="160"/>
                </a:moveTo>
                <a:cubicBezTo>
                  <a:pt x="319" y="170"/>
                  <a:pt x="318" y="180"/>
                  <a:pt x="316" y="191"/>
                </a:cubicBezTo>
                <a:cubicBezTo>
                  <a:pt x="314" y="201"/>
                  <a:pt x="311" y="211"/>
                  <a:pt x="307" y="220"/>
                </a:cubicBezTo>
                <a:cubicBezTo>
                  <a:pt x="303" y="230"/>
                  <a:pt x="298" y="239"/>
                  <a:pt x="292" y="248"/>
                </a:cubicBezTo>
                <a:cubicBezTo>
                  <a:pt x="286" y="257"/>
                  <a:pt x="280" y="265"/>
                  <a:pt x="272" y="272"/>
                </a:cubicBezTo>
                <a:cubicBezTo>
                  <a:pt x="265" y="279"/>
                  <a:pt x="256" y="286"/>
                  <a:pt x="247" y="292"/>
                </a:cubicBezTo>
                <a:cubicBezTo>
                  <a:pt x="238" y="297"/>
                  <a:pt x="229" y="302"/>
                  <a:pt x="220" y="306"/>
                </a:cubicBezTo>
                <a:cubicBezTo>
                  <a:pt x="210" y="310"/>
                  <a:pt x="200" y="313"/>
                  <a:pt x="190" y="315"/>
                </a:cubicBezTo>
                <a:cubicBezTo>
                  <a:pt x="180" y="317"/>
                  <a:pt x="169" y="318"/>
                  <a:pt x="159" y="318"/>
                </a:cubicBezTo>
                <a:cubicBezTo>
                  <a:pt x="148" y="318"/>
                  <a:pt x="138" y="317"/>
                  <a:pt x="128" y="315"/>
                </a:cubicBezTo>
                <a:cubicBezTo>
                  <a:pt x="118" y="313"/>
                  <a:pt x="108" y="310"/>
                  <a:pt x="98" y="306"/>
                </a:cubicBezTo>
                <a:cubicBezTo>
                  <a:pt x="89" y="302"/>
                  <a:pt x="79" y="297"/>
                  <a:pt x="71" y="292"/>
                </a:cubicBezTo>
                <a:cubicBezTo>
                  <a:pt x="62" y="286"/>
                  <a:pt x="54" y="279"/>
                  <a:pt x="47" y="272"/>
                </a:cubicBezTo>
                <a:cubicBezTo>
                  <a:pt x="39" y="265"/>
                  <a:pt x="33" y="257"/>
                  <a:pt x="27" y="248"/>
                </a:cubicBezTo>
                <a:cubicBezTo>
                  <a:pt x="21" y="239"/>
                  <a:pt x="16" y="230"/>
                  <a:pt x="12" y="220"/>
                </a:cubicBezTo>
                <a:cubicBezTo>
                  <a:pt x="8" y="211"/>
                  <a:pt x="5" y="201"/>
                  <a:pt x="3" y="191"/>
                </a:cubicBezTo>
                <a:cubicBezTo>
                  <a:pt x="1" y="180"/>
                  <a:pt x="0" y="170"/>
                  <a:pt x="0" y="160"/>
                </a:cubicBezTo>
                <a:cubicBezTo>
                  <a:pt x="0" y="149"/>
                  <a:pt x="1" y="139"/>
                  <a:pt x="3" y="129"/>
                </a:cubicBezTo>
                <a:cubicBezTo>
                  <a:pt x="5" y="118"/>
                  <a:pt x="8" y="109"/>
                  <a:pt x="12" y="99"/>
                </a:cubicBezTo>
                <a:cubicBezTo>
                  <a:pt x="16" y="89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79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cubicBezTo>
                  <a:pt x="169" y="0"/>
                  <a:pt x="180" y="1"/>
                  <a:pt x="190" y="3"/>
                </a:cubicBezTo>
                <a:cubicBezTo>
                  <a:pt x="200" y="5"/>
                  <a:pt x="210" y="8"/>
                  <a:pt x="220" y="12"/>
                </a:cubicBezTo>
                <a:cubicBezTo>
                  <a:pt x="229" y="16"/>
                  <a:pt x="238" y="21"/>
                  <a:pt x="247" y="27"/>
                </a:cubicBezTo>
                <a:cubicBezTo>
                  <a:pt x="256" y="32"/>
                  <a:pt x="265" y="39"/>
                  <a:pt x="272" y="46"/>
                </a:cubicBezTo>
                <a:cubicBezTo>
                  <a:pt x="280" y="54"/>
                  <a:pt x="286" y="62"/>
                  <a:pt x="292" y="70"/>
                </a:cubicBezTo>
                <a:cubicBezTo>
                  <a:pt x="298" y="79"/>
                  <a:pt x="303" y="89"/>
                  <a:pt x="307" y="99"/>
                </a:cubicBezTo>
                <a:cubicBezTo>
                  <a:pt x="311" y="109"/>
                  <a:pt x="314" y="118"/>
                  <a:pt x="316" y="129"/>
                </a:cubicBezTo>
                <a:cubicBezTo>
                  <a:pt x="318" y="139"/>
                  <a:pt x="319" y="149"/>
                  <a:pt x="319" y="160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36" name="テキスト ボックス 35"/>
          <p:cNvSpPr txBox="1"/>
          <p:nvPr/>
        </p:nvSpPr>
        <p:spPr>
          <a:xfrm>
            <a:off x="785700" y="3490290"/>
            <a:ext cx="1510029" cy="3023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altLang="en-US" sz="1965">
                <a:solidFill>
                  <a:srgbClr val="455A64"/>
                </a:solidFill>
                <a:latin typeface="HiraKakuProN-W3"/>
                <a:ea typeface="HiraKakuProN-W3"/>
              </a:rPr>
              <a:t>によって提案</a:t>
            </a:r>
            <a:endParaRPr lang="en-US" sz="1965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37" name="テキスト ボックス 36"/>
          <p:cNvSpPr txBox="1"/>
          <p:nvPr/>
        </p:nvSpPr>
        <p:spPr>
          <a:xfrm>
            <a:off x="785701" y="3897450"/>
            <a:ext cx="4026743" cy="3023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altLang="en-US" sz="1965" b="1">
                <a:solidFill>
                  <a:srgbClr val="455A64"/>
                </a:solidFill>
                <a:latin typeface="HiraKakuProN-W6"/>
                <a:ea typeface="HiraKakuProN-W6"/>
              </a:rPr>
              <a:t>⿃の群れ</a:t>
            </a:r>
            <a:r>
              <a:rPr lang="ja-JP" altLang="en-US" sz="1965">
                <a:solidFill>
                  <a:srgbClr val="455A64"/>
                </a:solidFill>
                <a:latin typeface="HiraKakuProN-W3"/>
                <a:ea typeface="HiraKakuProN-W3"/>
              </a:rPr>
              <a:t>や</a:t>
            </a:r>
            <a:r>
              <a:rPr lang="ja-JP" altLang="en-US" sz="1965" b="1">
                <a:solidFill>
                  <a:srgbClr val="455A64"/>
                </a:solidFill>
                <a:latin typeface="HiraKakuProN-W6"/>
                <a:ea typeface="HiraKakuProN-W6"/>
              </a:rPr>
              <a:t>⿂の群れ</a:t>
            </a:r>
            <a:r>
              <a:rPr lang="ja-JP" altLang="en-US" sz="1965">
                <a:solidFill>
                  <a:srgbClr val="455A64"/>
                </a:solidFill>
                <a:latin typeface="HiraKakuProN-W3"/>
                <a:ea typeface="HiraKakuProN-W3"/>
              </a:rPr>
              <a:t>の社会的⾏動を</a:t>
            </a:r>
            <a:endParaRPr lang="en-US" sz="1965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38" name="フリーフォーム 37"/>
          <p:cNvSpPr/>
          <p:nvPr/>
        </p:nvSpPr>
        <p:spPr>
          <a:xfrm>
            <a:off x="571320" y="4793310"/>
            <a:ext cx="86130" cy="86130"/>
          </a:xfrm>
          <a:custGeom>
            <a:avLst/>
            <a:gdLst/>
            <a:ahLst/>
            <a:cxnLst/>
            <a:rect l="0" t="0" r="r" b="b"/>
            <a:pathLst>
              <a:path w="319" h="319">
                <a:moveTo>
                  <a:pt x="319" y="159"/>
                </a:moveTo>
                <a:cubicBezTo>
                  <a:pt x="319" y="170"/>
                  <a:pt x="318" y="181"/>
                  <a:pt x="316" y="191"/>
                </a:cubicBezTo>
                <a:cubicBezTo>
                  <a:pt x="314" y="201"/>
                  <a:pt x="311" y="211"/>
                  <a:pt x="307" y="221"/>
                </a:cubicBezTo>
                <a:cubicBezTo>
                  <a:pt x="303" y="230"/>
                  <a:pt x="298" y="239"/>
                  <a:pt x="292" y="248"/>
                </a:cubicBezTo>
                <a:cubicBezTo>
                  <a:pt x="286" y="257"/>
                  <a:pt x="280" y="265"/>
                  <a:pt x="272" y="272"/>
                </a:cubicBezTo>
                <a:cubicBezTo>
                  <a:pt x="265" y="279"/>
                  <a:pt x="256" y="286"/>
                  <a:pt x="247" y="292"/>
                </a:cubicBezTo>
                <a:cubicBezTo>
                  <a:pt x="238" y="298"/>
                  <a:pt x="229" y="302"/>
                  <a:pt x="220" y="306"/>
                </a:cubicBezTo>
                <a:cubicBezTo>
                  <a:pt x="210" y="310"/>
                  <a:pt x="200" y="313"/>
                  <a:pt x="190" y="315"/>
                </a:cubicBezTo>
                <a:cubicBezTo>
                  <a:pt x="180" y="318"/>
                  <a:pt x="169" y="319"/>
                  <a:pt x="159" y="319"/>
                </a:cubicBezTo>
                <a:cubicBezTo>
                  <a:pt x="148" y="319"/>
                  <a:pt x="138" y="318"/>
                  <a:pt x="128" y="315"/>
                </a:cubicBezTo>
                <a:cubicBezTo>
                  <a:pt x="118" y="313"/>
                  <a:pt x="108" y="310"/>
                  <a:pt x="98" y="306"/>
                </a:cubicBezTo>
                <a:cubicBezTo>
                  <a:pt x="89" y="302"/>
                  <a:pt x="79" y="298"/>
                  <a:pt x="71" y="292"/>
                </a:cubicBezTo>
                <a:cubicBezTo>
                  <a:pt x="62" y="286"/>
                  <a:pt x="54" y="279"/>
                  <a:pt x="47" y="272"/>
                </a:cubicBezTo>
                <a:cubicBezTo>
                  <a:pt x="39" y="265"/>
                  <a:pt x="33" y="257"/>
                  <a:pt x="27" y="248"/>
                </a:cubicBezTo>
                <a:cubicBezTo>
                  <a:pt x="21" y="239"/>
                  <a:pt x="16" y="230"/>
                  <a:pt x="12" y="221"/>
                </a:cubicBezTo>
                <a:cubicBezTo>
                  <a:pt x="8" y="211"/>
                  <a:pt x="5" y="201"/>
                  <a:pt x="3" y="191"/>
                </a:cubicBezTo>
                <a:cubicBezTo>
                  <a:pt x="1" y="181"/>
                  <a:pt x="0" y="170"/>
                  <a:pt x="0" y="159"/>
                </a:cubicBez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cubicBezTo>
                  <a:pt x="169" y="0"/>
                  <a:pt x="180" y="1"/>
                  <a:pt x="190" y="3"/>
                </a:cubicBezTo>
                <a:cubicBezTo>
                  <a:pt x="200" y="5"/>
                  <a:pt x="210" y="8"/>
                  <a:pt x="220" y="12"/>
                </a:cubicBezTo>
                <a:cubicBezTo>
                  <a:pt x="229" y="16"/>
                  <a:pt x="238" y="21"/>
                  <a:pt x="247" y="27"/>
                </a:cubicBezTo>
                <a:cubicBezTo>
                  <a:pt x="256" y="33"/>
                  <a:pt x="265" y="39"/>
                  <a:pt x="272" y="47"/>
                </a:cubicBezTo>
                <a:cubicBezTo>
                  <a:pt x="280" y="54"/>
                  <a:pt x="286" y="62"/>
                  <a:pt x="292" y="71"/>
                </a:cubicBezTo>
                <a:cubicBezTo>
                  <a:pt x="298" y="79"/>
                  <a:pt x="303" y="88"/>
                  <a:pt x="307" y="98"/>
                </a:cubicBezTo>
                <a:cubicBezTo>
                  <a:pt x="311" y="108"/>
                  <a:pt x="314" y="118"/>
                  <a:pt x="316" y="128"/>
                </a:cubicBezTo>
                <a:cubicBezTo>
                  <a:pt x="318" y="138"/>
                  <a:pt x="319" y="148"/>
                  <a:pt x="319" y="159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39" name="テキスト ボックス 38"/>
          <p:cNvSpPr txBox="1"/>
          <p:nvPr/>
        </p:nvSpPr>
        <p:spPr>
          <a:xfrm>
            <a:off x="785700" y="4240350"/>
            <a:ext cx="1006686" cy="3023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altLang="en-US" sz="1965">
                <a:solidFill>
                  <a:srgbClr val="455A64"/>
                </a:solidFill>
                <a:latin typeface="HiraKakuProN-W3"/>
                <a:ea typeface="HiraKakuProN-W3"/>
              </a:rPr>
              <a:t>モデル化</a:t>
            </a:r>
            <a:endParaRPr lang="en-US" sz="1965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40" name="テキスト ボックス 39"/>
          <p:cNvSpPr txBox="1"/>
          <p:nvPr/>
        </p:nvSpPr>
        <p:spPr>
          <a:xfrm>
            <a:off x="785701" y="4647510"/>
            <a:ext cx="4026743" cy="3023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altLang="en-US" sz="1965">
                <a:solidFill>
                  <a:srgbClr val="455A64"/>
                </a:solidFill>
                <a:latin typeface="HiraKakuProN-W3"/>
                <a:ea typeface="HiraKakuProN-W3"/>
              </a:rPr>
              <a:t>複数の「粒⼦」が情報を共有しなが</a:t>
            </a:r>
            <a:endParaRPr lang="en-US" sz="1965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41" name="テキスト ボックス 40"/>
          <p:cNvSpPr txBox="1"/>
          <p:nvPr/>
        </p:nvSpPr>
        <p:spPr>
          <a:xfrm>
            <a:off x="785701" y="4990410"/>
            <a:ext cx="2768387" cy="3023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altLang="en-US" sz="1965">
                <a:solidFill>
                  <a:srgbClr val="455A64"/>
                </a:solidFill>
                <a:latin typeface="HiraKakuProN-W3"/>
                <a:ea typeface="HiraKakuProN-W3"/>
              </a:rPr>
              <a:t>ら協調して最適解を探索</a:t>
            </a:r>
            <a:endParaRPr lang="en-US" sz="1965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42" name="テキスト ボックス 41"/>
          <p:cNvSpPr txBox="1"/>
          <p:nvPr/>
        </p:nvSpPr>
        <p:spPr>
          <a:xfrm>
            <a:off x="8840340" y="5615460"/>
            <a:ext cx="117020" cy="24237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75">
                <a:solidFill>
                  <a:srgbClr val="455A64"/>
                </a:solidFill>
                <a:latin typeface="Lato"/>
                <a:ea typeface="Lato"/>
              </a:rPr>
              <a:t>3</a:t>
            </a:r>
            <a:endParaRPr lang="en-US" sz="1575">
              <a:solidFill>
                <a:srgbClr val="000000"/>
              </a:solidFill>
              <a:latin typeface="ヒラギノ明朝 Pro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PSO</a:t>
            </a:r>
            <a:r>
              <a:rPr kumimoji="1" lang="ja-JP" altLang="en-US" dirty="0"/>
              <a:t>（粒子群最適化）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525963"/>
          </a:xfrm>
        </p:spPr>
        <p:txBody>
          <a:bodyPr/>
          <a:lstStyle/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altLang="ja-JP" sz="3200" dirty="0"/>
              <a:t>1995 </a:t>
            </a:r>
            <a:r>
              <a:rPr lang="ja-JP" altLang="en-US" sz="3200" dirty="0"/>
              <a:t>年に提案された</a:t>
            </a:r>
            <a:r>
              <a:rPr kumimoji="1" lang="ja-JP" altLang="en-US" sz="3200" dirty="0"/>
              <a:t>群知能ベースの最適化</a:t>
            </a:r>
            <a:r>
              <a:rPr lang="ja-JP" altLang="en-US" sz="3200" dirty="0"/>
              <a:t>アルゴリズム</a:t>
            </a:r>
            <a:endParaRPr lang="en-US" altLang="ja-JP" sz="3200" dirty="0"/>
          </a:p>
          <a:p>
            <a:r>
              <a:rPr lang="ja-JP" altLang="en-US" dirty="0"/>
              <a:t>粒子：鳥や魚の位置を抽象化したもの</a:t>
            </a:r>
            <a:endParaRPr lang="en-US" altLang="ja-JP" dirty="0"/>
          </a:p>
          <a:p>
            <a:r>
              <a:rPr lang="ja-JP" altLang="en-US" dirty="0"/>
              <a:t>粒子が群れを形成し，最適な位置（解）を探索する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D5F38-347F-4466-AB9F-04B1B3000A8E}" type="slidenum">
              <a:rPr kumimoji="1" lang="ja-JP" altLang="en-US" smtClean="0"/>
              <a:t>8</a:t>
            </a:fld>
            <a:endParaRPr kumimoji="1" lang="ja-JP" altLang="en-US"/>
          </a:p>
        </p:txBody>
      </p:sp>
      <p:pic>
        <p:nvPicPr>
          <p:cNvPr id="14338" name="Picture 2" descr="水中, 魚, アトランティス, 海, 水, 水中の世界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7760" y="4083947"/>
            <a:ext cx="3270879" cy="2454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0" name="Picture 4" descr="鳥, 群れ, 一群の鳥, 空, 単独, 多くの間でだけで, マーベリック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4147719"/>
            <a:ext cx="3861073" cy="2391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39048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en-US" altLang="ja-JP" dirty="0"/>
              <a:t>PSO</a:t>
            </a:r>
            <a:r>
              <a:rPr lang="ja-JP" altLang="ja-JP" dirty="0"/>
              <a:t>の構造</a:t>
            </a:r>
            <a:endParaRPr kumimoji="1" lang="ja-JP" altLang="en-US" dirty="0"/>
          </a:p>
        </p:txBody>
      </p:sp>
      <p:pic>
        <p:nvPicPr>
          <p:cNvPr id="12290" name="Picture 2" descr="C:\Users\kushida\AppData\Local\Temp\ScreenClip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600364"/>
            <a:ext cx="4794379" cy="1485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1" name="Picture 3" descr="C:\Users\kushida\AppData\Local\Temp\ScreenClip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4800650"/>
            <a:ext cx="3858890" cy="1368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正方形/長方形 3"/>
              <p:cNvSpPr/>
              <p:nvPr/>
            </p:nvSpPr>
            <p:spPr>
              <a:xfrm>
                <a:off x="323528" y="1052736"/>
                <a:ext cx="7992888" cy="13528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ja-JP" altLang="ja-JP" sz="2000" dirty="0"/>
                  <a:t>粒子の群れにおいて，各</a:t>
                </a:r>
                <a:r>
                  <a:rPr lang="ja-JP" altLang="en-US" sz="2000" dirty="0"/>
                  <a:t>粒子</a:t>
                </a:r>
                <a14:m>
                  <m:oMath xmlns:m="http://schemas.openxmlformats.org/officeDocument/2006/math">
                    <m:r>
                      <a:rPr lang="en-US" altLang="ja-JP" sz="2000" i="1" dirty="0" smtClean="0">
                        <a:latin typeface="Cambria Math"/>
                      </a:rPr>
                      <m:t>𝑖</m:t>
                    </m:r>
                  </m:oMath>
                </a14:m>
                <a:r>
                  <a:rPr lang="en-US" altLang="ja-JP" sz="2000" dirty="0"/>
                  <a:t> </a:t>
                </a:r>
                <a:r>
                  <a:rPr lang="ja-JP" altLang="ja-JP" sz="2000" dirty="0"/>
                  <a:t>は，以下の情報を有している．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ja-JP" altLang="ja-JP" sz="2000" dirty="0"/>
                  <a:t>各自の位置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sz="2000" b="1" i="1" smtClean="0"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altLang="ja-JP" sz="2000" b="0" i="1" smtClean="0">
                            <a:latin typeface="Cambria Math"/>
                          </a:rPr>
                          <m:t>𝑖</m:t>
                        </m:r>
                      </m:sub>
                      <m:sup>
                        <m:r>
                          <a:rPr lang="en-US" altLang="ja-JP" sz="2000" b="0" i="1" smtClean="0">
                            <a:latin typeface="Cambria Math"/>
                          </a:rPr>
                          <m:t>𝑡</m:t>
                        </m:r>
                      </m:sup>
                    </m:sSubSup>
                  </m:oMath>
                </a14:m>
                <a:endParaRPr lang="en-US" altLang="ja-JP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ja-JP" altLang="ja-JP" sz="2000" dirty="0"/>
                  <a:t>移動速度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sz="2000" b="1" i="1" smtClean="0">
                            <a:latin typeface="Cambria Math"/>
                          </a:rPr>
                          <m:t>𝒗</m:t>
                        </m:r>
                      </m:e>
                      <m:sub>
                        <m:r>
                          <a:rPr lang="en-US" altLang="ja-JP" sz="2000" i="1">
                            <a:latin typeface="Cambria Math"/>
                          </a:rPr>
                          <m:t>𝑖</m:t>
                        </m:r>
                      </m:sub>
                      <m:sup>
                        <m:r>
                          <a:rPr lang="en-US" altLang="ja-JP" sz="2000" i="1">
                            <a:latin typeface="Cambria Math"/>
                          </a:rPr>
                          <m:t>𝑡</m:t>
                        </m:r>
                      </m:sup>
                    </m:sSubSup>
                    <m:r>
                      <a:rPr lang="en-US" altLang="ja-JP" sz="2000" i="1">
                        <a:latin typeface="Cambria Math"/>
                      </a:rPr>
                      <m:t> </m:t>
                    </m:r>
                  </m:oMath>
                </a14:m>
                <a:endParaRPr lang="en-US" altLang="ja-JP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ja-JP" altLang="ja-JP" sz="2000" dirty="0"/>
                  <a:t>今まで</a:t>
                </a:r>
                <a:r>
                  <a:rPr lang="en-US" altLang="ja-JP" sz="2000" dirty="0"/>
                  <a:t>(</a:t>
                </a:r>
                <a14:m>
                  <m:oMath xmlns:m="http://schemas.openxmlformats.org/officeDocument/2006/math">
                    <m:r>
                      <a:rPr lang="en-US" altLang="ja-JP" sz="200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ja-JP" altLang="en-US" sz="2000" i="1" dirty="0">
                        <a:latin typeface="Cambria Math" panose="02040503050406030204" pitchFamily="18" charset="0"/>
                      </a:rPr>
                      <m:t>ステップ</m:t>
                    </m:r>
                  </m:oMath>
                </a14:m>
                <a:r>
                  <a:rPr lang="ja-JP" altLang="en-US" sz="2000" dirty="0"/>
                  <a:t>まで</a:t>
                </a:r>
                <a:r>
                  <a:rPr lang="en-US" altLang="ja-JP" sz="2000" dirty="0"/>
                  <a:t>)</a:t>
                </a:r>
                <a:r>
                  <a:rPr lang="ja-JP" altLang="en-US" sz="2000" dirty="0"/>
                  <a:t>に</a:t>
                </a:r>
                <a:r>
                  <a:rPr lang="ja-JP" altLang="ja-JP" sz="2000" dirty="0"/>
                  <a:t>経験した最良位置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sz="2000" b="1" i="1"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altLang="ja-JP" sz="2000" i="1">
                            <a:latin typeface="Cambria Math"/>
                          </a:rPr>
                          <m:t>𝑖</m:t>
                        </m:r>
                      </m:sub>
                      <m:sup>
                        <m:r>
                          <a:rPr lang="en-US" altLang="ja-JP" sz="2000" b="0" i="1" smtClean="0">
                            <a:latin typeface="Cambria Math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ja-JP" altLang="ja-JP" sz="2000" dirty="0"/>
                  <a:t>と最良値</a:t>
                </a:r>
                <a14:m>
                  <m:oMath xmlns:m="http://schemas.openxmlformats.org/officeDocument/2006/math">
                    <m:r>
                      <a:rPr lang="en-US" altLang="ja-JP" sz="2000" i="1" dirty="0" smtClean="0">
                        <a:latin typeface="Cambria Math"/>
                      </a:rPr>
                      <m:t>𝑝𝑏𝑒𝑠𝑡</m:t>
                    </m:r>
                    <m:r>
                      <a:rPr lang="en-US" altLang="ja-JP" sz="2000" i="1" baseline="-25000" dirty="0" err="1">
                        <a:latin typeface="Cambria Math"/>
                      </a:rPr>
                      <m:t>𝑖</m:t>
                    </m:r>
                    <m:r>
                      <a:rPr lang="en-US" altLang="ja-JP" sz="2000" b="0" i="1" baseline="-25000" dirty="0" smtClean="0">
                        <a:latin typeface="Cambria Math"/>
                      </a:rPr>
                      <m:t> </m:t>
                    </m:r>
                  </m:oMath>
                </a14:m>
                <a:endParaRPr lang="ja-JP" altLang="ja-JP" sz="2000" dirty="0"/>
              </a:p>
            </p:txBody>
          </p:sp>
        </mc:Choice>
        <mc:Fallback xmlns="">
          <p:sp>
            <p:nvSpPr>
              <p:cNvPr id="4" name="正方形/長方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1052736"/>
                <a:ext cx="7992888" cy="1352871"/>
              </a:xfrm>
              <a:prstGeom prst="rect">
                <a:avLst/>
              </a:prstGeom>
              <a:blipFill>
                <a:blip r:embed="rId5"/>
                <a:stretch>
                  <a:fillRect l="-763" t="-4054" b="-765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スライド番号プレースホルダー 5"/>
          <p:cNvSpPr>
            <a:spLocks noGrp="1"/>
          </p:cNvSpPr>
          <p:nvPr>
            <p:ph type="sldNum" sz="quarter" idx="12"/>
          </p:nvPr>
        </p:nvSpPr>
        <p:spPr>
          <a:xfrm>
            <a:off x="6831013" y="6308725"/>
            <a:ext cx="2133600" cy="476250"/>
          </a:xfrm>
        </p:spPr>
        <p:txBody>
          <a:bodyPr/>
          <a:lstStyle/>
          <a:p>
            <a:pPr>
              <a:defRPr/>
            </a:pPr>
            <a:fld id="{C29BE546-B9FB-4C8A-8A40-7724BAF956C0}" type="slidenum">
              <a:rPr lang="ja-JP" altLang="en-US"/>
              <a:pPr>
                <a:defRPr/>
              </a:pPr>
              <a:t>9</a:t>
            </a:fld>
            <a:endParaRPr lang="en-US" altLang="ja-JP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val 20"/>
              <p:cNvSpPr>
                <a:spLocks noChangeArrowheads="1"/>
              </p:cNvSpPr>
              <p:nvPr/>
            </p:nvSpPr>
            <p:spPr bwMode="auto">
              <a:xfrm>
                <a:off x="7774531" y="3208561"/>
                <a:ext cx="541885" cy="480976"/>
              </a:xfrm>
              <a:prstGeom prst="ellipse">
                <a:avLst/>
              </a:prstGeom>
              <a:solidFill>
                <a:srgbClr val="FF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Helvetica" pitchFamily="34" charset="0"/>
                    <a:ea typeface="ＭＳ Ｐゴシック" pitchFamily="50" charset="-128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Helvetica" pitchFamily="34" charset="0"/>
                    <a:ea typeface="ＭＳ Ｐゴシック" pitchFamily="50" charset="-128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Helvetica" pitchFamily="34" charset="0"/>
                    <a:ea typeface="ＭＳ Ｐゴシック" pitchFamily="50" charset="-128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Helvetica" pitchFamily="34" charset="0"/>
                    <a:ea typeface="ＭＳ Ｐゴシック" pitchFamily="50" charset="-128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Helvetica" pitchFamily="34" charset="0"/>
                    <a:ea typeface="ＭＳ Ｐゴシック" pitchFamily="50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Helvetica" pitchFamily="34" charset="0"/>
                    <a:ea typeface="ＭＳ Ｐゴシック" pitchFamily="50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Helvetica" pitchFamily="34" charset="0"/>
                    <a:ea typeface="ＭＳ Ｐゴシック" pitchFamily="50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Helvetica" pitchFamily="34" charset="0"/>
                    <a:ea typeface="ＭＳ Ｐゴシック" pitchFamily="50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Helvetica" pitchFamily="34" charset="0"/>
                    <a:ea typeface="ＭＳ Ｐゴシック" pitchFamily="50" charset="-128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ja-JP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b="1" i="1">
                              <a:latin typeface="Cambria Math"/>
                            </a:rPr>
                            <m:t>𝒙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/>
                            </a:rPr>
                            <m:t>1</m:t>
                          </m:r>
                        </m:sub>
                        <m:sup>
                          <m:r>
                            <a:rPr lang="en-US" altLang="ja-JP" i="1">
                              <a:latin typeface="Cambria Math"/>
                            </a:rPr>
                            <m:t>𝑡</m:t>
                          </m:r>
                        </m:sup>
                      </m:sSubSup>
                    </m:oMath>
                  </m:oMathPara>
                </a14:m>
                <a:endParaRPr lang="ja-JP" altLang="en-US" dirty="0"/>
              </a:p>
            </p:txBody>
          </p:sp>
        </mc:Choice>
        <mc:Fallback xmlns="">
          <p:sp>
            <p:nvSpPr>
              <p:cNvPr id="14" name="Oval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774531" y="3208561"/>
                <a:ext cx="541885" cy="480976"/>
              </a:xfrm>
              <a:prstGeom prst="ellipse">
                <a:avLst/>
              </a:prstGeom>
              <a:blipFill rotWithShape="1">
                <a:blip r:embed="rId6"/>
                <a:stretch>
                  <a:fillRect b="-1235"/>
                </a:stretch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val 20"/>
              <p:cNvSpPr>
                <a:spLocks noChangeArrowheads="1"/>
              </p:cNvSpPr>
              <p:nvPr/>
            </p:nvSpPr>
            <p:spPr bwMode="auto">
              <a:xfrm>
                <a:off x="5974331" y="5469907"/>
                <a:ext cx="541885" cy="480976"/>
              </a:xfrm>
              <a:prstGeom prst="ellipse">
                <a:avLst/>
              </a:prstGeom>
              <a:solidFill>
                <a:srgbClr val="FF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Helvetica" pitchFamily="34" charset="0"/>
                    <a:ea typeface="ＭＳ Ｐゴシック" pitchFamily="50" charset="-128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Helvetica" pitchFamily="34" charset="0"/>
                    <a:ea typeface="ＭＳ Ｐゴシック" pitchFamily="50" charset="-128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Helvetica" pitchFamily="34" charset="0"/>
                    <a:ea typeface="ＭＳ Ｐゴシック" pitchFamily="50" charset="-128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Helvetica" pitchFamily="34" charset="0"/>
                    <a:ea typeface="ＭＳ Ｐゴシック" pitchFamily="50" charset="-128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Helvetica" pitchFamily="34" charset="0"/>
                    <a:ea typeface="ＭＳ Ｐゴシック" pitchFamily="50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Helvetica" pitchFamily="34" charset="0"/>
                    <a:ea typeface="ＭＳ Ｐゴシック" pitchFamily="50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Helvetica" pitchFamily="34" charset="0"/>
                    <a:ea typeface="ＭＳ Ｐゴシック" pitchFamily="50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Helvetica" pitchFamily="34" charset="0"/>
                    <a:ea typeface="ＭＳ Ｐゴシック" pitchFamily="50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Helvetica" pitchFamily="34" charset="0"/>
                    <a:ea typeface="ＭＳ Ｐゴシック" pitchFamily="50" charset="-128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ja-JP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b="1" i="1">
                              <a:latin typeface="Cambria Math"/>
                            </a:rPr>
                            <m:t>𝒙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/>
                            </a:rPr>
                            <m:t>3</m:t>
                          </m:r>
                        </m:sub>
                        <m:sup>
                          <m:r>
                            <a:rPr lang="en-US" altLang="ja-JP" i="1">
                              <a:latin typeface="Cambria Math"/>
                            </a:rPr>
                            <m:t>𝑡</m:t>
                          </m:r>
                        </m:sup>
                      </m:sSubSup>
                    </m:oMath>
                  </m:oMathPara>
                </a14:m>
                <a:endParaRPr lang="ja-JP" altLang="en-US" dirty="0"/>
              </a:p>
            </p:txBody>
          </p:sp>
        </mc:Choice>
        <mc:Fallback xmlns="">
          <p:sp>
            <p:nvSpPr>
              <p:cNvPr id="24" name="Oval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74331" y="5469907"/>
                <a:ext cx="541885" cy="480976"/>
              </a:xfrm>
              <a:prstGeom prst="ellipse">
                <a:avLst/>
              </a:prstGeom>
              <a:blipFill rotWithShape="1">
                <a:blip r:embed="rId7"/>
                <a:stretch>
                  <a:fillRect r="-1099" b="-1235"/>
                </a:stretch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val 20"/>
              <p:cNvSpPr>
                <a:spLocks noChangeArrowheads="1"/>
              </p:cNvSpPr>
              <p:nvPr/>
            </p:nvSpPr>
            <p:spPr bwMode="auto">
              <a:xfrm>
                <a:off x="8026467" y="4936753"/>
                <a:ext cx="541885" cy="480976"/>
              </a:xfrm>
              <a:prstGeom prst="ellipse">
                <a:avLst/>
              </a:prstGeom>
              <a:solidFill>
                <a:srgbClr val="FF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Helvetica" pitchFamily="34" charset="0"/>
                    <a:ea typeface="ＭＳ Ｐゴシック" pitchFamily="50" charset="-128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Helvetica" pitchFamily="34" charset="0"/>
                    <a:ea typeface="ＭＳ Ｐゴシック" pitchFamily="50" charset="-128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Helvetica" pitchFamily="34" charset="0"/>
                    <a:ea typeface="ＭＳ Ｐゴシック" pitchFamily="50" charset="-128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Helvetica" pitchFamily="34" charset="0"/>
                    <a:ea typeface="ＭＳ Ｐゴシック" pitchFamily="50" charset="-128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Helvetica" pitchFamily="34" charset="0"/>
                    <a:ea typeface="ＭＳ Ｐゴシック" pitchFamily="50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Helvetica" pitchFamily="34" charset="0"/>
                    <a:ea typeface="ＭＳ Ｐゴシック" pitchFamily="50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Helvetica" pitchFamily="34" charset="0"/>
                    <a:ea typeface="ＭＳ Ｐゴシック" pitchFamily="50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Helvetica" pitchFamily="34" charset="0"/>
                    <a:ea typeface="ＭＳ Ｐゴシック" pitchFamily="50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Helvetica" pitchFamily="34" charset="0"/>
                    <a:ea typeface="ＭＳ Ｐゴシック" pitchFamily="50" charset="-128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ja-JP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b="1" i="1">
                              <a:latin typeface="Cambria Math"/>
                            </a:rPr>
                            <m:t>𝒙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/>
                            </a:rPr>
                            <m:t>4</m:t>
                          </m:r>
                        </m:sub>
                        <m:sup>
                          <m:r>
                            <a:rPr lang="en-US" altLang="ja-JP" i="1">
                              <a:latin typeface="Cambria Math"/>
                            </a:rPr>
                            <m:t>𝑡</m:t>
                          </m:r>
                        </m:sup>
                      </m:sSubSup>
                    </m:oMath>
                  </m:oMathPara>
                </a14:m>
                <a:endParaRPr lang="ja-JP" altLang="en-US" dirty="0"/>
              </a:p>
            </p:txBody>
          </p:sp>
        </mc:Choice>
        <mc:Fallback xmlns="">
          <p:sp>
            <p:nvSpPr>
              <p:cNvPr id="25" name="Oval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026467" y="4936753"/>
                <a:ext cx="541885" cy="480976"/>
              </a:xfrm>
              <a:prstGeom prst="ellipse">
                <a:avLst/>
              </a:prstGeom>
              <a:blipFill rotWithShape="1">
                <a:blip r:embed="rId8"/>
                <a:stretch>
                  <a:fillRect b="-1235"/>
                </a:stretch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val 20"/>
              <p:cNvSpPr>
                <a:spLocks noChangeArrowheads="1"/>
              </p:cNvSpPr>
              <p:nvPr/>
            </p:nvSpPr>
            <p:spPr bwMode="auto">
              <a:xfrm>
                <a:off x="5614291" y="3884129"/>
                <a:ext cx="541885" cy="480976"/>
              </a:xfrm>
              <a:prstGeom prst="ellipse">
                <a:avLst/>
              </a:prstGeom>
              <a:solidFill>
                <a:srgbClr val="FF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Helvetica" pitchFamily="34" charset="0"/>
                    <a:ea typeface="ＭＳ Ｐゴシック" pitchFamily="50" charset="-128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Helvetica" pitchFamily="34" charset="0"/>
                    <a:ea typeface="ＭＳ Ｐゴシック" pitchFamily="50" charset="-128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Helvetica" pitchFamily="34" charset="0"/>
                    <a:ea typeface="ＭＳ Ｐゴシック" pitchFamily="50" charset="-128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Helvetica" pitchFamily="34" charset="0"/>
                    <a:ea typeface="ＭＳ Ｐゴシック" pitchFamily="50" charset="-128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Helvetica" pitchFamily="34" charset="0"/>
                    <a:ea typeface="ＭＳ Ｐゴシック" pitchFamily="50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Helvetica" pitchFamily="34" charset="0"/>
                    <a:ea typeface="ＭＳ Ｐゴシック" pitchFamily="50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Helvetica" pitchFamily="34" charset="0"/>
                    <a:ea typeface="ＭＳ Ｐゴシック" pitchFamily="50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Helvetica" pitchFamily="34" charset="0"/>
                    <a:ea typeface="ＭＳ Ｐゴシック" pitchFamily="50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Helvetica" pitchFamily="34" charset="0"/>
                    <a:ea typeface="ＭＳ Ｐゴシック" pitchFamily="50" charset="-128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ja-JP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b="1" i="1">
                              <a:latin typeface="Cambria Math"/>
                            </a:rPr>
                            <m:t>𝒙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/>
                            </a:rPr>
                            <m:t>2</m:t>
                          </m:r>
                        </m:sub>
                        <m:sup>
                          <m:r>
                            <a:rPr lang="en-US" altLang="ja-JP" i="1">
                              <a:latin typeface="Cambria Math"/>
                            </a:rPr>
                            <m:t>𝑡</m:t>
                          </m:r>
                        </m:sup>
                      </m:sSubSup>
                    </m:oMath>
                  </m:oMathPara>
                </a14:m>
                <a:endParaRPr lang="ja-JP" altLang="en-US" b="1" dirty="0"/>
              </a:p>
            </p:txBody>
          </p:sp>
        </mc:Choice>
        <mc:Fallback xmlns="">
          <p:sp>
            <p:nvSpPr>
              <p:cNvPr id="26" name="Oval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14291" y="3884129"/>
                <a:ext cx="541885" cy="480976"/>
              </a:xfrm>
              <a:prstGeom prst="ellipse">
                <a:avLst/>
              </a:prstGeom>
              <a:blipFill rotWithShape="1">
                <a:blip r:embed="rId9"/>
                <a:stretch>
                  <a:fillRect b="-1235"/>
                </a:stretch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直線矢印コネクタ 5"/>
          <p:cNvCxnSpPr>
            <a:stCxn id="26" idx="6"/>
          </p:cNvCxnSpPr>
          <p:nvPr/>
        </p:nvCxnSpPr>
        <p:spPr>
          <a:xfrm>
            <a:off x="6156176" y="4124617"/>
            <a:ext cx="648072" cy="240487"/>
          </a:xfrm>
          <a:prstGeom prst="straightConnector1">
            <a:avLst/>
          </a:prstGeom>
          <a:ln w="158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矢印コネクタ 32"/>
          <p:cNvCxnSpPr>
            <a:stCxn id="14" idx="2"/>
          </p:cNvCxnSpPr>
          <p:nvPr/>
        </p:nvCxnSpPr>
        <p:spPr>
          <a:xfrm flipH="1" flipV="1">
            <a:off x="7136355" y="3342908"/>
            <a:ext cx="638176" cy="106141"/>
          </a:xfrm>
          <a:prstGeom prst="straightConnector1">
            <a:avLst/>
          </a:prstGeom>
          <a:ln w="158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矢印コネクタ 35"/>
          <p:cNvCxnSpPr>
            <a:stCxn id="24" idx="6"/>
          </p:cNvCxnSpPr>
          <p:nvPr/>
        </p:nvCxnSpPr>
        <p:spPr>
          <a:xfrm>
            <a:off x="6516216" y="5710395"/>
            <a:ext cx="620139" cy="250759"/>
          </a:xfrm>
          <a:prstGeom prst="straightConnector1">
            <a:avLst/>
          </a:prstGeom>
          <a:ln w="158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矢印コネクタ 36"/>
          <p:cNvCxnSpPr>
            <a:stCxn id="25" idx="3"/>
          </p:cNvCxnSpPr>
          <p:nvPr/>
        </p:nvCxnSpPr>
        <p:spPr>
          <a:xfrm flipH="1">
            <a:off x="7668345" y="5347292"/>
            <a:ext cx="437479" cy="512056"/>
          </a:xfrm>
          <a:prstGeom prst="straightConnector1">
            <a:avLst/>
          </a:prstGeom>
          <a:ln w="158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正方形/長方形 38"/>
              <p:cNvSpPr/>
              <p:nvPr/>
            </p:nvSpPr>
            <p:spPr>
              <a:xfrm>
                <a:off x="7310885" y="2956307"/>
                <a:ext cx="548219" cy="4015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ja-JP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sz="2000" b="1" i="1">
                              <a:latin typeface="Cambria Math"/>
                            </a:rPr>
                            <m:t>𝒗</m:t>
                          </m:r>
                        </m:e>
                        <m:sub>
                          <m:r>
                            <a:rPr lang="en-US" altLang="ja-JP" sz="2000" b="0" i="1" smtClean="0">
                              <a:latin typeface="Cambria Math"/>
                            </a:rPr>
                            <m:t>1</m:t>
                          </m:r>
                        </m:sub>
                        <m:sup>
                          <m:r>
                            <a:rPr lang="en-US" altLang="ja-JP" sz="2000" i="1">
                              <a:latin typeface="Cambria Math"/>
                            </a:rPr>
                            <m:t>𝑡</m:t>
                          </m:r>
                        </m:sup>
                      </m:sSubSup>
                    </m:oMath>
                  </m:oMathPara>
                </a14:m>
                <a:endParaRPr lang="ja-JP" altLang="en-US" sz="2000" dirty="0"/>
              </a:p>
            </p:txBody>
          </p:sp>
        </mc:Choice>
        <mc:Fallback xmlns="">
          <p:sp>
            <p:nvSpPr>
              <p:cNvPr id="39" name="正方形/長方形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0885" y="2956307"/>
                <a:ext cx="548219" cy="401520"/>
              </a:xfrm>
              <a:prstGeom prst="rect">
                <a:avLst/>
              </a:prstGeom>
              <a:blipFill rotWithShape="1">
                <a:blip r:embed="rId13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正方形/長方形 41"/>
              <p:cNvSpPr/>
              <p:nvPr/>
            </p:nvSpPr>
            <p:spPr>
              <a:xfrm>
                <a:off x="6269857" y="3852521"/>
                <a:ext cx="554629" cy="40216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ja-JP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sz="2000" b="1" i="1">
                              <a:latin typeface="Cambria Math"/>
                            </a:rPr>
                            <m:t>𝒗</m:t>
                          </m:r>
                        </m:e>
                        <m:sub>
                          <m:r>
                            <a:rPr lang="en-US" altLang="ja-JP" sz="2000" b="0" i="1" smtClean="0">
                              <a:latin typeface="Cambria Math"/>
                            </a:rPr>
                            <m:t>2</m:t>
                          </m:r>
                        </m:sub>
                        <m:sup>
                          <m:r>
                            <a:rPr lang="en-US" altLang="ja-JP" sz="2000" i="1">
                              <a:latin typeface="Cambria Math"/>
                            </a:rPr>
                            <m:t>𝑡</m:t>
                          </m:r>
                        </m:sup>
                      </m:sSubSup>
                    </m:oMath>
                  </m:oMathPara>
                </a14:m>
                <a:endParaRPr lang="ja-JP" altLang="en-US" sz="2000" dirty="0"/>
              </a:p>
            </p:txBody>
          </p:sp>
        </mc:Choice>
        <mc:Fallback xmlns="">
          <p:sp>
            <p:nvSpPr>
              <p:cNvPr id="42" name="正方形/長方形 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9857" y="3852521"/>
                <a:ext cx="554629" cy="402161"/>
              </a:xfrm>
              <a:prstGeom prst="rect">
                <a:avLst/>
              </a:prstGeom>
              <a:blipFill rotWithShape="1">
                <a:blip r:embed="rId14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正方形/長方形 42"/>
              <p:cNvSpPr/>
              <p:nvPr/>
            </p:nvSpPr>
            <p:spPr>
              <a:xfrm>
                <a:off x="7893529" y="5559154"/>
                <a:ext cx="554629" cy="40087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ja-JP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sz="2000" b="1" i="1">
                              <a:latin typeface="Cambria Math"/>
                            </a:rPr>
                            <m:t>𝒗</m:t>
                          </m:r>
                        </m:e>
                        <m:sub>
                          <m:r>
                            <a:rPr lang="en-US" altLang="ja-JP" sz="2000" b="0" i="1" smtClean="0">
                              <a:latin typeface="Cambria Math"/>
                            </a:rPr>
                            <m:t>4</m:t>
                          </m:r>
                        </m:sub>
                        <m:sup>
                          <m:r>
                            <a:rPr lang="en-US" altLang="ja-JP" sz="2000" i="1">
                              <a:latin typeface="Cambria Math"/>
                            </a:rPr>
                            <m:t>𝑡</m:t>
                          </m:r>
                        </m:sup>
                      </m:sSubSup>
                    </m:oMath>
                  </m:oMathPara>
                </a14:m>
                <a:endParaRPr lang="ja-JP" altLang="en-US" sz="2000" dirty="0"/>
              </a:p>
            </p:txBody>
          </p:sp>
        </mc:Choice>
        <mc:Fallback xmlns="">
          <p:sp>
            <p:nvSpPr>
              <p:cNvPr id="43" name="正方形/長方形 4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3529" y="5559154"/>
                <a:ext cx="554629" cy="400879"/>
              </a:xfrm>
              <a:prstGeom prst="rect">
                <a:avLst/>
              </a:prstGeom>
              <a:blipFill rotWithShape="1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正方形/長方形 44"/>
              <p:cNvSpPr/>
              <p:nvPr/>
            </p:nvSpPr>
            <p:spPr>
              <a:xfrm>
                <a:off x="6457216" y="5949280"/>
                <a:ext cx="482761" cy="3725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ja-JP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b="1" i="1">
                              <a:latin typeface="Cambria Math"/>
                            </a:rPr>
                            <m:t>𝒗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/>
                            </a:rPr>
                            <m:t>3</m:t>
                          </m:r>
                        </m:sub>
                        <m:sup>
                          <m:r>
                            <a:rPr lang="en-US" altLang="ja-JP" i="1">
                              <a:latin typeface="Cambria Math"/>
                            </a:rPr>
                            <m:t>𝑡</m:t>
                          </m:r>
                        </m:sup>
                      </m:sSubSup>
                    </m:oMath>
                  </m:oMathPara>
                </a14:m>
                <a:endParaRPr lang="ja-JP" altLang="en-US" dirty="0"/>
              </a:p>
            </p:txBody>
          </p:sp>
        </mc:Choice>
        <mc:Fallback xmlns="">
          <p:sp>
            <p:nvSpPr>
              <p:cNvPr id="45" name="正方形/長方形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7216" y="5949280"/>
                <a:ext cx="482761" cy="372538"/>
              </a:xfrm>
              <a:prstGeom prst="rect">
                <a:avLst/>
              </a:prstGeom>
              <a:blipFill rotWithShape="1">
                <a:blip r:embed="rId16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テキスト ボックス 48"/>
              <p:cNvSpPr txBox="1"/>
              <p:nvPr/>
            </p:nvSpPr>
            <p:spPr>
              <a:xfrm>
                <a:off x="482151" y="6156012"/>
                <a:ext cx="36745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dirty="0"/>
                  <a:t>（最も関数値が良い</a:t>
                </a:r>
                <a14:m>
                  <m:oMath xmlns:m="http://schemas.openxmlformats.org/officeDocument/2006/math">
                    <m:r>
                      <a:rPr lang="en-US" altLang="ja-JP" i="1" dirty="0">
                        <a:latin typeface="Cambria Math"/>
                      </a:rPr>
                      <m:t>𝑝𝑏𝑒𝑠𝑡</m:t>
                    </m:r>
                    <m:r>
                      <a:rPr lang="en-US" altLang="ja-JP" i="1" baseline="-25000" dirty="0" err="1">
                        <a:latin typeface="Cambria Math"/>
                      </a:rPr>
                      <m:t>𝑖</m:t>
                    </m:r>
                    <m:r>
                      <a:rPr lang="en-US" altLang="ja-JP" i="1" baseline="-25000" dirty="0">
                        <a:latin typeface="Cambria Math"/>
                      </a:rPr>
                      <m:t> </m:t>
                    </m:r>
                  </m:oMath>
                </a14:m>
                <a:r>
                  <a:rPr kumimoji="1" lang="ja-JP" altLang="en-US" dirty="0"/>
                  <a:t>が</a:t>
                </a:r>
                <a14:m>
                  <m:oMath xmlns:m="http://schemas.openxmlformats.org/officeDocument/2006/math">
                    <m:r>
                      <a:rPr kumimoji="1" lang="en-US" altLang="ja-JP" i="1" dirty="0" smtClean="0">
                        <a:latin typeface="Cambria Math"/>
                      </a:rPr>
                      <m:t>𝑔𝑏𝑒𝑠𝑡</m:t>
                    </m:r>
                  </m:oMath>
                </a14:m>
                <a:r>
                  <a:rPr kumimoji="1" lang="ja-JP" altLang="en-US" dirty="0"/>
                  <a:t>）</a:t>
                </a:r>
              </a:p>
            </p:txBody>
          </p:sp>
        </mc:Choice>
        <mc:Fallback xmlns="">
          <p:sp>
            <p:nvSpPr>
              <p:cNvPr id="49" name="テキスト ボックス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151" y="6156012"/>
                <a:ext cx="3674532" cy="369332"/>
              </a:xfrm>
              <a:prstGeom prst="rect">
                <a:avLst/>
              </a:prstGeom>
              <a:blipFill rotWithShape="1">
                <a:blip r:embed="rId17"/>
                <a:stretch>
                  <a:fillRect l="-1327" t="-13333" r="-995" b="-21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正方形/長方形 49"/>
              <p:cNvSpPr/>
              <p:nvPr/>
            </p:nvSpPr>
            <p:spPr>
              <a:xfrm>
                <a:off x="68514" y="4211796"/>
                <a:ext cx="4572000" cy="369332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ja-JP" altLang="en-US" dirty="0"/>
                  <a:t>全粒子</a:t>
                </a:r>
                <a:r>
                  <a:rPr lang="ja-JP" altLang="ja-JP" dirty="0"/>
                  <a:t>が経験した最良位置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b="1" i="1"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altLang="ja-JP" b="0" i="1" smtClean="0">
                            <a:latin typeface="Cambria Math"/>
                          </a:rPr>
                          <m:t>𝐺</m:t>
                        </m:r>
                      </m:sub>
                      <m:sup>
                        <m:r>
                          <a:rPr lang="en-US" altLang="ja-JP" i="1">
                            <a:latin typeface="Cambria Math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ja-JP" altLang="ja-JP" dirty="0"/>
                  <a:t>と最良値</a:t>
                </a:r>
                <a:r>
                  <a:rPr lang="en-US" altLang="ja-JP" i="1" dirty="0" err="1"/>
                  <a:t>gbest</a:t>
                </a:r>
                <a:endParaRPr lang="ja-JP" altLang="ja-JP" dirty="0"/>
              </a:p>
            </p:txBody>
          </p:sp>
        </mc:Choice>
        <mc:Fallback xmlns="">
          <p:sp>
            <p:nvSpPr>
              <p:cNvPr id="50" name="正方形/長方形 4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14" y="4211796"/>
                <a:ext cx="4572000" cy="369332"/>
              </a:xfrm>
              <a:prstGeom prst="rect">
                <a:avLst/>
              </a:prstGeom>
              <a:blipFill rotWithShape="1">
                <a:blip r:embed="rId18"/>
                <a:stretch>
                  <a:fillRect l="-1067" t="-13333" b="-28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グループ化 8"/>
          <p:cNvGrpSpPr/>
          <p:nvPr/>
        </p:nvGrpSpPr>
        <p:grpSpPr>
          <a:xfrm>
            <a:off x="8028384" y="1475492"/>
            <a:ext cx="889859" cy="729372"/>
            <a:chOff x="8028384" y="1475492"/>
            <a:chExt cx="889859" cy="7293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正方形/長方形 2"/>
                <p:cNvSpPr/>
                <p:nvPr/>
              </p:nvSpPr>
              <p:spPr>
                <a:xfrm>
                  <a:off x="8028384" y="1475492"/>
                  <a:ext cx="889859" cy="40011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000" i="1" dirty="0">
                            <a:latin typeface="Cambria Math"/>
                          </a:rPr>
                          <m:t>𝑔𝑏𝑒𝑠𝑡</m:t>
                        </m:r>
                      </m:oMath>
                    </m:oMathPara>
                  </a14:m>
                  <a:endParaRPr lang="ja-JP" altLang="en-US" sz="2000" dirty="0"/>
                </a:p>
              </p:txBody>
            </p:sp>
          </mc:Choice>
          <mc:Fallback xmlns="">
            <p:sp>
              <p:nvSpPr>
                <p:cNvPr id="3" name="正方形/長方形 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28384" y="1475492"/>
                  <a:ext cx="889859" cy="400110"/>
                </a:xfrm>
                <a:prstGeom prst="rect">
                  <a:avLst/>
                </a:prstGeom>
                <a:blipFill>
                  <a:blip r:embed="rId19"/>
                  <a:stretch>
                    <a:fillRect b="-12121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下矢印 6"/>
            <p:cNvSpPr/>
            <p:nvPr/>
          </p:nvSpPr>
          <p:spPr>
            <a:xfrm>
              <a:off x="8363811" y="1854116"/>
              <a:ext cx="240637" cy="350748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000"/>
            </a:p>
          </p:txBody>
        </p:sp>
      </p:grpSp>
      <p:grpSp>
        <p:nvGrpSpPr>
          <p:cNvPr id="8" name="グループ化 7"/>
          <p:cNvGrpSpPr/>
          <p:nvPr/>
        </p:nvGrpSpPr>
        <p:grpSpPr>
          <a:xfrm>
            <a:off x="5476834" y="2332479"/>
            <a:ext cx="3243918" cy="3152248"/>
            <a:chOff x="5476834" y="2332479"/>
            <a:chExt cx="3243918" cy="315224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Oval 20"/>
                <p:cNvSpPr>
                  <a:spLocks noChangeArrowheads="1"/>
                </p:cNvSpPr>
                <p:nvPr/>
              </p:nvSpPr>
              <p:spPr bwMode="auto">
                <a:xfrm>
                  <a:off x="8178867" y="2332479"/>
                  <a:ext cx="541885" cy="480976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Helvetica" pitchFamily="34" charset="0"/>
                      <a:ea typeface="ＭＳ Ｐゴシック" pitchFamily="50" charset="-128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Helvetica" pitchFamily="34" charset="0"/>
                      <a:ea typeface="ＭＳ Ｐゴシック" pitchFamily="50" charset="-128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Helvetica" pitchFamily="34" charset="0"/>
                      <a:ea typeface="ＭＳ Ｐゴシック" pitchFamily="50" charset="-128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Helvetica" pitchFamily="34" charset="0"/>
                      <a:ea typeface="ＭＳ Ｐゴシック" pitchFamily="50" charset="-128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Helvetica" pitchFamily="34" charset="0"/>
                      <a:ea typeface="ＭＳ Ｐゴシック" pitchFamily="50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Helvetica" pitchFamily="34" charset="0"/>
                      <a:ea typeface="ＭＳ Ｐゴシック" pitchFamily="50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Helvetica" pitchFamily="34" charset="0"/>
                      <a:ea typeface="ＭＳ Ｐゴシック" pitchFamily="50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Helvetica" pitchFamily="34" charset="0"/>
                      <a:ea typeface="ＭＳ Ｐゴシック" pitchFamily="50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Helvetica" pitchFamily="34" charset="0"/>
                      <a:ea typeface="ＭＳ Ｐゴシック" pitchFamily="50" charset="-128"/>
                    </a:defRPr>
                  </a:lvl9pPr>
                </a:lstStyle>
                <a:p>
                  <a:pPr eaLnBrk="1" hangingPunct="1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ja-JP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b="1" i="1" smtClean="0">
                                <a:latin typeface="Cambria Math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ja-JP" b="0" i="1" smtClean="0">
                                <a:latin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ja-JP" b="0" i="1" smtClean="0">
                                <a:latin typeface="Cambria Math"/>
                              </a:rPr>
                              <m:t>∗</m:t>
                            </m:r>
                          </m:sup>
                        </m:sSubSup>
                      </m:oMath>
                    </m:oMathPara>
                  </a14:m>
                  <a:endParaRPr lang="ja-JP" altLang="en-US" dirty="0"/>
                </a:p>
              </p:txBody>
            </p:sp>
          </mc:Choice>
          <mc:Fallback xmlns="">
            <p:sp>
              <p:nvSpPr>
                <p:cNvPr id="27" name="Oval 2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178867" y="2332479"/>
                  <a:ext cx="541885" cy="480976"/>
                </a:xfrm>
                <a:prstGeom prst="ellipse">
                  <a:avLst/>
                </a:prstGeom>
                <a:blipFill rotWithShape="1">
                  <a:blip r:embed="rId20"/>
                  <a:stretch>
                    <a:fillRect b="-1235"/>
                  </a:stretch>
                </a:blip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Oval 20"/>
                <p:cNvSpPr>
                  <a:spLocks noChangeArrowheads="1"/>
                </p:cNvSpPr>
                <p:nvPr/>
              </p:nvSpPr>
              <p:spPr bwMode="auto">
                <a:xfrm>
                  <a:off x="5476834" y="5003751"/>
                  <a:ext cx="541885" cy="480976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Helvetica" pitchFamily="34" charset="0"/>
                      <a:ea typeface="ＭＳ Ｐゴシック" pitchFamily="50" charset="-128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Helvetica" pitchFamily="34" charset="0"/>
                      <a:ea typeface="ＭＳ Ｐゴシック" pitchFamily="50" charset="-128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Helvetica" pitchFamily="34" charset="0"/>
                      <a:ea typeface="ＭＳ Ｐゴシック" pitchFamily="50" charset="-128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Helvetica" pitchFamily="34" charset="0"/>
                      <a:ea typeface="ＭＳ Ｐゴシック" pitchFamily="50" charset="-128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Helvetica" pitchFamily="34" charset="0"/>
                      <a:ea typeface="ＭＳ Ｐゴシック" pitchFamily="50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Helvetica" pitchFamily="34" charset="0"/>
                      <a:ea typeface="ＭＳ Ｐゴシック" pitchFamily="50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Helvetica" pitchFamily="34" charset="0"/>
                      <a:ea typeface="ＭＳ Ｐゴシック" pitchFamily="50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Helvetica" pitchFamily="34" charset="0"/>
                      <a:ea typeface="ＭＳ Ｐゴシック" pitchFamily="50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Helvetica" pitchFamily="34" charset="0"/>
                      <a:ea typeface="ＭＳ Ｐゴシック" pitchFamily="50" charset="-128"/>
                    </a:defRPr>
                  </a:lvl9pPr>
                </a:lstStyle>
                <a:p>
                  <a:pPr eaLnBrk="1" hangingPunct="1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ja-JP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b="1" i="1">
                                <a:latin typeface="Cambria Math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ja-JP" b="0" i="1" smtClean="0">
                                <a:latin typeface="Cambria Math"/>
                              </a:rPr>
                              <m:t>3</m:t>
                            </m:r>
                          </m:sub>
                          <m:sup>
                            <m:r>
                              <a:rPr lang="en-US" altLang="ja-JP" b="0" i="1" smtClean="0">
                                <a:latin typeface="Cambria Math"/>
                              </a:rPr>
                              <m:t>∗</m:t>
                            </m:r>
                          </m:sup>
                        </m:sSubSup>
                      </m:oMath>
                    </m:oMathPara>
                  </a14:m>
                  <a:endParaRPr lang="ja-JP" altLang="en-US" dirty="0"/>
                </a:p>
              </p:txBody>
            </p:sp>
          </mc:Choice>
          <mc:Fallback xmlns="">
            <p:sp>
              <p:nvSpPr>
                <p:cNvPr id="28" name="Oval 2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476834" y="5003751"/>
                  <a:ext cx="541885" cy="480976"/>
                </a:xfrm>
                <a:prstGeom prst="ellipse">
                  <a:avLst/>
                </a:prstGeom>
                <a:blipFill rotWithShape="1">
                  <a:blip r:embed="rId10"/>
                  <a:stretch>
                    <a:fillRect r="-1099" b="-1235"/>
                  </a:stretch>
                </a:blip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Oval 20"/>
                <p:cNvSpPr>
                  <a:spLocks noChangeArrowheads="1"/>
                </p:cNvSpPr>
                <p:nvPr/>
              </p:nvSpPr>
              <p:spPr bwMode="auto">
                <a:xfrm>
                  <a:off x="8178867" y="4259520"/>
                  <a:ext cx="541885" cy="480976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Helvetica" pitchFamily="34" charset="0"/>
                      <a:ea typeface="ＭＳ Ｐゴシック" pitchFamily="50" charset="-128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Helvetica" pitchFamily="34" charset="0"/>
                      <a:ea typeface="ＭＳ Ｐゴシック" pitchFamily="50" charset="-128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Helvetica" pitchFamily="34" charset="0"/>
                      <a:ea typeface="ＭＳ Ｐゴシック" pitchFamily="50" charset="-128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Helvetica" pitchFamily="34" charset="0"/>
                      <a:ea typeface="ＭＳ Ｐゴシック" pitchFamily="50" charset="-128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Helvetica" pitchFamily="34" charset="0"/>
                      <a:ea typeface="ＭＳ Ｐゴシック" pitchFamily="50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Helvetica" pitchFamily="34" charset="0"/>
                      <a:ea typeface="ＭＳ Ｐゴシック" pitchFamily="50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Helvetica" pitchFamily="34" charset="0"/>
                      <a:ea typeface="ＭＳ Ｐゴシック" pitchFamily="50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Helvetica" pitchFamily="34" charset="0"/>
                      <a:ea typeface="ＭＳ Ｐゴシック" pitchFamily="50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Helvetica" pitchFamily="34" charset="0"/>
                      <a:ea typeface="ＭＳ Ｐゴシック" pitchFamily="50" charset="-128"/>
                    </a:defRPr>
                  </a:lvl9pPr>
                </a:lstStyle>
                <a:p>
                  <a:pPr eaLnBrk="1" hangingPunct="1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ja-JP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b="1" i="1" smtClean="0">
                                <a:latin typeface="Cambria Math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ja-JP" b="0" i="1" smtClean="0">
                                <a:latin typeface="Cambria Math"/>
                              </a:rPr>
                              <m:t>4</m:t>
                            </m:r>
                          </m:sub>
                          <m:sup>
                            <m:r>
                              <a:rPr lang="en-US" altLang="ja-JP" b="0" i="1" smtClean="0">
                                <a:latin typeface="Cambria Math"/>
                              </a:rPr>
                              <m:t>∗</m:t>
                            </m:r>
                          </m:sup>
                        </m:sSubSup>
                      </m:oMath>
                    </m:oMathPara>
                  </a14:m>
                  <a:endParaRPr lang="ja-JP" altLang="en-US" dirty="0"/>
                </a:p>
              </p:txBody>
            </p:sp>
          </mc:Choice>
          <mc:Fallback xmlns="">
            <p:sp>
              <p:nvSpPr>
                <p:cNvPr id="29" name="Oval 2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178867" y="4259520"/>
                  <a:ext cx="541885" cy="480976"/>
                </a:xfrm>
                <a:prstGeom prst="ellipse">
                  <a:avLst/>
                </a:prstGeom>
                <a:blipFill rotWithShape="1">
                  <a:blip r:embed="rId11"/>
                  <a:stretch>
                    <a:fillRect b="-1235"/>
                  </a:stretch>
                </a:blip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Oval 20"/>
                <p:cNvSpPr>
                  <a:spLocks noChangeArrowheads="1"/>
                </p:cNvSpPr>
                <p:nvPr/>
              </p:nvSpPr>
              <p:spPr bwMode="auto">
                <a:xfrm>
                  <a:off x="5766691" y="3206896"/>
                  <a:ext cx="541885" cy="480976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Helvetica" pitchFamily="34" charset="0"/>
                      <a:ea typeface="ＭＳ Ｐゴシック" pitchFamily="50" charset="-128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Helvetica" pitchFamily="34" charset="0"/>
                      <a:ea typeface="ＭＳ Ｐゴシック" pitchFamily="50" charset="-128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Helvetica" pitchFamily="34" charset="0"/>
                      <a:ea typeface="ＭＳ Ｐゴシック" pitchFamily="50" charset="-128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Helvetica" pitchFamily="34" charset="0"/>
                      <a:ea typeface="ＭＳ Ｐゴシック" pitchFamily="50" charset="-128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Helvetica" pitchFamily="34" charset="0"/>
                      <a:ea typeface="ＭＳ Ｐゴシック" pitchFamily="50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Helvetica" pitchFamily="34" charset="0"/>
                      <a:ea typeface="ＭＳ Ｐゴシック" pitchFamily="50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Helvetica" pitchFamily="34" charset="0"/>
                      <a:ea typeface="ＭＳ Ｐゴシック" pitchFamily="50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Helvetica" pitchFamily="34" charset="0"/>
                      <a:ea typeface="ＭＳ Ｐゴシック" pitchFamily="50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Helvetica" pitchFamily="34" charset="0"/>
                      <a:ea typeface="ＭＳ Ｐゴシック" pitchFamily="50" charset="-128"/>
                    </a:defRPr>
                  </a:lvl9pPr>
                </a:lstStyle>
                <a:p>
                  <a:pPr eaLnBrk="1" hangingPunct="1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ja-JP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b="1" i="1" smtClean="0">
                                <a:latin typeface="Cambria Math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ja-JP" b="0" i="1" smtClean="0">
                                <a:latin typeface="Cambria Math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ja-JP" b="0" i="1" smtClean="0">
                                <a:latin typeface="Cambria Math"/>
                              </a:rPr>
                              <m:t>∗</m:t>
                            </m:r>
                          </m:sup>
                        </m:sSubSup>
                      </m:oMath>
                    </m:oMathPara>
                  </a14:m>
                  <a:endParaRPr lang="ja-JP" altLang="en-US" b="1" dirty="0"/>
                </a:p>
              </p:txBody>
            </p:sp>
          </mc:Choice>
          <mc:Fallback xmlns="">
            <p:sp>
              <p:nvSpPr>
                <p:cNvPr id="30" name="Oval 2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766691" y="3206896"/>
                  <a:ext cx="541885" cy="480976"/>
                </a:xfrm>
                <a:prstGeom prst="ellipse">
                  <a:avLst/>
                </a:prstGeom>
                <a:blipFill rotWithShape="1">
                  <a:blip r:embed="rId12"/>
                  <a:stretch>
                    <a:fillRect b="-1235"/>
                  </a:stretch>
                </a:blip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正方形/長方形 4"/>
                <p:cNvSpPr/>
                <p:nvPr/>
              </p:nvSpPr>
              <p:spPr>
                <a:xfrm>
                  <a:off x="5582037" y="2792409"/>
                  <a:ext cx="91210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i="1" dirty="0" smtClean="0">
                            <a:latin typeface="Cambria Math"/>
                          </a:rPr>
                          <m:t>𝑝𝑏𝑒𝑠</m:t>
                        </m:r>
                        <m:sSub>
                          <m:sSubPr>
                            <m:ctrlPr>
                              <a:rPr lang="en-US" altLang="ja-JP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 dirty="0" smtClean="0"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ja-JP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ja-JP" altLang="en-US" dirty="0"/>
                </a:p>
              </p:txBody>
            </p:sp>
          </mc:Choice>
          <mc:Fallback xmlns="">
            <p:sp>
              <p:nvSpPr>
                <p:cNvPr id="5" name="正方形/長方形 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82037" y="2792409"/>
                  <a:ext cx="912109" cy="369332"/>
                </a:xfrm>
                <a:prstGeom prst="rect">
                  <a:avLst/>
                </a:prstGeom>
                <a:blipFill rotWithShape="0">
                  <a:blip r:embed="rId21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247349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2" grpId="0"/>
      <p:bldP spid="43" grpId="0"/>
      <p:bldP spid="4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フリーフォーム 105"/>
          <p:cNvSpPr/>
          <p:nvPr/>
        </p:nvSpPr>
        <p:spPr>
          <a:xfrm>
            <a:off x="0" y="857250"/>
            <a:ext cx="9144090" cy="51435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107" name="フリーフォーム 106"/>
          <p:cNvSpPr/>
          <p:nvPr/>
        </p:nvSpPr>
        <p:spPr>
          <a:xfrm>
            <a:off x="0" y="857250"/>
            <a:ext cx="9144090" cy="51435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108" name="フリーフォーム 107"/>
          <p:cNvSpPr/>
          <p:nvPr/>
        </p:nvSpPr>
        <p:spPr>
          <a:xfrm>
            <a:off x="0" y="857250"/>
            <a:ext cx="9144090" cy="51435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109" name="フリーフォーム 108"/>
          <p:cNvSpPr/>
          <p:nvPr/>
        </p:nvSpPr>
        <p:spPr>
          <a:xfrm>
            <a:off x="564300" y="2093040"/>
            <a:ext cx="8022510" cy="21600"/>
          </a:xfrm>
          <a:custGeom>
            <a:avLst/>
            <a:gdLst/>
            <a:ahLst/>
            <a:cxnLst/>
            <a:rect l="0" t="0" r="r" b="b"/>
            <a:pathLst>
              <a:path w="29713" h="80">
                <a:moveTo>
                  <a:pt x="0" y="0"/>
                </a:moveTo>
                <a:lnTo>
                  <a:pt x="29713" y="0"/>
                </a:lnTo>
                <a:lnTo>
                  <a:pt x="2971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110" name="フリーフォーム 109"/>
          <p:cNvSpPr/>
          <p:nvPr/>
        </p:nvSpPr>
        <p:spPr>
          <a:xfrm>
            <a:off x="564300" y="3136050"/>
            <a:ext cx="1021680" cy="407430"/>
          </a:xfrm>
          <a:custGeom>
            <a:avLst/>
            <a:gdLst/>
            <a:ahLst/>
            <a:cxnLst/>
            <a:rect l="0" t="0" r="r" b="b"/>
            <a:pathLst>
              <a:path w="3784" h="1509">
                <a:moveTo>
                  <a:pt x="0" y="0"/>
                </a:moveTo>
                <a:lnTo>
                  <a:pt x="3784" y="0"/>
                </a:lnTo>
                <a:lnTo>
                  <a:pt x="3784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111" name="フリーフォーム 110"/>
          <p:cNvSpPr/>
          <p:nvPr/>
        </p:nvSpPr>
        <p:spPr>
          <a:xfrm>
            <a:off x="1585710" y="3136050"/>
            <a:ext cx="607500" cy="407430"/>
          </a:xfrm>
          <a:custGeom>
            <a:avLst/>
            <a:gdLst/>
            <a:ahLst/>
            <a:cxnLst/>
            <a:rect l="0" t="0" r="r" b="b"/>
            <a:pathLst>
              <a:path w="2250" h="1509">
                <a:moveTo>
                  <a:pt x="0" y="0"/>
                </a:moveTo>
                <a:lnTo>
                  <a:pt x="2250" y="0"/>
                </a:lnTo>
                <a:lnTo>
                  <a:pt x="2250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112" name="フリーフォーム 111"/>
          <p:cNvSpPr/>
          <p:nvPr/>
        </p:nvSpPr>
        <p:spPr>
          <a:xfrm>
            <a:off x="2192940" y="3136050"/>
            <a:ext cx="2565000" cy="407430"/>
          </a:xfrm>
          <a:custGeom>
            <a:avLst/>
            <a:gdLst/>
            <a:ahLst/>
            <a:cxnLst/>
            <a:rect l="0" t="0" r="r" b="b"/>
            <a:pathLst>
              <a:path w="9500" h="1509">
                <a:moveTo>
                  <a:pt x="0" y="0"/>
                </a:moveTo>
                <a:lnTo>
                  <a:pt x="9500" y="0"/>
                </a:lnTo>
                <a:lnTo>
                  <a:pt x="9500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113" name="フリーフォーム 112"/>
          <p:cNvSpPr/>
          <p:nvPr/>
        </p:nvSpPr>
        <p:spPr>
          <a:xfrm>
            <a:off x="564300" y="3543210"/>
            <a:ext cx="1021680" cy="400140"/>
          </a:xfrm>
          <a:custGeom>
            <a:avLst/>
            <a:gdLst/>
            <a:ahLst/>
            <a:cxnLst/>
            <a:rect l="0" t="0" r="r" b="b"/>
            <a:pathLst>
              <a:path w="3784" h="1482">
                <a:moveTo>
                  <a:pt x="0" y="0"/>
                </a:moveTo>
                <a:lnTo>
                  <a:pt x="3784" y="0"/>
                </a:lnTo>
                <a:lnTo>
                  <a:pt x="3784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114" name="フリーフォーム 113"/>
          <p:cNvSpPr/>
          <p:nvPr/>
        </p:nvSpPr>
        <p:spPr>
          <a:xfrm>
            <a:off x="1585710" y="3543210"/>
            <a:ext cx="607500" cy="400140"/>
          </a:xfrm>
          <a:custGeom>
            <a:avLst/>
            <a:gdLst/>
            <a:ahLst/>
            <a:cxnLst/>
            <a:rect l="0" t="0" r="r" b="b"/>
            <a:pathLst>
              <a:path w="2250" h="1482">
                <a:moveTo>
                  <a:pt x="0" y="0"/>
                </a:moveTo>
                <a:lnTo>
                  <a:pt x="2250" y="0"/>
                </a:lnTo>
                <a:lnTo>
                  <a:pt x="2250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115" name="フリーフォーム 114"/>
          <p:cNvSpPr/>
          <p:nvPr/>
        </p:nvSpPr>
        <p:spPr>
          <a:xfrm>
            <a:off x="2192940" y="3543210"/>
            <a:ext cx="2565000" cy="400140"/>
          </a:xfrm>
          <a:custGeom>
            <a:avLst/>
            <a:gdLst/>
            <a:ahLst/>
            <a:cxnLst/>
            <a:rect l="0" t="0" r="r" b="b"/>
            <a:pathLst>
              <a:path w="9500" h="1482">
                <a:moveTo>
                  <a:pt x="0" y="0"/>
                </a:moveTo>
                <a:lnTo>
                  <a:pt x="9500" y="0"/>
                </a:lnTo>
                <a:lnTo>
                  <a:pt x="9500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116" name="フリーフォーム 115"/>
          <p:cNvSpPr/>
          <p:nvPr/>
        </p:nvSpPr>
        <p:spPr>
          <a:xfrm>
            <a:off x="564300" y="3943080"/>
            <a:ext cx="1021680" cy="407700"/>
          </a:xfrm>
          <a:custGeom>
            <a:avLst/>
            <a:gdLst/>
            <a:ahLst/>
            <a:cxnLst/>
            <a:rect l="0" t="0" r="r" b="b"/>
            <a:pathLst>
              <a:path w="3784" h="1510">
                <a:moveTo>
                  <a:pt x="0" y="0"/>
                </a:moveTo>
                <a:lnTo>
                  <a:pt x="3784" y="0"/>
                </a:lnTo>
                <a:lnTo>
                  <a:pt x="3784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117" name="フリーフォーム 116"/>
          <p:cNvSpPr/>
          <p:nvPr/>
        </p:nvSpPr>
        <p:spPr>
          <a:xfrm>
            <a:off x="1585710" y="3943080"/>
            <a:ext cx="607500" cy="407700"/>
          </a:xfrm>
          <a:custGeom>
            <a:avLst/>
            <a:gdLst/>
            <a:ahLst/>
            <a:cxnLst/>
            <a:rect l="0" t="0" r="r" b="b"/>
            <a:pathLst>
              <a:path w="2250" h="1510">
                <a:moveTo>
                  <a:pt x="0" y="0"/>
                </a:moveTo>
                <a:lnTo>
                  <a:pt x="2250" y="0"/>
                </a:lnTo>
                <a:lnTo>
                  <a:pt x="2250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118" name="フリーフォーム 117"/>
          <p:cNvSpPr/>
          <p:nvPr/>
        </p:nvSpPr>
        <p:spPr>
          <a:xfrm>
            <a:off x="2192940" y="3943080"/>
            <a:ext cx="2565000" cy="407700"/>
          </a:xfrm>
          <a:custGeom>
            <a:avLst/>
            <a:gdLst/>
            <a:ahLst/>
            <a:cxnLst/>
            <a:rect l="0" t="0" r="r" b="b"/>
            <a:pathLst>
              <a:path w="9500" h="1510">
                <a:moveTo>
                  <a:pt x="0" y="0"/>
                </a:moveTo>
                <a:lnTo>
                  <a:pt x="9500" y="0"/>
                </a:lnTo>
                <a:lnTo>
                  <a:pt x="9500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119" name="フリーフォーム 118"/>
          <p:cNvSpPr/>
          <p:nvPr/>
        </p:nvSpPr>
        <p:spPr>
          <a:xfrm>
            <a:off x="564300" y="4350510"/>
            <a:ext cx="1021680" cy="400140"/>
          </a:xfrm>
          <a:custGeom>
            <a:avLst/>
            <a:gdLst/>
            <a:ahLst/>
            <a:cxnLst/>
            <a:rect l="0" t="0" r="r" b="b"/>
            <a:pathLst>
              <a:path w="3784" h="1482">
                <a:moveTo>
                  <a:pt x="0" y="0"/>
                </a:moveTo>
                <a:lnTo>
                  <a:pt x="3784" y="0"/>
                </a:lnTo>
                <a:lnTo>
                  <a:pt x="3784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120" name="フリーフォーム 119"/>
          <p:cNvSpPr/>
          <p:nvPr/>
        </p:nvSpPr>
        <p:spPr>
          <a:xfrm>
            <a:off x="1585710" y="4350510"/>
            <a:ext cx="607500" cy="400140"/>
          </a:xfrm>
          <a:custGeom>
            <a:avLst/>
            <a:gdLst/>
            <a:ahLst/>
            <a:cxnLst/>
            <a:rect l="0" t="0" r="r" b="b"/>
            <a:pathLst>
              <a:path w="2250" h="1482">
                <a:moveTo>
                  <a:pt x="0" y="0"/>
                </a:moveTo>
                <a:lnTo>
                  <a:pt x="2250" y="0"/>
                </a:lnTo>
                <a:lnTo>
                  <a:pt x="2250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121" name="フリーフォーム 120"/>
          <p:cNvSpPr/>
          <p:nvPr/>
        </p:nvSpPr>
        <p:spPr>
          <a:xfrm>
            <a:off x="2192940" y="4350510"/>
            <a:ext cx="2565000" cy="400140"/>
          </a:xfrm>
          <a:custGeom>
            <a:avLst/>
            <a:gdLst/>
            <a:ahLst/>
            <a:cxnLst/>
            <a:rect l="0" t="0" r="r" b="b"/>
            <a:pathLst>
              <a:path w="9500" h="1482">
                <a:moveTo>
                  <a:pt x="0" y="0"/>
                </a:moveTo>
                <a:lnTo>
                  <a:pt x="9500" y="0"/>
                </a:lnTo>
                <a:lnTo>
                  <a:pt x="9500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122" name="フリーフォーム 121"/>
          <p:cNvSpPr/>
          <p:nvPr/>
        </p:nvSpPr>
        <p:spPr>
          <a:xfrm>
            <a:off x="564300" y="4750380"/>
            <a:ext cx="1021680" cy="407430"/>
          </a:xfrm>
          <a:custGeom>
            <a:avLst/>
            <a:gdLst/>
            <a:ahLst/>
            <a:cxnLst/>
            <a:rect l="0" t="0" r="r" b="b"/>
            <a:pathLst>
              <a:path w="3784" h="1509">
                <a:moveTo>
                  <a:pt x="0" y="0"/>
                </a:moveTo>
                <a:lnTo>
                  <a:pt x="3784" y="0"/>
                </a:lnTo>
                <a:lnTo>
                  <a:pt x="3784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123" name="フリーフォーム 122"/>
          <p:cNvSpPr/>
          <p:nvPr/>
        </p:nvSpPr>
        <p:spPr>
          <a:xfrm>
            <a:off x="1585710" y="4750380"/>
            <a:ext cx="607500" cy="407430"/>
          </a:xfrm>
          <a:custGeom>
            <a:avLst/>
            <a:gdLst/>
            <a:ahLst/>
            <a:cxnLst/>
            <a:rect l="0" t="0" r="r" b="b"/>
            <a:pathLst>
              <a:path w="2250" h="1509">
                <a:moveTo>
                  <a:pt x="0" y="0"/>
                </a:moveTo>
                <a:lnTo>
                  <a:pt x="2250" y="0"/>
                </a:lnTo>
                <a:lnTo>
                  <a:pt x="2250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124" name="フリーフォーム 123"/>
          <p:cNvSpPr/>
          <p:nvPr/>
        </p:nvSpPr>
        <p:spPr>
          <a:xfrm>
            <a:off x="2192940" y="4750380"/>
            <a:ext cx="2565000" cy="407430"/>
          </a:xfrm>
          <a:custGeom>
            <a:avLst/>
            <a:gdLst/>
            <a:ahLst/>
            <a:cxnLst/>
            <a:rect l="0" t="0" r="r" b="b"/>
            <a:pathLst>
              <a:path w="9500" h="1509">
                <a:moveTo>
                  <a:pt x="0" y="0"/>
                </a:moveTo>
                <a:lnTo>
                  <a:pt x="9500" y="0"/>
                </a:lnTo>
                <a:lnTo>
                  <a:pt x="9500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125" name="フリーフォーム 124"/>
          <p:cNvSpPr/>
          <p:nvPr/>
        </p:nvSpPr>
        <p:spPr>
          <a:xfrm>
            <a:off x="564300" y="3136050"/>
            <a:ext cx="7290" cy="40743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126" name="フリーフォーム 125"/>
          <p:cNvSpPr/>
          <p:nvPr/>
        </p:nvSpPr>
        <p:spPr>
          <a:xfrm>
            <a:off x="564300" y="3136050"/>
            <a:ext cx="1028970" cy="7290"/>
          </a:xfrm>
          <a:custGeom>
            <a:avLst/>
            <a:gdLst/>
            <a:ahLst/>
            <a:cxnLst/>
            <a:rect l="0" t="0" r="r" b="b"/>
            <a:pathLst>
              <a:path w="3811" h="27">
                <a:moveTo>
                  <a:pt x="0" y="0"/>
                </a:moveTo>
                <a:lnTo>
                  <a:pt x="3811" y="0"/>
                </a:lnTo>
                <a:lnTo>
                  <a:pt x="381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127" name="フリーフォーム 126"/>
          <p:cNvSpPr/>
          <p:nvPr/>
        </p:nvSpPr>
        <p:spPr>
          <a:xfrm>
            <a:off x="1585710" y="3136050"/>
            <a:ext cx="7560" cy="407430"/>
          </a:xfrm>
          <a:custGeom>
            <a:avLst/>
            <a:gdLst/>
            <a:ahLst/>
            <a:cxn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128" name="フリーフォーム 127"/>
          <p:cNvSpPr/>
          <p:nvPr/>
        </p:nvSpPr>
        <p:spPr>
          <a:xfrm>
            <a:off x="1593000" y="3136050"/>
            <a:ext cx="607500" cy="7290"/>
          </a:xfrm>
          <a:custGeom>
            <a:avLst/>
            <a:gdLst/>
            <a:ahLst/>
            <a:cxnLst/>
            <a:rect l="0" t="0" r="r" b="b"/>
            <a:pathLst>
              <a:path w="2250" h="27">
                <a:moveTo>
                  <a:pt x="0" y="0"/>
                </a:moveTo>
                <a:lnTo>
                  <a:pt x="2250" y="0"/>
                </a:lnTo>
                <a:lnTo>
                  <a:pt x="225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129" name="フリーフォーム 128"/>
          <p:cNvSpPr/>
          <p:nvPr/>
        </p:nvSpPr>
        <p:spPr>
          <a:xfrm>
            <a:off x="2192940" y="3136050"/>
            <a:ext cx="7560" cy="407430"/>
          </a:xfrm>
          <a:custGeom>
            <a:avLst/>
            <a:gdLst/>
            <a:ahLst/>
            <a:cxn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130" name="フリーフォーム 129"/>
          <p:cNvSpPr/>
          <p:nvPr/>
        </p:nvSpPr>
        <p:spPr>
          <a:xfrm>
            <a:off x="2200230" y="3136050"/>
            <a:ext cx="2557710" cy="7290"/>
          </a:xfrm>
          <a:custGeom>
            <a:avLst/>
            <a:gdLst/>
            <a:ahLst/>
            <a:cxnLst/>
            <a:rect l="0" t="0" r="r" b="b"/>
            <a:pathLst>
              <a:path w="9473" h="27">
                <a:moveTo>
                  <a:pt x="0" y="0"/>
                </a:moveTo>
                <a:lnTo>
                  <a:pt x="9473" y="0"/>
                </a:lnTo>
                <a:lnTo>
                  <a:pt x="947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131" name="フリーフォーム 130"/>
          <p:cNvSpPr/>
          <p:nvPr/>
        </p:nvSpPr>
        <p:spPr>
          <a:xfrm>
            <a:off x="4750380" y="3136050"/>
            <a:ext cx="7560" cy="407430"/>
          </a:xfrm>
          <a:custGeom>
            <a:avLst/>
            <a:gdLst/>
            <a:ahLst/>
            <a:cxn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132" name="フリーフォーム 131"/>
          <p:cNvSpPr/>
          <p:nvPr/>
        </p:nvSpPr>
        <p:spPr>
          <a:xfrm>
            <a:off x="564300" y="3535920"/>
            <a:ext cx="1028970" cy="7560"/>
          </a:xfrm>
          <a:custGeom>
            <a:avLst/>
            <a:gdLst/>
            <a:ahLst/>
            <a:cxnLst/>
            <a:rect l="0" t="0" r="r" b="b"/>
            <a:pathLst>
              <a:path w="3811" h="28">
                <a:moveTo>
                  <a:pt x="0" y="0"/>
                </a:moveTo>
                <a:lnTo>
                  <a:pt x="3811" y="0"/>
                </a:lnTo>
                <a:lnTo>
                  <a:pt x="381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133" name="フリーフォーム 132"/>
          <p:cNvSpPr/>
          <p:nvPr/>
        </p:nvSpPr>
        <p:spPr>
          <a:xfrm>
            <a:off x="1593000" y="3535920"/>
            <a:ext cx="607500" cy="7560"/>
          </a:xfrm>
          <a:custGeom>
            <a:avLst/>
            <a:gdLst/>
            <a:ahLst/>
            <a:cxnLst/>
            <a:rect l="0" t="0" r="r" b="b"/>
            <a:pathLst>
              <a:path w="2250" h="28">
                <a:moveTo>
                  <a:pt x="0" y="0"/>
                </a:moveTo>
                <a:lnTo>
                  <a:pt x="2250" y="0"/>
                </a:lnTo>
                <a:lnTo>
                  <a:pt x="225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134" name="フリーフォーム 133"/>
          <p:cNvSpPr/>
          <p:nvPr/>
        </p:nvSpPr>
        <p:spPr>
          <a:xfrm>
            <a:off x="2200230" y="3535920"/>
            <a:ext cx="2557710" cy="7560"/>
          </a:xfrm>
          <a:custGeom>
            <a:avLst/>
            <a:gdLst/>
            <a:ahLst/>
            <a:cxnLst/>
            <a:rect l="0" t="0" r="r" b="b"/>
            <a:pathLst>
              <a:path w="9473" h="28">
                <a:moveTo>
                  <a:pt x="0" y="0"/>
                </a:moveTo>
                <a:lnTo>
                  <a:pt x="9473" y="0"/>
                </a:lnTo>
                <a:lnTo>
                  <a:pt x="947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135" name="フリーフォーム 134"/>
          <p:cNvSpPr/>
          <p:nvPr/>
        </p:nvSpPr>
        <p:spPr>
          <a:xfrm>
            <a:off x="564300" y="3543210"/>
            <a:ext cx="7290" cy="40743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136" name="フリーフォーム 135"/>
          <p:cNvSpPr/>
          <p:nvPr/>
        </p:nvSpPr>
        <p:spPr>
          <a:xfrm>
            <a:off x="1585710" y="3543210"/>
            <a:ext cx="7560" cy="407430"/>
          </a:xfrm>
          <a:custGeom>
            <a:avLst/>
            <a:gdLst/>
            <a:ahLst/>
            <a:cxn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137" name="フリーフォーム 136"/>
          <p:cNvSpPr/>
          <p:nvPr/>
        </p:nvSpPr>
        <p:spPr>
          <a:xfrm>
            <a:off x="2192940" y="3543210"/>
            <a:ext cx="7560" cy="407430"/>
          </a:xfrm>
          <a:custGeom>
            <a:avLst/>
            <a:gdLst/>
            <a:ahLst/>
            <a:cxn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138" name="フリーフォーム 137"/>
          <p:cNvSpPr/>
          <p:nvPr/>
        </p:nvSpPr>
        <p:spPr>
          <a:xfrm>
            <a:off x="4750380" y="3543210"/>
            <a:ext cx="7560" cy="407430"/>
          </a:xfrm>
          <a:custGeom>
            <a:avLst/>
            <a:gdLst/>
            <a:ahLst/>
            <a:cxn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139" name="フリーフォーム 138"/>
          <p:cNvSpPr/>
          <p:nvPr/>
        </p:nvSpPr>
        <p:spPr>
          <a:xfrm>
            <a:off x="564300" y="3950370"/>
            <a:ext cx="7290" cy="400410"/>
          </a:xfrm>
          <a:custGeom>
            <a:avLst/>
            <a:gdLst/>
            <a:ahLst/>
            <a:cxn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140" name="フリーフォーム 139"/>
          <p:cNvSpPr/>
          <p:nvPr/>
        </p:nvSpPr>
        <p:spPr>
          <a:xfrm>
            <a:off x="564300" y="3943080"/>
            <a:ext cx="1028970" cy="7560"/>
          </a:xfrm>
          <a:custGeom>
            <a:avLst/>
            <a:gdLst/>
            <a:ahLst/>
            <a:cxnLst/>
            <a:rect l="0" t="0" r="r" b="b"/>
            <a:pathLst>
              <a:path w="3811" h="28">
                <a:moveTo>
                  <a:pt x="0" y="0"/>
                </a:moveTo>
                <a:lnTo>
                  <a:pt x="3811" y="0"/>
                </a:lnTo>
                <a:lnTo>
                  <a:pt x="381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141" name="フリーフォーム 140"/>
          <p:cNvSpPr/>
          <p:nvPr/>
        </p:nvSpPr>
        <p:spPr>
          <a:xfrm>
            <a:off x="1585710" y="3950370"/>
            <a:ext cx="7560" cy="400410"/>
          </a:xfrm>
          <a:custGeom>
            <a:avLst/>
            <a:gdLst/>
            <a:ahLst/>
            <a:cxn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142" name="フリーフォーム 141"/>
          <p:cNvSpPr/>
          <p:nvPr/>
        </p:nvSpPr>
        <p:spPr>
          <a:xfrm>
            <a:off x="1593000" y="3943080"/>
            <a:ext cx="607500" cy="7560"/>
          </a:xfrm>
          <a:custGeom>
            <a:avLst/>
            <a:gdLst/>
            <a:ahLst/>
            <a:cxnLst/>
            <a:rect l="0" t="0" r="r" b="b"/>
            <a:pathLst>
              <a:path w="2250" h="28">
                <a:moveTo>
                  <a:pt x="0" y="0"/>
                </a:moveTo>
                <a:lnTo>
                  <a:pt x="2250" y="0"/>
                </a:lnTo>
                <a:lnTo>
                  <a:pt x="225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143" name="フリーフォーム 142"/>
          <p:cNvSpPr/>
          <p:nvPr/>
        </p:nvSpPr>
        <p:spPr>
          <a:xfrm>
            <a:off x="2192940" y="3950370"/>
            <a:ext cx="7560" cy="400410"/>
          </a:xfrm>
          <a:custGeom>
            <a:avLst/>
            <a:gdLst/>
            <a:ahLst/>
            <a:cxn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144" name="フリーフォーム 143"/>
          <p:cNvSpPr/>
          <p:nvPr/>
        </p:nvSpPr>
        <p:spPr>
          <a:xfrm>
            <a:off x="2200230" y="3943080"/>
            <a:ext cx="2557710" cy="7560"/>
          </a:xfrm>
          <a:custGeom>
            <a:avLst/>
            <a:gdLst/>
            <a:ahLst/>
            <a:cxnLst/>
            <a:rect l="0" t="0" r="r" b="b"/>
            <a:pathLst>
              <a:path w="9473" h="28">
                <a:moveTo>
                  <a:pt x="0" y="0"/>
                </a:moveTo>
                <a:lnTo>
                  <a:pt x="9473" y="0"/>
                </a:lnTo>
                <a:lnTo>
                  <a:pt x="947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145" name="フリーフォーム 144"/>
          <p:cNvSpPr/>
          <p:nvPr/>
        </p:nvSpPr>
        <p:spPr>
          <a:xfrm>
            <a:off x="4750380" y="3950370"/>
            <a:ext cx="7560" cy="400410"/>
          </a:xfrm>
          <a:custGeom>
            <a:avLst/>
            <a:gdLst/>
            <a:ahLst/>
            <a:cxn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146" name="フリーフォーム 145"/>
          <p:cNvSpPr/>
          <p:nvPr/>
        </p:nvSpPr>
        <p:spPr>
          <a:xfrm>
            <a:off x="564300" y="4350510"/>
            <a:ext cx="7290" cy="40743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147" name="フリーフォーム 146"/>
          <p:cNvSpPr/>
          <p:nvPr/>
        </p:nvSpPr>
        <p:spPr>
          <a:xfrm>
            <a:off x="564300" y="4343220"/>
            <a:ext cx="1028970" cy="7560"/>
          </a:xfrm>
          <a:custGeom>
            <a:avLst/>
            <a:gdLst/>
            <a:ahLst/>
            <a:cxnLst/>
            <a:rect l="0" t="0" r="r" b="b"/>
            <a:pathLst>
              <a:path w="3811" h="28">
                <a:moveTo>
                  <a:pt x="0" y="0"/>
                </a:moveTo>
                <a:lnTo>
                  <a:pt x="3811" y="0"/>
                </a:lnTo>
                <a:lnTo>
                  <a:pt x="381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148" name="フリーフォーム 147"/>
          <p:cNvSpPr/>
          <p:nvPr/>
        </p:nvSpPr>
        <p:spPr>
          <a:xfrm>
            <a:off x="1585710" y="4350510"/>
            <a:ext cx="7560" cy="407430"/>
          </a:xfrm>
          <a:custGeom>
            <a:avLst/>
            <a:gdLst/>
            <a:ahLst/>
            <a:cxn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149" name="フリーフォーム 148"/>
          <p:cNvSpPr/>
          <p:nvPr/>
        </p:nvSpPr>
        <p:spPr>
          <a:xfrm>
            <a:off x="1593000" y="4343220"/>
            <a:ext cx="607500" cy="7560"/>
          </a:xfrm>
          <a:custGeom>
            <a:avLst/>
            <a:gdLst/>
            <a:ahLst/>
            <a:cxnLst/>
            <a:rect l="0" t="0" r="r" b="b"/>
            <a:pathLst>
              <a:path w="2250" h="28">
                <a:moveTo>
                  <a:pt x="0" y="0"/>
                </a:moveTo>
                <a:lnTo>
                  <a:pt x="2250" y="0"/>
                </a:lnTo>
                <a:lnTo>
                  <a:pt x="225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150" name="フリーフォーム 149"/>
          <p:cNvSpPr/>
          <p:nvPr/>
        </p:nvSpPr>
        <p:spPr>
          <a:xfrm>
            <a:off x="2192940" y="4350510"/>
            <a:ext cx="7560" cy="407430"/>
          </a:xfrm>
          <a:custGeom>
            <a:avLst/>
            <a:gdLst/>
            <a:ahLst/>
            <a:cxn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151" name="フリーフォーム 150"/>
          <p:cNvSpPr/>
          <p:nvPr/>
        </p:nvSpPr>
        <p:spPr>
          <a:xfrm>
            <a:off x="2200230" y="4343220"/>
            <a:ext cx="2557710" cy="7560"/>
          </a:xfrm>
          <a:custGeom>
            <a:avLst/>
            <a:gdLst/>
            <a:ahLst/>
            <a:cxnLst/>
            <a:rect l="0" t="0" r="r" b="b"/>
            <a:pathLst>
              <a:path w="9473" h="28">
                <a:moveTo>
                  <a:pt x="0" y="0"/>
                </a:moveTo>
                <a:lnTo>
                  <a:pt x="9473" y="0"/>
                </a:lnTo>
                <a:lnTo>
                  <a:pt x="947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152" name="フリーフォーム 151"/>
          <p:cNvSpPr/>
          <p:nvPr/>
        </p:nvSpPr>
        <p:spPr>
          <a:xfrm>
            <a:off x="4750380" y="4350510"/>
            <a:ext cx="7560" cy="407430"/>
          </a:xfrm>
          <a:custGeom>
            <a:avLst/>
            <a:gdLst/>
            <a:ahLst/>
            <a:cxn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153" name="フリーフォーム 152"/>
          <p:cNvSpPr/>
          <p:nvPr/>
        </p:nvSpPr>
        <p:spPr>
          <a:xfrm>
            <a:off x="564300" y="4757670"/>
            <a:ext cx="7290" cy="400140"/>
          </a:xfrm>
          <a:custGeom>
            <a:avLst/>
            <a:gdLst/>
            <a:ahLst/>
            <a:cxnLst/>
            <a:rect l="0" t="0" r="r" b="b"/>
            <a:pathLst>
              <a:path w="27" h="1482">
                <a:moveTo>
                  <a:pt x="0" y="0"/>
                </a:moveTo>
                <a:lnTo>
                  <a:pt x="27" y="0"/>
                </a:lnTo>
                <a:lnTo>
                  <a:pt x="2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154" name="フリーフォーム 153"/>
          <p:cNvSpPr/>
          <p:nvPr/>
        </p:nvSpPr>
        <p:spPr>
          <a:xfrm>
            <a:off x="564300" y="4750380"/>
            <a:ext cx="1028970" cy="7560"/>
          </a:xfrm>
          <a:custGeom>
            <a:avLst/>
            <a:gdLst/>
            <a:ahLst/>
            <a:cxnLst/>
            <a:rect l="0" t="0" r="r" b="b"/>
            <a:pathLst>
              <a:path w="3811" h="28">
                <a:moveTo>
                  <a:pt x="0" y="0"/>
                </a:moveTo>
                <a:lnTo>
                  <a:pt x="3811" y="0"/>
                </a:lnTo>
                <a:lnTo>
                  <a:pt x="381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155" name="フリーフォーム 154"/>
          <p:cNvSpPr/>
          <p:nvPr/>
        </p:nvSpPr>
        <p:spPr>
          <a:xfrm>
            <a:off x="1585710" y="4757670"/>
            <a:ext cx="7560" cy="400140"/>
          </a:xfrm>
          <a:custGeom>
            <a:avLst/>
            <a:gdLst/>
            <a:ahLst/>
            <a:cxnLst/>
            <a:rect l="0" t="0" r="r" b="b"/>
            <a:pathLst>
              <a:path w="28" h="1482">
                <a:moveTo>
                  <a:pt x="0" y="0"/>
                </a:moveTo>
                <a:lnTo>
                  <a:pt x="28" y="0"/>
                </a:lnTo>
                <a:lnTo>
                  <a:pt x="28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156" name="フリーフォーム 155"/>
          <p:cNvSpPr/>
          <p:nvPr/>
        </p:nvSpPr>
        <p:spPr>
          <a:xfrm>
            <a:off x="1593000" y="4750380"/>
            <a:ext cx="607500" cy="7560"/>
          </a:xfrm>
          <a:custGeom>
            <a:avLst/>
            <a:gdLst/>
            <a:ahLst/>
            <a:cxnLst/>
            <a:rect l="0" t="0" r="r" b="b"/>
            <a:pathLst>
              <a:path w="2250" h="28">
                <a:moveTo>
                  <a:pt x="0" y="0"/>
                </a:moveTo>
                <a:lnTo>
                  <a:pt x="2250" y="0"/>
                </a:lnTo>
                <a:lnTo>
                  <a:pt x="225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157" name="フリーフォーム 156"/>
          <p:cNvSpPr/>
          <p:nvPr/>
        </p:nvSpPr>
        <p:spPr>
          <a:xfrm>
            <a:off x="2192940" y="4757670"/>
            <a:ext cx="7560" cy="400140"/>
          </a:xfrm>
          <a:custGeom>
            <a:avLst/>
            <a:gdLst/>
            <a:ahLst/>
            <a:cxnLst/>
            <a:rect l="0" t="0" r="r" b="b"/>
            <a:pathLst>
              <a:path w="28" h="1482">
                <a:moveTo>
                  <a:pt x="0" y="0"/>
                </a:moveTo>
                <a:lnTo>
                  <a:pt x="28" y="0"/>
                </a:lnTo>
                <a:lnTo>
                  <a:pt x="28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158" name="フリーフォーム 157"/>
          <p:cNvSpPr/>
          <p:nvPr/>
        </p:nvSpPr>
        <p:spPr>
          <a:xfrm>
            <a:off x="2200230" y="4750380"/>
            <a:ext cx="2557710" cy="7560"/>
          </a:xfrm>
          <a:custGeom>
            <a:avLst/>
            <a:gdLst/>
            <a:ahLst/>
            <a:cxnLst/>
            <a:rect l="0" t="0" r="r" b="b"/>
            <a:pathLst>
              <a:path w="9473" h="28">
                <a:moveTo>
                  <a:pt x="0" y="0"/>
                </a:moveTo>
                <a:lnTo>
                  <a:pt x="9473" y="0"/>
                </a:lnTo>
                <a:lnTo>
                  <a:pt x="947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159" name="フリーフォーム 158"/>
          <p:cNvSpPr/>
          <p:nvPr/>
        </p:nvSpPr>
        <p:spPr>
          <a:xfrm>
            <a:off x="4750380" y="4757670"/>
            <a:ext cx="7560" cy="400140"/>
          </a:xfrm>
          <a:custGeom>
            <a:avLst/>
            <a:gdLst/>
            <a:ahLst/>
            <a:cxnLst/>
            <a:rect l="0" t="0" r="r" b="b"/>
            <a:pathLst>
              <a:path w="28" h="1482">
                <a:moveTo>
                  <a:pt x="0" y="0"/>
                </a:moveTo>
                <a:lnTo>
                  <a:pt x="28" y="0"/>
                </a:lnTo>
                <a:lnTo>
                  <a:pt x="28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160" name="フリーフォーム 159"/>
          <p:cNvSpPr/>
          <p:nvPr/>
        </p:nvSpPr>
        <p:spPr>
          <a:xfrm>
            <a:off x="564300" y="5150520"/>
            <a:ext cx="1028970" cy="7290"/>
          </a:xfrm>
          <a:custGeom>
            <a:avLst/>
            <a:gdLst/>
            <a:ahLst/>
            <a:cxnLst/>
            <a:rect l="0" t="0" r="r" b="b"/>
            <a:pathLst>
              <a:path w="3811" h="27">
                <a:moveTo>
                  <a:pt x="0" y="0"/>
                </a:moveTo>
                <a:lnTo>
                  <a:pt x="3811" y="0"/>
                </a:lnTo>
                <a:lnTo>
                  <a:pt x="381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161" name="フリーフォーム 160"/>
          <p:cNvSpPr/>
          <p:nvPr/>
        </p:nvSpPr>
        <p:spPr>
          <a:xfrm>
            <a:off x="1593000" y="5150520"/>
            <a:ext cx="607500" cy="7290"/>
          </a:xfrm>
          <a:custGeom>
            <a:avLst/>
            <a:gdLst/>
            <a:ahLst/>
            <a:cxnLst/>
            <a:rect l="0" t="0" r="r" b="b"/>
            <a:pathLst>
              <a:path w="2250" h="27">
                <a:moveTo>
                  <a:pt x="0" y="0"/>
                </a:moveTo>
                <a:lnTo>
                  <a:pt x="2250" y="0"/>
                </a:lnTo>
                <a:lnTo>
                  <a:pt x="225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162" name="フリーフォーム 161"/>
          <p:cNvSpPr/>
          <p:nvPr/>
        </p:nvSpPr>
        <p:spPr>
          <a:xfrm>
            <a:off x="2200230" y="5150520"/>
            <a:ext cx="2557710" cy="7290"/>
          </a:xfrm>
          <a:custGeom>
            <a:avLst/>
            <a:gdLst/>
            <a:ahLst/>
            <a:cxnLst/>
            <a:rect l="0" t="0" r="r" b="b"/>
            <a:pathLst>
              <a:path w="9473" h="27">
                <a:moveTo>
                  <a:pt x="0" y="0"/>
                </a:moveTo>
                <a:lnTo>
                  <a:pt x="9473" y="0"/>
                </a:lnTo>
                <a:lnTo>
                  <a:pt x="947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163" name="テキスト ボックス 162"/>
          <p:cNvSpPr txBox="1"/>
          <p:nvPr/>
        </p:nvSpPr>
        <p:spPr>
          <a:xfrm>
            <a:off x="560790" y="1717470"/>
            <a:ext cx="2135200" cy="31162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025" b="1">
                <a:solidFill>
                  <a:srgbClr val="333333"/>
                </a:solidFill>
                <a:latin typeface="Arial"/>
                <a:ea typeface="Arial"/>
              </a:rPr>
              <a:t>3. PSO</a:t>
            </a:r>
            <a:r>
              <a:rPr lang="ja-JP" altLang="en-US" sz="2025" b="1">
                <a:solidFill>
                  <a:srgbClr val="333333"/>
                </a:solidFill>
                <a:latin typeface="HiraginoSans-W6"/>
                <a:ea typeface="HiraginoSans-W6"/>
              </a:rPr>
              <a:t>の基本概念</a:t>
            </a:r>
            <a:endParaRPr lang="en-US" sz="2025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164" name="テキスト ボックス 163"/>
          <p:cNvSpPr txBox="1"/>
          <p:nvPr/>
        </p:nvSpPr>
        <p:spPr>
          <a:xfrm>
            <a:off x="560790" y="2297970"/>
            <a:ext cx="2547172" cy="24237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altLang="en-US" sz="1575" b="1">
                <a:solidFill>
                  <a:srgbClr val="4A90E2"/>
                </a:solidFill>
                <a:latin typeface="HiraginoSans-W6"/>
                <a:ea typeface="HiraginoSans-W6"/>
              </a:rPr>
              <a:t>粒⼦（</a:t>
            </a:r>
            <a:r>
              <a:rPr lang="en-US" sz="1575" b="1">
                <a:solidFill>
                  <a:srgbClr val="4A90E2"/>
                </a:solidFill>
                <a:latin typeface="Arial"/>
                <a:ea typeface="Arial"/>
              </a:rPr>
              <a:t>Particle</a:t>
            </a:r>
            <a:r>
              <a:rPr lang="ja-JP" altLang="en-US" sz="1575" b="1">
                <a:solidFill>
                  <a:srgbClr val="4A90E2"/>
                </a:solidFill>
                <a:latin typeface="HiraginoSans-W6"/>
                <a:ea typeface="HiraginoSans-W6"/>
              </a:rPr>
              <a:t>）の構成要素</a:t>
            </a:r>
            <a:endParaRPr lang="en-US" sz="1575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165" name="フリーフォーム 164"/>
          <p:cNvSpPr/>
          <p:nvPr/>
        </p:nvSpPr>
        <p:spPr>
          <a:xfrm>
            <a:off x="1247940" y="2771550"/>
            <a:ext cx="68580" cy="163620"/>
          </a:xfrm>
          <a:custGeom>
            <a:avLst/>
            <a:gdLst/>
            <a:ahLst/>
            <a:cxnLst/>
            <a:rect l="0" t="0" r="r" b="b"/>
            <a:pathLst>
              <a:path w="254" h="606">
                <a:moveTo>
                  <a:pt x="148" y="55"/>
                </a:moveTo>
                <a:cubicBezTo>
                  <a:pt x="148" y="41"/>
                  <a:pt x="154" y="28"/>
                  <a:pt x="165" y="17"/>
                </a:cubicBezTo>
                <a:cubicBezTo>
                  <a:pt x="176" y="7"/>
                  <a:pt x="190" y="1"/>
                  <a:pt x="204" y="0"/>
                </a:cubicBezTo>
                <a:cubicBezTo>
                  <a:pt x="215" y="0"/>
                  <a:pt x="224" y="4"/>
                  <a:pt x="231" y="11"/>
                </a:cubicBezTo>
                <a:cubicBezTo>
                  <a:pt x="239" y="18"/>
                  <a:pt x="243" y="27"/>
                  <a:pt x="243" y="38"/>
                </a:cubicBezTo>
                <a:cubicBezTo>
                  <a:pt x="243" y="52"/>
                  <a:pt x="237" y="64"/>
                  <a:pt x="225" y="76"/>
                </a:cubicBezTo>
                <a:cubicBezTo>
                  <a:pt x="213" y="87"/>
                  <a:pt x="200" y="93"/>
                  <a:pt x="186" y="94"/>
                </a:cubicBezTo>
                <a:cubicBezTo>
                  <a:pt x="177" y="94"/>
                  <a:pt x="168" y="91"/>
                  <a:pt x="160" y="85"/>
                </a:cubicBezTo>
                <a:cubicBezTo>
                  <a:pt x="153" y="79"/>
                  <a:pt x="148" y="69"/>
                  <a:pt x="148" y="55"/>
                </a:cubicBezTo>
                <a:moveTo>
                  <a:pt x="0" y="337"/>
                </a:moveTo>
                <a:cubicBezTo>
                  <a:pt x="0" y="332"/>
                  <a:pt x="3" y="323"/>
                  <a:pt x="8" y="309"/>
                </a:cubicBezTo>
                <a:cubicBezTo>
                  <a:pt x="14" y="295"/>
                  <a:pt x="21" y="280"/>
                  <a:pt x="30" y="263"/>
                </a:cubicBezTo>
                <a:cubicBezTo>
                  <a:pt x="39" y="246"/>
                  <a:pt x="53" y="231"/>
                  <a:pt x="70" y="217"/>
                </a:cubicBezTo>
                <a:cubicBezTo>
                  <a:pt x="88" y="203"/>
                  <a:pt x="106" y="197"/>
                  <a:pt x="124" y="197"/>
                </a:cubicBezTo>
                <a:cubicBezTo>
                  <a:pt x="148" y="197"/>
                  <a:pt x="167" y="204"/>
                  <a:pt x="183" y="218"/>
                </a:cubicBezTo>
                <a:cubicBezTo>
                  <a:pt x="198" y="232"/>
                  <a:pt x="207" y="250"/>
                  <a:pt x="207" y="274"/>
                </a:cubicBezTo>
                <a:cubicBezTo>
                  <a:pt x="207" y="284"/>
                  <a:pt x="203" y="301"/>
                  <a:pt x="195" y="324"/>
                </a:cubicBezTo>
                <a:cubicBezTo>
                  <a:pt x="186" y="348"/>
                  <a:pt x="174" y="379"/>
                  <a:pt x="159" y="419"/>
                </a:cubicBezTo>
                <a:cubicBezTo>
                  <a:pt x="143" y="458"/>
                  <a:pt x="130" y="493"/>
                  <a:pt x="121" y="521"/>
                </a:cubicBezTo>
                <a:cubicBezTo>
                  <a:pt x="118" y="534"/>
                  <a:pt x="116" y="544"/>
                  <a:pt x="116" y="550"/>
                </a:cubicBezTo>
                <a:cubicBezTo>
                  <a:pt x="116" y="565"/>
                  <a:pt x="121" y="572"/>
                  <a:pt x="132" y="572"/>
                </a:cubicBezTo>
                <a:cubicBezTo>
                  <a:pt x="137" y="572"/>
                  <a:pt x="143" y="572"/>
                  <a:pt x="149" y="570"/>
                </a:cubicBezTo>
                <a:cubicBezTo>
                  <a:pt x="155" y="568"/>
                  <a:pt x="162" y="564"/>
                  <a:pt x="169" y="557"/>
                </a:cubicBezTo>
                <a:cubicBezTo>
                  <a:pt x="177" y="551"/>
                  <a:pt x="185" y="540"/>
                  <a:pt x="194" y="526"/>
                </a:cubicBezTo>
                <a:cubicBezTo>
                  <a:pt x="202" y="511"/>
                  <a:pt x="210" y="494"/>
                  <a:pt x="216" y="473"/>
                </a:cubicBezTo>
                <a:cubicBezTo>
                  <a:pt x="218" y="465"/>
                  <a:pt x="219" y="461"/>
                  <a:pt x="221" y="459"/>
                </a:cubicBezTo>
                <a:cubicBezTo>
                  <a:pt x="222" y="458"/>
                  <a:pt x="227" y="457"/>
                  <a:pt x="236" y="457"/>
                </a:cubicBezTo>
                <a:cubicBezTo>
                  <a:pt x="248" y="457"/>
                  <a:pt x="254" y="461"/>
                  <a:pt x="254" y="467"/>
                </a:cubicBezTo>
                <a:cubicBezTo>
                  <a:pt x="254" y="472"/>
                  <a:pt x="251" y="481"/>
                  <a:pt x="246" y="495"/>
                </a:cubicBezTo>
                <a:cubicBezTo>
                  <a:pt x="240" y="509"/>
                  <a:pt x="233" y="524"/>
                  <a:pt x="223" y="541"/>
                </a:cubicBezTo>
                <a:cubicBezTo>
                  <a:pt x="214" y="558"/>
                  <a:pt x="200" y="573"/>
                  <a:pt x="183" y="586"/>
                </a:cubicBezTo>
                <a:cubicBezTo>
                  <a:pt x="166" y="599"/>
                  <a:pt x="147" y="606"/>
                  <a:pt x="127" y="606"/>
                </a:cubicBezTo>
                <a:cubicBezTo>
                  <a:pt x="108" y="606"/>
                  <a:pt x="90" y="599"/>
                  <a:pt x="74" y="587"/>
                </a:cubicBezTo>
                <a:cubicBezTo>
                  <a:pt x="58" y="574"/>
                  <a:pt x="49" y="555"/>
                  <a:pt x="49" y="529"/>
                </a:cubicBezTo>
                <a:cubicBezTo>
                  <a:pt x="49" y="519"/>
                  <a:pt x="50" y="510"/>
                  <a:pt x="53" y="501"/>
                </a:cubicBezTo>
                <a:cubicBezTo>
                  <a:pt x="56" y="492"/>
                  <a:pt x="69" y="456"/>
                  <a:pt x="92" y="397"/>
                </a:cubicBezTo>
                <a:cubicBezTo>
                  <a:pt x="115" y="336"/>
                  <a:pt x="128" y="300"/>
                  <a:pt x="132" y="288"/>
                </a:cubicBezTo>
                <a:cubicBezTo>
                  <a:pt x="135" y="276"/>
                  <a:pt x="137" y="264"/>
                  <a:pt x="138" y="253"/>
                </a:cubicBezTo>
                <a:cubicBezTo>
                  <a:pt x="138" y="239"/>
                  <a:pt x="133" y="231"/>
                  <a:pt x="123" y="231"/>
                </a:cubicBezTo>
                <a:lnTo>
                  <a:pt x="121" y="231"/>
                </a:lnTo>
                <a:cubicBezTo>
                  <a:pt x="103" y="231"/>
                  <a:pt x="86" y="241"/>
                  <a:pt x="71" y="261"/>
                </a:cubicBezTo>
                <a:cubicBezTo>
                  <a:pt x="56" y="281"/>
                  <a:pt x="45" y="306"/>
                  <a:pt x="36" y="337"/>
                </a:cubicBezTo>
                <a:cubicBezTo>
                  <a:pt x="36" y="337"/>
                  <a:pt x="35" y="338"/>
                  <a:pt x="34" y="339"/>
                </a:cubicBezTo>
                <a:cubicBezTo>
                  <a:pt x="34" y="341"/>
                  <a:pt x="34" y="342"/>
                  <a:pt x="34" y="342"/>
                </a:cubicBezTo>
                <a:cubicBezTo>
                  <a:pt x="34" y="343"/>
                  <a:pt x="33" y="343"/>
                  <a:pt x="32" y="344"/>
                </a:cubicBezTo>
                <a:cubicBezTo>
                  <a:pt x="31" y="345"/>
                  <a:pt x="30" y="345"/>
                  <a:pt x="29" y="345"/>
                </a:cubicBezTo>
                <a:cubicBezTo>
                  <a:pt x="28" y="345"/>
                  <a:pt x="27" y="345"/>
                  <a:pt x="25" y="345"/>
                </a:cubicBezTo>
                <a:cubicBezTo>
                  <a:pt x="24" y="345"/>
                  <a:pt x="21" y="345"/>
                  <a:pt x="18" y="345"/>
                </a:cubicBezTo>
                <a:lnTo>
                  <a:pt x="6" y="345"/>
                </a:lnTo>
                <a:cubicBezTo>
                  <a:pt x="2" y="341"/>
                  <a:pt x="0" y="339"/>
                  <a:pt x="0" y="33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166" name="テキスト ボックス 165"/>
          <p:cNvSpPr txBox="1"/>
          <p:nvPr/>
        </p:nvSpPr>
        <p:spPr>
          <a:xfrm>
            <a:off x="560790" y="2741580"/>
            <a:ext cx="694101" cy="2503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altLang="en-US" sz="1627">
                <a:solidFill>
                  <a:srgbClr val="1F2328"/>
                </a:solidFill>
                <a:latin typeface="HiraginoSans-W4"/>
                <a:ea typeface="HiraginoSans-W4"/>
              </a:rPr>
              <a:t>各粒⼦ </a:t>
            </a:r>
            <a:endParaRPr lang="en-US" sz="1627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167" name="テキスト ボックス 166"/>
          <p:cNvSpPr txBox="1"/>
          <p:nvPr/>
        </p:nvSpPr>
        <p:spPr>
          <a:xfrm>
            <a:off x="1323810" y="2741580"/>
            <a:ext cx="2141612" cy="2503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27">
                <a:solidFill>
                  <a:srgbClr val="1F2328"/>
                </a:solidFill>
                <a:latin typeface="Arial"/>
                <a:ea typeface="Arial"/>
              </a:rPr>
              <a:t> </a:t>
            </a:r>
            <a:r>
              <a:rPr lang="ja-JP" altLang="en-US" sz="1627">
                <a:solidFill>
                  <a:srgbClr val="1F2328"/>
                </a:solidFill>
                <a:latin typeface="HiraginoSans-W4"/>
                <a:ea typeface="HiraginoSans-W4"/>
              </a:rPr>
              <a:t>は以下の情報を持つ：</a:t>
            </a:r>
            <a:endParaRPr lang="en-US" sz="1627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168" name="テキスト ボックス 167"/>
          <p:cNvSpPr txBox="1"/>
          <p:nvPr/>
        </p:nvSpPr>
        <p:spPr>
          <a:xfrm>
            <a:off x="660690" y="3220020"/>
            <a:ext cx="416781" cy="2503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altLang="en-US" sz="1627" b="1">
                <a:solidFill>
                  <a:srgbClr val="1F2328"/>
                </a:solidFill>
                <a:latin typeface="HiraginoSans-W6"/>
                <a:ea typeface="HiraginoSans-W6"/>
              </a:rPr>
              <a:t>要素</a:t>
            </a:r>
            <a:endParaRPr lang="en-US" sz="1627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169" name="テキスト ボックス 168"/>
          <p:cNvSpPr txBox="1"/>
          <p:nvPr/>
        </p:nvSpPr>
        <p:spPr>
          <a:xfrm>
            <a:off x="1682371" y="3220020"/>
            <a:ext cx="902491" cy="2503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altLang="en-US" sz="1627" b="1">
                <a:solidFill>
                  <a:srgbClr val="1F2328"/>
                </a:solidFill>
                <a:latin typeface="HiraginoSans-W6"/>
                <a:ea typeface="HiraginoSans-W6"/>
              </a:rPr>
              <a:t>記号 説明</a:t>
            </a:r>
            <a:endParaRPr lang="en-US" sz="1627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170" name="フリーフォーム 169"/>
          <p:cNvSpPr/>
          <p:nvPr/>
        </p:nvSpPr>
        <p:spPr>
          <a:xfrm>
            <a:off x="1783890" y="3700350"/>
            <a:ext cx="137430" cy="108000"/>
          </a:xfrm>
          <a:custGeom>
            <a:avLst/>
            <a:gdLst/>
            <a:ahLst/>
            <a:cxnLst/>
            <a:rect l="0" t="0" r="r" b="b"/>
            <a:pathLst>
              <a:path w="509" h="400">
                <a:moveTo>
                  <a:pt x="185" y="400"/>
                </a:moveTo>
                <a:cubicBezTo>
                  <a:pt x="176" y="398"/>
                  <a:pt x="144" y="397"/>
                  <a:pt x="90" y="397"/>
                </a:cubicBezTo>
                <a:cubicBezTo>
                  <a:pt x="41" y="397"/>
                  <a:pt x="13" y="398"/>
                  <a:pt x="6" y="400"/>
                </a:cubicBezTo>
                <a:lnTo>
                  <a:pt x="0" y="400"/>
                </a:lnTo>
                <a:lnTo>
                  <a:pt x="0" y="344"/>
                </a:lnTo>
                <a:lnTo>
                  <a:pt x="86" y="344"/>
                </a:lnTo>
                <a:lnTo>
                  <a:pt x="201" y="209"/>
                </a:lnTo>
                <a:lnTo>
                  <a:pt x="79" y="57"/>
                </a:lnTo>
                <a:lnTo>
                  <a:pt x="4" y="57"/>
                </a:lnTo>
                <a:lnTo>
                  <a:pt x="4" y="0"/>
                </a:lnTo>
                <a:lnTo>
                  <a:pt x="11" y="0"/>
                </a:lnTo>
                <a:cubicBezTo>
                  <a:pt x="20" y="2"/>
                  <a:pt x="53" y="3"/>
                  <a:pt x="110" y="3"/>
                </a:cubicBezTo>
                <a:cubicBezTo>
                  <a:pt x="172" y="3"/>
                  <a:pt x="208" y="2"/>
                  <a:pt x="219" y="0"/>
                </a:cubicBezTo>
                <a:lnTo>
                  <a:pt x="227" y="0"/>
                </a:lnTo>
                <a:lnTo>
                  <a:pt x="227" y="57"/>
                </a:lnTo>
                <a:lnTo>
                  <a:pt x="202" y="57"/>
                </a:lnTo>
                <a:lnTo>
                  <a:pt x="234" y="95"/>
                </a:lnTo>
                <a:cubicBezTo>
                  <a:pt x="255" y="121"/>
                  <a:pt x="265" y="133"/>
                  <a:pt x="266" y="133"/>
                </a:cubicBezTo>
                <a:cubicBezTo>
                  <a:pt x="268" y="133"/>
                  <a:pt x="280" y="120"/>
                  <a:pt x="300" y="94"/>
                </a:cubicBezTo>
                <a:lnTo>
                  <a:pt x="332" y="57"/>
                </a:lnTo>
                <a:lnTo>
                  <a:pt x="298" y="57"/>
                </a:lnTo>
                <a:lnTo>
                  <a:pt x="298" y="0"/>
                </a:lnTo>
                <a:lnTo>
                  <a:pt x="306" y="0"/>
                </a:lnTo>
                <a:cubicBezTo>
                  <a:pt x="315" y="2"/>
                  <a:pt x="346" y="3"/>
                  <a:pt x="401" y="3"/>
                </a:cubicBezTo>
                <a:cubicBezTo>
                  <a:pt x="450" y="3"/>
                  <a:pt x="477" y="2"/>
                  <a:pt x="485" y="0"/>
                </a:cubicBezTo>
                <a:lnTo>
                  <a:pt x="491" y="0"/>
                </a:lnTo>
                <a:lnTo>
                  <a:pt x="491" y="57"/>
                </a:lnTo>
                <a:lnTo>
                  <a:pt x="405" y="57"/>
                </a:lnTo>
                <a:lnTo>
                  <a:pt x="301" y="179"/>
                </a:lnTo>
                <a:lnTo>
                  <a:pt x="435" y="344"/>
                </a:lnTo>
                <a:lnTo>
                  <a:pt x="472" y="344"/>
                </a:lnTo>
                <a:lnTo>
                  <a:pt x="509" y="344"/>
                </a:lnTo>
                <a:lnTo>
                  <a:pt x="509" y="400"/>
                </a:lnTo>
                <a:lnTo>
                  <a:pt x="502" y="400"/>
                </a:lnTo>
                <a:cubicBezTo>
                  <a:pt x="493" y="398"/>
                  <a:pt x="460" y="397"/>
                  <a:pt x="404" y="397"/>
                </a:cubicBezTo>
                <a:cubicBezTo>
                  <a:pt x="341" y="397"/>
                  <a:pt x="305" y="398"/>
                  <a:pt x="294" y="400"/>
                </a:cubicBezTo>
                <a:lnTo>
                  <a:pt x="286" y="400"/>
                </a:lnTo>
                <a:lnTo>
                  <a:pt x="286" y="344"/>
                </a:lnTo>
                <a:lnTo>
                  <a:pt x="311" y="344"/>
                </a:lnTo>
                <a:cubicBezTo>
                  <a:pt x="311" y="344"/>
                  <a:pt x="299" y="329"/>
                  <a:pt x="275" y="299"/>
                </a:cubicBezTo>
                <a:cubicBezTo>
                  <a:pt x="250" y="270"/>
                  <a:pt x="238" y="255"/>
                  <a:pt x="237" y="254"/>
                </a:cubicBezTo>
                <a:lnTo>
                  <a:pt x="159" y="344"/>
                </a:lnTo>
                <a:lnTo>
                  <a:pt x="176" y="344"/>
                </a:lnTo>
                <a:lnTo>
                  <a:pt x="192" y="344"/>
                </a:lnTo>
                <a:lnTo>
                  <a:pt x="192" y="400"/>
                </a:lnTo>
                <a:lnTo>
                  <a:pt x="185" y="40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171" name="フリーフォーム 170"/>
          <p:cNvSpPr/>
          <p:nvPr/>
        </p:nvSpPr>
        <p:spPr>
          <a:xfrm>
            <a:off x="1937790" y="3731130"/>
            <a:ext cx="48330" cy="115560"/>
          </a:xfrm>
          <a:custGeom>
            <a:avLst/>
            <a:gdLst/>
            <a:ahLst/>
            <a:cxnLst/>
            <a:rect l="0" t="0" r="r" b="b"/>
            <a:pathLst>
              <a:path w="179" h="428">
                <a:moveTo>
                  <a:pt x="104" y="39"/>
                </a:moveTo>
                <a:cubicBezTo>
                  <a:pt x="104" y="28"/>
                  <a:pt x="108" y="20"/>
                  <a:pt x="116" y="12"/>
                </a:cubicBezTo>
                <a:cubicBezTo>
                  <a:pt x="125" y="4"/>
                  <a:pt x="134" y="0"/>
                  <a:pt x="144" y="0"/>
                </a:cubicBezTo>
                <a:cubicBezTo>
                  <a:pt x="152" y="0"/>
                  <a:pt x="158" y="2"/>
                  <a:pt x="164" y="7"/>
                </a:cubicBezTo>
                <a:cubicBezTo>
                  <a:pt x="169" y="13"/>
                  <a:pt x="171" y="19"/>
                  <a:pt x="172" y="27"/>
                </a:cubicBezTo>
                <a:cubicBezTo>
                  <a:pt x="172" y="36"/>
                  <a:pt x="168" y="45"/>
                  <a:pt x="159" y="53"/>
                </a:cubicBezTo>
                <a:cubicBezTo>
                  <a:pt x="151" y="61"/>
                  <a:pt x="141" y="66"/>
                  <a:pt x="131" y="66"/>
                </a:cubicBezTo>
                <a:cubicBezTo>
                  <a:pt x="125" y="66"/>
                  <a:pt x="119" y="64"/>
                  <a:pt x="113" y="60"/>
                </a:cubicBezTo>
                <a:cubicBezTo>
                  <a:pt x="108" y="55"/>
                  <a:pt x="105" y="48"/>
                  <a:pt x="104" y="39"/>
                </a:cubicBezTo>
                <a:moveTo>
                  <a:pt x="0" y="238"/>
                </a:moveTo>
                <a:cubicBezTo>
                  <a:pt x="0" y="234"/>
                  <a:pt x="2" y="228"/>
                  <a:pt x="5" y="218"/>
                </a:cubicBezTo>
                <a:cubicBezTo>
                  <a:pt x="9" y="208"/>
                  <a:pt x="14" y="197"/>
                  <a:pt x="21" y="185"/>
                </a:cubicBezTo>
                <a:cubicBezTo>
                  <a:pt x="27" y="174"/>
                  <a:pt x="37" y="163"/>
                  <a:pt x="50" y="153"/>
                </a:cubicBezTo>
                <a:cubicBezTo>
                  <a:pt x="62" y="143"/>
                  <a:pt x="75" y="139"/>
                  <a:pt x="88" y="139"/>
                </a:cubicBezTo>
                <a:cubicBezTo>
                  <a:pt x="104" y="139"/>
                  <a:pt x="118" y="144"/>
                  <a:pt x="129" y="154"/>
                </a:cubicBezTo>
                <a:cubicBezTo>
                  <a:pt x="140" y="163"/>
                  <a:pt x="146" y="177"/>
                  <a:pt x="146" y="193"/>
                </a:cubicBezTo>
                <a:cubicBezTo>
                  <a:pt x="146" y="200"/>
                  <a:pt x="143" y="212"/>
                  <a:pt x="137" y="229"/>
                </a:cubicBezTo>
                <a:cubicBezTo>
                  <a:pt x="132" y="246"/>
                  <a:pt x="123" y="268"/>
                  <a:pt x="112" y="296"/>
                </a:cubicBezTo>
                <a:cubicBezTo>
                  <a:pt x="101" y="324"/>
                  <a:pt x="92" y="348"/>
                  <a:pt x="85" y="368"/>
                </a:cubicBezTo>
                <a:cubicBezTo>
                  <a:pt x="83" y="378"/>
                  <a:pt x="82" y="384"/>
                  <a:pt x="82" y="389"/>
                </a:cubicBezTo>
                <a:cubicBezTo>
                  <a:pt x="82" y="399"/>
                  <a:pt x="86" y="405"/>
                  <a:pt x="93" y="405"/>
                </a:cubicBezTo>
                <a:cubicBezTo>
                  <a:pt x="97" y="405"/>
                  <a:pt x="101" y="404"/>
                  <a:pt x="105" y="403"/>
                </a:cubicBezTo>
                <a:cubicBezTo>
                  <a:pt x="109" y="401"/>
                  <a:pt x="114" y="398"/>
                  <a:pt x="120" y="394"/>
                </a:cubicBezTo>
                <a:cubicBezTo>
                  <a:pt x="125" y="389"/>
                  <a:pt x="131" y="382"/>
                  <a:pt x="137" y="371"/>
                </a:cubicBezTo>
                <a:cubicBezTo>
                  <a:pt x="143" y="361"/>
                  <a:pt x="148" y="349"/>
                  <a:pt x="153" y="334"/>
                </a:cubicBezTo>
                <a:cubicBezTo>
                  <a:pt x="154" y="329"/>
                  <a:pt x="155" y="326"/>
                  <a:pt x="156" y="325"/>
                </a:cubicBezTo>
                <a:cubicBezTo>
                  <a:pt x="157" y="324"/>
                  <a:pt x="160" y="324"/>
                  <a:pt x="167" y="324"/>
                </a:cubicBezTo>
                <a:cubicBezTo>
                  <a:pt x="175" y="324"/>
                  <a:pt x="179" y="326"/>
                  <a:pt x="179" y="330"/>
                </a:cubicBezTo>
                <a:cubicBezTo>
                  <a:pt x="179" y="334"/>
                  <a:pt x="178" y="340"/>
                  <a:pt x="174" y="350"/>
                </a:cubicBezTo>
                <a:cubicBezTo>
                  <a:pt x="170" y="360"/>
                  <a:pt x="165" y="370"/>
                  <a:pt x="158" y="382"/>
                </a:cubicBezTo>
                <a:cubicBezTo>
                  <a:pt x="151" y="394"/>
                  <a:pt x="141" y="405"/>
                  <a:pt x="129" y="414"/>
                </a:cubicBezTo>
                <a:cubicBezTo>
                  <a:pt x="117" y="423"/>
                  <a:pt x="104" y="428"/>
                  <a:pt x="90" y="428"/>
                </a:cubicBezTo>
                <a:cubicBezTo>
                  <a:pt x="76" y="428"/>
                  <a:pt x="64" y="424"/>
                  <a:pt x="52" y="415"/>
                </a:cubicBezTo>
                <a:cubicBezTo>
                  <a:pt x="41" y="406"/>
                  <a:pt x="35" y="392"/>
                  <a:pt x="34" y="374"/>
                </a:cubicBezTo>
                <a:cubicBezTo>
                  <a:pt x="34" y="367"/>
                  <a:pt x="36" y="360"/>
                  <a:pt x="38" y="354"/>
                </a:cubicBezTo>
                <a:cubicBezTo>
                  <a:pt x="40" y="347"/>
                  <a:pt x="49" y="323"/>
                  <a:pt x="65" y="281"/>
                </a:cubicBezTo>
                <a:cubicBezTo>
                  <a:pt x="81" y="237"/>
                  <a:pt x="90" y="212"/>
                  <a:pt x="93" y="203"/>
                </a:cubicBezTo>
                <a:cubicBezTo>
                  <a:pt x="96" y="195"/>
                  <a:pt x="97" y="187"/>
                  <a:pt x="97" y="178"/>
                </a:cubicBezTo>
                <a:cubicBezTo>
                  <a:pt x="97" y="168"/>
                  <a:pt x="94" y="163"/>
                  <a:pt x="87" y="163"/>
                </a:cubicBezTo>
                <a:lnTo>
                  <a:pt x="85" y="163"/>
                </a:lnTo>
                <a:cubicBezTo>
                  <a:pt x="73" y="163"/>
                  <a:pt x="61" y="170"/>
                  <a:pt x="50" y="184"/>
                </a:cubicBezTo>
                <a:cubicBezTo>
                  <a:pt x="40" y="198"/>
                  <a:pt x="31" y="216"/>
                  <a:pt x="25" y="238"/>
                </a:cubicBezTo>
                <a:cubicBezTo>
                  <a:pt x="25" y="238"/>
                  <a:pt x="24" y="239"/>
                  <a:pt x="24" y="240"/>
                </a:cubicBezTo>
                <a:lnTo>
                  <a:pt x="23" y="241"/>
                </a:lnTo>
                <a:cubicBezTo>
                  <a:pt x="23" y="242"/>
                  <a:pt x="23" y="242"/>
                  <a:pt x="22" y="243"/>
                </a:cubicBezTo>
                <a:cubicBezTo>
                  <a:pt x="21" y="243"/>
                  <a:pt x="21" y="243"/>
                  <a:pt x="20" y="243"/>
                </a:cubicBezTo>
                <a:cubicBezTo>
                  <a:pt x="20" y="243"/>
                  <a:pt x="19" y="243"/>
                  <a:pt x="18" y="243"/>
                </a:cubicBezTo>
                <a:cubicBezTo>
                  <a:pt x="16" y="243"/>
                  <a:pt x="15" y="243"/>
                  <a:pt x="12" y="243"/>
                </a:cubicBezTo>
                <a:lnTo>
                  <a:pt x="4" y="243"/>
                </a:lnTo>
                <a:cubicBezTo>
                  <a:pt x="1" y="241"/>
                  <a:pt x="0" y="239"/>
                  <a:pt x="0" y="238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172" name="テキスト ボックス 171"/>
          <p:cNvSpPr txBox="1"/>
          <p:nvPr/>
        </p:nvSpPr>
        <p:spPr>
          <a:xfrm>
            <a:off x="660690" y="3620160"/>
            <a:ext cx="416781" cy="2503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altLang="en-US" sz="1627" b="1">
                <a:solidFill>
                  <a:srgbClr val="1F2328"/>
                </a:solidFill>
                <a:latin typeface="HiraginoSans-W6"/>
                <a:ea typeface="HiraginoSans-W6"/>
              </a:rPr>
              <a:t>位置</a:t>
            </a:r>
            <a:endParaRPr lang="en-US" sz="1627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173" name="テキスト ボックス 172"/>
          <p:cNvSpPr txBox="1"/>
          <p:nvPr/>
        </p:nvSpPr>
        <p:spPr>
          <a:xfrm>
            <a:off x="2289600" y="3620160"/>
            <a:ext cx="1250342" cy="2503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altLang="en-US" sz="1627">
                <a:solidFill>
                  <a:srgbClr val="1F2328"/>
                </a:solidFill>
                <a:latin typeface="HiraginoSans-W4"/>
                <a:ea typeface="HiraginoSans-W4"/>
              </a:rPr>
              <a:t>現在の解候補</a:t>
            </a:r>
            <a:endParaRPr lang="en-US" sz="1627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174" name="フリーフォーム 173"/>
          <p:cNvSpPr/>
          <p:nvPr/>
        </p:nvSpPr>
        <p:spPr>
          <a:xfrm>
            <a:off x="1784970" y="4107510"/>
            <a:ext cx="134730" cy="109080"/>
          </a:xfrm>
          <a:custGeom>
            <a:avLst/>
            <a:gdLst/>
            <a:ahLst/>
            <a:cxnLst/>
            <a:rect l="0" t="0" r="r" b="b"/>
            <a:pathLst>
              <a:path w="499" h="404">
                <a:moveTo>
                  <a:pt x="339" y="0"/>
                </a:moveTo>
                <a:cubicBezTo>
                  <a:pt x="346" y="2"/>
                  <a:pt x="374" y="3"/>
                  <a:pt x="423" y="3"/>
                </a:cubicBezTo>
                <a:cubicBezTo>
                  <a:pt x="467" y="3"/>
                  <a:pt x="490" y="2"/>
                  <a:pt x="494" y="0"/>
                </a:cubicBezTo>
                <a:lnTo>
                  <a:pt x="499" y="0"/>
                </a:lnTo>
                <a:lnTo>
                  <a:pt x="499" y="56"/>
                </a:lnTo>
                <a:lnTo>
                  <a:pt x="437" y="56"/>
                </a:lnTo>
                <a:lnTo>
                  <a:pt x="346" y="260"/>
                </a:lnTo>
                <a:cubicBezTo>
                  <a:pt x="309" y="343"/>
                  <a:pt x="288" y="388"/>
                  <a:pt x="283" y="395"/>
                </a:cubicBezTo>
                <a:cubicBezTo>
                  <a:pt x="278" y="401"/>
                  <a:pt x="272" y="404"/>
                  <a:pt x="266" y="404"/>
                </a:cubicBezTo>
                <a:cubicBezTo>
                  <a:pt x="264" y="404"/>
                  <a:pt x="262" y="404"/>
                  <a:pt x="259" y="404"/>
                </a:cubicBezTo>
                <a:cubicBezTo>
                  <a:pt x="256" y="404"/>
                  <a:pt x="253" y="404"/>
                  <a:pt x="250" y="403"/>
                </a:cubicBezTo>
                <a:lnTo>
                  <a:pt x="237" y="403"/>
                </a:lnTo>
                <a:cubicBezTo>
                  <a:pt x="228" y="403"/>
                  <a:pt x="221" y="398"/>
                  <a:pt x="215" y="390"/>
                </a:cubicBezTo>
                <a:cubicBezTo>
                  <a:pt x="210" y="381"/>
                  <a:pt x="197" y="354"/>
                  <a:pt x="177" y="309"/>
                </a:cubicBezTo>
                <a:cubicBezTo>
                  <a:pt x="168" y="289"/>
                  <a:pt x="160" y="273"/>
                  <a:pt x="155" y="260"/>
                </a:cubicBezTo>
                <a:lnTo>
                  <a:pt x="63" y="56"/>
                </a:lnTo>
                <a:lnTo>
                  <a:pt x="0" y="56"/>
                </a:lnTo>
                <a:lnTo>
                  <a:pt x="0" y="0"/>
                </a:lnTo>
                <a:lnTo>
                  <a:pt x="7" y="0"/>
                </a:lnTo>
                <a:cubicBezTo>
                  <a:pt x="16" y="2"/>
                  <a:pt x="50" y="3"/>
                  <a:pt x="107" y="3"/>
                </a:cubicBezTo>
                <a:cubicBezTo>
                  <a:pt x="172" y="3"/>
                  <a:pt x="210" y="2"/>
                  <a:pt x="221" y="0"/>
                </a:cubicBezTo>
                <a:lnTo>
                  <a:pt x="229" y="0"/>
                </a:lnTo>
                <a:lnTo>
                  <a:pt x="229" y="56"/>
                </a:lnTo>
                <a:lnTo>
                  <a:pt x="186" y="56"/>
                </a:lnTo>
                <a:lnTo>
                  <a:pt x="233" y="162"/>
                </a:lnTo>
                <a:cubicBezTo>
                  <a:pt x="264" y="232"/>
                  <a:pt x="280" y="266"/>
                  <a:pt x="282" y="266"/>
                </a:cubicBezTo>
                <a:cubicBezTo>
                  <a:pt x="282" y="266"/>
                  <a:pt x="297" y="231"/>
                  <a:pt x="328" y="162"/>
                </a:cubicBezTo>
                <a:cubicBezTo>
                  <a:pt x="358" y="94"/>
                  <a:pt x="374" y="58"/>
                  <a:pt x="375" y="57"/>
                </a:cubicBezTo>
                <a:cubicBezTo>
                  <a:pt x="375" y="56"/>
                  <a:pt x="368" y="56"/>
                  <a:pt x="354" y="56"/>
                </a:cubicBezTo>
                <a:lnTo>
                  <a:pt x="332" y="56"/>
                </a:lnTo>
                <a:lnTo>
                  <a:pt x="332" y="0"/>
                </a:lnTo>
                <a:lnTo>
                  <a:pt x="339" y="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175" name="フリーフォーム 174"/>
          <p:cNvSpPr/>
          <p:nvPr/>
        </p:nvSpPr>
        <p:spPr>
          <a:xfrm>
            <a:off x="1937790" y="4138290"/>
            <a:ext cx="48330" cy="115560"/>
          </a:xfrm>
          <a:custGeom>
            <a:avLst/>
            <a:gdLst/>
            <a:ahLst/>
            <a:cxnLst/>
            <a:rect l="0" t="0" r="r" b="b"/>
            <a:pathLst>
              <a:path w="179" h="428">
                <a:moveTo>
                  <a:pt x="104" y="40"/>
                </a:moveTo>
                <a:cubicBezTo>
                  <a:pt x="104" y="30"/>
                  <a:pt x="108" y="21"/>
                  <a:pt x="116" y="12"/>
                </a:cubicBezTo>
                <a:cubicBezTo>
                  <a:pt x="125" y="4"/>
                  <a:pt x="134" y="0"/>
                  <a:pt x="144" y="0"/>
                </a:cubicBezTo>
                <a:cubicBezTo>
                  <a:pt x="152" y="0"/>
                  <a:pt x="158" y="2"/>
                  <a:pt x="164" y="8"/>
                </a:cubicBezTo>
                <a:cubicBezTo>
                  <a:pt x="169" y="13"/>
                  <a:pt x="171" y="20"/>
                  <a:pt x="172" y="28"/>
                </a:cubicBezTo>
                <a:cubicBezTo>
                  <a:pt x="172" y="37"/>
                  <a:pt x="168" y="46"/>
                  <a:pt x="159" y="54"/>
                </a:cubicBezTo>
                <a:cubicBezTo>
                  <a:pt x="151" y="62"/>
                  <a:pt x="141" y="67"/>
                  <a:pt x="131" y="67"/>
                </a:cubicBezTo>
                <a:cubicBezTo>
                  <a:pt x="125" y="67"/>
                  <a:pt x="119" y="65"/>
                  <a:pt x="113" y="61"/>
                </a:cubicBezTo>
                <a:cubicBezTo>
                  <a:pt x="108" y="56"/>
                  <a:pt x="105" y="49"/>
                  <a:pt x="104" y="40"/>
                </a:cubicBezTo>
                <a:moveTo>
                  <a:pt x="0" y="239"/>
                </a:moveTo>
                <a:cubicBezTo>
                  <a:pt x="0" y="235"/>
                  <a:pt x="2" y="229"/>
                  <a:pt x="5" y="219"/>
                </a:cubicBezTo>
                <a:cubicBezTo>
                  <a:pt x="9" y="209"/>
                  <a:pt x="14" y="198"/>
                  <a:pt x="21" y="187"/>
                </a:cubicBezTo>
                <a:cubicBezTo>
                  <a:pt x="27" y="175"/>
                  <a:pt x="37" y="164"/>
                  <a:pt x="50" y="154"/>
                </a:cubicBezTo>
                <a:cubicBezTo>
                  <a:pt x="62" y="144"/>
                  <a:pt x="75" y="140"/>
                  <a:pt x="88" y="140"/>
                </a:cubicBezTo>
                <a:cubicBezTo>
                  <a:pt x="104" y="140"/>
                  <a:pt x="118" y="145"/>
                  <a:pt x="129" y="155"/>
                </a:cubicBezTo>
                <a:cubicBezTo>
                  <a:pt x="140" y="165"/>
                  <a:pt x="146" y="178"/>
                  <a:pt x="146" y="194"/>
                </a:cubicBezTo>
                <a:cubicBezTo>
                  <a:pt x="146" y="201"/>
                  <a:pt x="143" y="213"/>
                  <a:pt x="137" y="230"/>
                </a:cubicBezTo>
                <a:cubicBezTo>
                  <a:pt x="132" y="246"/>
                  <a:pt x="123" y="269"/>
                  <a:pt x="112" y="297"/>
                </a:cubicBezTo>
                <a:cubicBezTo>
                  <a:pt x="101" y="325"/>
                  <a:pt x="92" y="348"/>
                  <a:pt x="85" y="368"/>
                </a:cubicBezTo>
                <a:cubicBezTo>
                  <a:pt x="83" y="378"/>
                  <a:pt x="82" y="385"/>
                  <a:pt x="82" y="389"/>
                </a:cubicBezTo>
                <a:cubicBezTo>
                  <a:pt x="82" y="399"/>
                  <a:pt x="86" y="405"/>
                  <a:pt x="93" y="405"/>
                </a:cubicBezTo>
                <a:cubicBezTo>
                  <a:pt x="97" y="405"/>
                  <a:pt x="101" y="404"/>
                  <a:pt x="105" y="403"/>
                </a:cubicBezTo>
                <a:cubicBezTo>
                  <a:pt x="109" y="401"/>
                  <a:pt x="114" y="399"/>
                  <a:pt x="120" y="394"/>
                </a:cubicBezTo>
                <a:cubicBezTo>
                  <a:pt x="125" y="389"/>
                  <a:pt x="131" y="382"/>
                  <a:pt x="137" y="372"/>
                </a:cubicBezTo>
                <a:cubicBezTo>
                  <a:pt x="143" y="361"/>
                  <a:pt x="148" y="349"/>
                  <a:pt x="153" y="334"/>
                </a:cubicBezTo>
                <a:cubicBezTo>
                  <a:pt x="154" y="329"/>
                  <a:pt x="155" y="326"/>
                  <a:pt x="156" y="325"/>
                </a:cubicBezTo>
                <a:cubicBezTo>
                  <a:pt x="157" y="324"/>
                  <a:pt x="160" y="324"/>
                  <a:pt x="167" y="324"/>
                </a:cubicBezTo>
                <a:cubicBezTo>
                  <a:pt x="175" y="324"/>
                  <a:pt x="179" y="326"/>
                  <a:pt x="179" y="330"/>
                </a:cubicBezTo>
                <a:cubicBezTo>
                  <a:pt x="179" y="334"/>
                  <a:pt x="178" y="340"/>
                  <a:pt x="174" y="350"/>
                </a:cubicBezTo>
                <a:cubicBezTo>
                  <a:pt x="170" y="360"/>
                  <a:pt x="165" y="371"/>
                  <a:pt x="158" y="382"/>
                </a:cubicBezTo>
                <a:cubicBezTo>
                  <a:pt x="151" y="394"/>
                  <a:pt x="141" y="405"/>
                  <a:pt x="129" y="414"/>
                </a:cubicBezTo>
                <a:cubicBezTo>
                  <a:pt x="117" y="424"/>
                  <a:pt x="104" y="428"/>
                  <a:pt x="90" y="428"/>
                </a:cubicBezTo>
                <a:cubicBezTo>
                  <a:pt x="76" y="428"/>
                  <a:pt x="64" y="424"/>
                  <a:pt x="52" y="415"/>
                </a:cubicBezTo>
                <a:cubicBezTo>
                  <a:pt x="41" y="406"/>
                  <a:pt x="35" y="392"/>
                  <a:pt x="34" y="374"/>
                </a:cubicBezTo>
                <a:cubicBezTo>
                  <a:pt x="34" y="367"/>
                  <a:pt x="36" y="360"/>
                  <a:pt x="38" y="354"/>
                </a:cubicBezTo>
                <a:cubicBezTo>
                  <a:pt x="40" y="347"/>
                  <a:pt x="49" y="323"/>
                  <a:pt x="65" y="281"/>
                </a:cubicBezTo>
                <a:cubicBezTo>
                  <a:pt x="81" y="239"/>
                  <a:pt x="90" y="213"/>
                  <a:pt x="93" y="204"/>
                </a:cubicBezTo>
                <a:cubicBezTo>
                  <a:pt x="96" y="196"/>
                  <a:pt x="97" y="188"/>
                  <a:pt x="97" y="180"/>
                </a:cubicBezTo>
                <a:cubicBezTo>
                  <a:pt x="97" y="169"/>
                  <a:pt x="94" y="164"/>
                  <a:pt x="87" y="164"/>
                </a:cubicBezTo>
                <a:lnTo>
                  <a:pt x="85" y="164"/>
                </a:lnTo>
                <a:cubicBezTo>
                  <a:pt x="73" y="164"/>
                  <a:pt x="61" y="171"/>
                  <a:pt x="50" y="185"/>
                </a:cubicBezTo>
                <a:cubicBezTo>
                  <a:pt x="40" y="199"/>
                  <a:pt x="31" y="217"/>
                  <a:pt x="25" y="239"/>
                </a:cubicBezTo>
                <a:cubicBezTo>
                  <a:pt x="25" y="239"/>
                  <a:pt x="24" y="240"/>
                  <a:pt x="24" y="241"/>
                </a:cubicBezTo>
                <a:cubicBezTo>
                  <a:pt x="24" y="241"/>
                  <a:pt x="23" y="242"/>
                  <a:pt x="23" y="243"/>
                </a:cubicBezTo>
                <a:lnTo>
                  <a:pt x="22" y="244"/>
                </a:lnTo>
                <a:cubicBezTo>
                  <a:pt x="21" y="244"/>
                  <a:pt x="21" y="244"/>
                  <a:pt x="20" y="244"/>
                </a:cubicBezTo>
                <a:cubicBezTo>
                  <a:pt x="20" y="244"/>
                  <a:pt x="19" y="244"/>
                  <a:pt x="18" y="244"/>
                </a:cubicBezTo>
                <a:cubicBezTo>
                  <a:pt x="16" y="244"/>
                  <a:pt x="15" y="244"/>
                  <a:pt x="12" y="244"/>
                </a:cubicBezTo>
                <a:lnTo>
                  <a:pt x="4" y="244"/>
                </a:lnTo>
                <a:cubicBezTo>
                  <a:pt x="1" y="242"/>
                  <a:pt x="0" y="240"/>
                  <a:pt x="0" y="239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176" name="テキスト ボックス 175"/>
          <p:cNvSpPr txBox="1"/>
          <p:nvPr/>
        </p:nvSpPr>
        <p:spPr>
          <a:xfrm>
            <a:off x="660690" y="4027320"/>
            <a:ext cx="416781" cy="2503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altLang="en-US" sz="1627" b="1">
                <a:solidFill>
                  <a:srgbClr val="1F2328"/>
                </a:solidFill>
                <a:latin typeface="HiraginoSans-W6"/>
                <a:ea typeface="HiraginoSans-W6"/>
              </a:rPr>
              <a:t>速度</a:t>
            </a:r>
            <a:endParaRPr lang="en-US" sz="1627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177" name="テキスト ボックス 176"/>
          <p:cNvSpPr txBox="1"/>
          <p:nvPr/>
        </p:nvSpPr>
        <p:spPr>
          <a:xfrm>
            <a:off x="2289600" y="4027320"/>
            <a:ext cx="1250342" cy="2503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altLang="en-US" sz="1627">
                <a:solidFill>
                  <a:srgbClr val="1F2328"/>
                </a:solidFill>
                <a:latin typeface="HiraginoSans-W4"/>
                <a:ea typeface="HiraginoSans-W4"/>
              </a:rPr>
              <a:t>移動ベクトル</a:t>
            </a:r>
            <a:endParaRPr lang="en-US" sz="1627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178" name="フリーフォーム 177"/>
          <p:cNvSpPr/>
          <p:nvPr/>
        </p:nvSpPr>
        <p:spPr>
          <a:xfrm>
            <a:off x="1778490" y="4507650"/>
            <a:ext cx="139050" cy="156600"/>
          </a:xfrm>
          <a:custGeom>
            <a:avLst/>
            <a:gdLst/>
            <a:ahLst/>
            <a:cxnLst/>
            <a:rect l="0" t="0" r="r" b="b"/>
            <a:pathLst>
              <a:path w="515" h="580">
                <a:moveTo>
                  <a:pt x="3" y="7"/>
                </a:moveTo>
                <a:lnTo>
                  <a:pt x="85" y="3"/>
                </a:lnTo>
                <a:cubicBezTo>
                  <a:pt x="139" y="1"/>
                  <a:pt x="167" y="0"/>
                  <a:pt x="168" y="0"/>
                </a:cubicBezTo>
                <a:lnTo>
                  <a:pt x="173" y="0"/>
                </a:lnTo>
                <a:lnTo>
                  <a:pt x="173" y="37"/>
                </a:lnTo>
                <a:cubicBezTo>
                  <a:pt x="174" y="37"/>
                  <a:pt x="176" y="36"/>
                  <a:pt x="180" y="33"/>
                </a:cubicBezTo>
                <a:cubicBezTo>
                  <a:pt x="184" y="31"/>
                  <a:pt x="191" y="28"/>
                  <a:pt x="200" y="24"/>
                </a:cubicBezTo>
                <a:cubicBezTo>
                  <a:pt x="209" y="21"/>
                  <a:pt x="219" y="17"/>
                  <a:pt x="230" y="12"/>
                </a:cubicBezTo>
                <a:cubicBezTo>
                  <a:pt x="240" y="8"/>
                  <a:pt x="254" y="5"/>
                  <a:pt x="269" y="3"/>
                </a:cubicBezTo>
                <a:cubicBezTo>
                  <a:pt x="285" y="2"/>
                  <a:pt x="301" y="0"/>
                  <a:pt x="318" y="0"/>
                </a:cubicBezTo>
                <a:cubicBezTo>
                  <a:pt x="378" y="0"/>
                  <a:pt x="425" y="18"/>
                  <a:pt x="461" y="56"/>
                </a:cubicBezTo>
                <a:cubicBezTo>
                  <a:pt x="497" y="94"/>
                  <a:pt x="515" y="143"/>
                  <a:pt x="515" y="205"/>
                </a:cubicBezTo>
                <a:cubicBezTo>
                  <a:pt x="515" y="262"/>
                  <a:pt x="497" y="311"/>
                  <a:pt x="460" y="351"/>
                </a:cubicBezTo>
                <a:cubicBezTo>
                  <a:pt x="423" y="391"/>
                  <a:pt x="370" y="411"/>
                  <a:pt x="299" y="411"/>
                </a:cubicBezTo>
                <a:lnTo>
                  <a:pt x="293" y="411"/>
                </a:lnTo>
                <a:cubicBezTo>
                  <a:pt x="255" y="411"/>
                  <a:pt x="220" y="401"/>
                  <a:pt x="186" y="380"/>
                </a:cubicBezTo>
                <a:lnTo>
                  <a:pt x="178" y="375"/>
                </a:lnTo>
                <a:lnTo>
                  <a:pt x="178" y="524"/>
                </a:lnTo>
                <a:lnTo>
                  <a:pt x="240" y="524"/>
                </a:lnTo>
                <a:lnTo>
                  <a:pt x="240" y="580"/>
                </a:lnTo>
                <a:lnTo>
                  <a:pt x="232" y="580"/>
                </a:lnTo>
                <a:cubicBezTo>
                  <a:pt x="222" y="578"/>
                  <a:pt x="184" y="577"/>
                  <a:pt x="121" y="577"/>
                </a:cubicBezTo>
                <a:cubicBezTo>
                  <a:pt x="57" y="577"/>
                  <a:pt x="19" y="578"/>
                  <a:pt x="8" y="580"/>
                </a:cubicBezTo>
                <a:lnTo>
                  <a:pt x="0" y="580"/>
                </a:lnTo>
                <a:lnTo>
                  <a:pt x="0" y="524"/>
                </a:lnTo>
                <a:lnTo>
                  <a:pt x="62" y="524"/>
                </a:lnTo>
                <a:lnTo>
                  <a:pt x="62" y="304"/>
                </a:lnTo>
                <a:lnTo>
                  <a:pt x="62" y="150"/>
                </a:lnTo>
                <a:cubicBezTo>
                  <a:pt x="62" y="123"/>
                  <a:pt x="62" y="103"/>
                  <a:pt x="61" y="93"/>
                </a:cubicBezTo>
                <a:cubicBezTo>
                  <a:pt x="61" y="81"/>
                  <a:pt x="60" y="74"/>
                  <a:pt x="58" y="72"/>
                </a:cubicBezTo>
                <a:cubicBezTo>
                  <a:pt x="56" y="69"/>
                  <a:pt x="53" y="68"/>
                  <a:pt x="49" y="66"/>
                </a:cubicBezTo>
                <a:cubicBezTo>
                  <a:pt x="40" y="64"/>
                  <a:pt x="28" y="63"/>
                  <a:pt x="12" y="63"/>
                </a:cubicBezTo>
                <a:lnTo>
                  <a:pt x="0" y="63"/>
                </a:lnTo>
                <a:lnTo>
                  <a:pt x="0" y="7"/>
                </a:lnTo>
                <a:lnTo>
                  <a:pt x="3" y="7"/>
                </a:lnTo>
                <a:moveTo>
                  <a:pt x="386" y="204"/>
                </a:moveTo>
                <a:cubicBezTo>
                  <a:pt x="386" y="157"/>
                  <a:pt x="377" y="119"/>
                  <a:pt x="359" y="92"/>
                </a:cubicBezTo>
                <a:cubicBezTo>
                  <a:pt x="341" y="63"/>
                  <a:pt x="317" y="49"/>
                  <a:pt x="289" y="49"/>
                </a:cubicBezTo>
                <a:cubicBezTo>
                  <a:pt x="248" y="49"/>
                  <a:pt x="214" y="62"/>
                  <a:pt x="186" y="89"/>
                </a:cubicBezTo>
                <a:lnTo>
                  <a:pt x="178" y="95"/>
                </a:lnTo>
                <a:lnTo>
                  <a:pt x="178" y="312"/>
                </a:lnTo>
                <a:lnTo>
                  <a:pt x="184" y="318"/>
                </a:lnTo>
                <a:cubicBezTo>
                  <a:pt x="208" y="350"/>
                  <a:pt x="240" y="365"/>
                  <a:pt x="277" y="365"/>
                </a:cubicBezTo>
                <a:cubicBezTo>
                  <a:pt x="305" y="365"/>
                  <a:pt x="330" y="353"/>
                  <a:pt x="353" y="328"/>
                </a:cubicBezTo>
                <a:cubicBezTo>
                  <a:pt x="375" y="304"/>
                  <a:pt x="386" y="262"/>
                  <a:pt x="386" y="20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179" name="フリーフォーム 178"/>
          <p:cNvSpPr/>
          <p:nvPr/>
        </p:nvSpPr>
        <p:spPr>
          <a:xfrm>
            <a:off x="1938330" y="4539780"/>
            <a:ext cx="48600" cy="115830"/>
          </a:xfrm>
          <a:custGeom>
            <a:avLst/>
            <a:gdLst/>
            <a:ahLst/>
            <a:cxnLst/>
            <a:rect l="0" t="0" r="r" b="b"/>
            <a:pathLst>
              <a:path w="180" h="429">
                <a:moveTo>
                  <a:pt x="105" y="39"/>
                </a:moveTo>
                <a:cubicBezTo>
                  <a:pt x="105" y="29"/>
                  <a:pt x="109" y="20"/>
                  <a:pt x="117" y="12"/>
                </a:cubicBezTo>
                <a:cubicBezTo>
                  <a:pt x="125" y="5"/>
                  <a:pt x="134" y="1"/>
                  <a:pt x="145" y="0"/>
                </a:cubicBezTo>
                <a:cubicBezTo>
                  <a:pt x="152" y="0"/>
                  <a:pt x="159" y="3"/>
                  <a:pt x="164" y="8"/>
                </a:cubicBezTo>
                <a:cubicBezTo>
                  <a:pt x="169" y="13"/>
                  <a:pt x="172" y="19"/>
                  <a:pt x="172" y="27"/>
                </a:cubicBezTo>
                <a:cubicBezTo>
                  <a:pt x="172" y="37"/>
                  <a:pt x="168" y="46"/>
                  <a:pt x="159" y="54"/>
                </a:cubicBezTo>
                <a:cubicBezTo>
                  <a:pt x="151" y="62"/>
                  <a:pt x="142" y="66"/>
                  <a:pt x="131" y="66"/>
                </a:cubicBezTo>
                <a:cubicBezTo>
                  <a:pt x="125" y="66"/>
                  <a:pt x="119" y="64"/>
                  <a:pt x="114" y="60"/>
                </a:cubicBezTo>
                <a:cubicBezTo>
                  <a:pt x="108" y="56"/>
                  <a:pt x="105" y="49"/>
                  <a:pt x="105" y="39"/>
                </a:cubicBezTo>
                <a:moveTo>
                  <a:pt x="0" y="238"/>
                </a:moveTo>
                <a:cubicBezTo>
                  <a:pt x="0" y="235"/>
                  <a:pt x="2" y="228"/>
                  <a:pt x="6" y="218"/>
                </a:cubicBezTo>
                <a:cubicBezTo>
                  <a:pt x="10" y="209"/>
                  <a:pt x="15" y="198"/>
                  <a:pt x="21" y="186"/>
                </a:cubicBezTo>
                <a:cubicBezTo>
                  <a:pt x="27" y="174"/>
                  <a:pt x="38" y="163"/>
                  <a:pt x="50" y="153"/>
                </a:cubicBezTo>
                <a:cubicBezTo>
                  <a:pt x="62" y="144"/>
                  <a:pt x="75" y="139"/>
                  <a:pt x="88" y="139"/>
                </a:cubicBezTo>
                <a:cubicBezTo>
                  <a:pt x="105" y="139"/>
                  <a:pt x="118" y="144"/>
                  <a:pt x="130" y="154"/>
                </a:cubicBezTo>
                <a:cubicBezTo>
                  <a:pt x="141" y="164"/>
                  <a:pt x="146" y="177"/>
                  <a:pt x="147" y="194"/>
                </a:cubicBezTo>
                <a:cubicBezTo>
                  <a:pt x="147" y="201"/>
                  <a:pt x="144" y="213"/>
                  <a:pt x="138" y="229"/>
                </a:cubicBezTo>
                <a:cubicBezTo>
                  <a:pt x="132" y="247"/>
                  <a:pt x="123" y="269"/>
                  <a:pt x="112" y="297"/>
                </a:cubicBezTo>
                <a:cubicBezTo>
                  <a:pt x="101" y="325"/>
                  <a:pt x="92" y="349"/>
                  <a:pt x="86" y="369"/>
                </a:cubicBezTo>
                <a:cubicBezTo>
                  <a:pt x="84" y="378"/>
                  <a:pt x="82" y="385"/>
                  <a:pt x="82" y="389"/>
                </a:cubicBezTo>
                <a:cubicBezTo>
                  <a:pt x="82" y="400"/>
                  <a:pt x="86" y="405"/>
                  <a:pt x="93" y="405"/>
                </a:cubicBezTo>
                <a:cubicBezTo>
                  <a:pt x="97" y="405"/>
                  <a:pt x="101" y="404"/>
                  <a:pt x="105" y="403"/>
                </a:cubicBezTo>
                <a:cubicBezTo>
                  <a:pt x="110" y="402"/>
                  <a:pt x="114" y="399"/>
                  <a:pt x="120" y="394"/>
                </a:cubicBezTo>
                <a:cubicBezTo>
                  <a:pt x="125" y="390"/>
                  <a:pt x="131" y="382"/>
                  <a:pt x="137" y="372"/>
                </a:cubicBezTo>
                <a:cubicBezTo>
                  <a:pt x="143" y="362"/>
                  <a:pt x="148" y="349"/>
                  <a:pt x="153" y="334"/>
                </a:cubicBezTo>
                <a:cubicBezTo>
                  <a:pt x="154" y="329"/>
                  <a:pt x="155" y="326"/>
                  <a:pt x="156" y="326"/>
                </a:cubicBezTo>
                <a:cubicBezTo>
                  <a:pt x="157" y="325"/>
                  <a:pt x="161" y="324"/>
                  <a:pt x="167" y="324"/>
                </a:cubicBezTo>
                <a:cubicBezTo>
                  <a:pt x="176" y="324"/>
                  <a:pt x="180" y="326"/>
                  <a:pt x="180" y="331"/>
                </a:cubicBezTo>
                <a:cubicBezTo>
                  <a:pt x="180" y="334"/>
                  <a:pt x="178" y="341"/>
                  <a:pt x="174" y="350"/>
                </a:cubicBezTo>
                <a:cubicBezTo>
                  <a:pt x="170" y="360"/>
                  <a:pt x="165" y="371"/>
                  <a:pt x="158" y="383"/>
                </a:cubicBezTo>
                <a:cubicBezTo>
                  <a:pt x="151" y="395"/>
                  <a:pt x="142" y="405"/>
                  <a:pt x="130" y="415"/>
                </a:cubicBezTo>
                <a:cubicBezTo>
                  <a:pt x="117" y="424"/>
                  <a:pt x="104" y="429"/>
                  <a:pt x="90" y="429"/>
                </a:cubicBezTo>
                <a:cubicBezTo>
                  <a:pt x="77" y="429"/>
                  <a:pt x="64" y="424"/>
                  <a:pt x="53" y="415"/>
                </a:cubicBezTo>
                <a:cubicBezTo>
                  <a:pt x="41" y="406"/>
                  <a:pt x="35" y="393"/>
                  <a:pt x="35" y="375"/>
                </a:cubicBezTo>
                <a:cubicBezTo>
                  <a:pt x="35" y="367"/>
                  <a:pt x="36" y="361"/>
                  <a:pt x="38" y="354"/>
                </a:cubicBezTo>
                <a:cubicBezTo>
                  <a:pt x="40" y="348"/>
                  <a:pt x="49" y="324"/>
                  <a:pt x="65" y="282"/>
                </a:cubicBezTo>
                <a:cubicBezTo>
                  <a:pt x="81" y="238"/>
                  <a:pt x="91" y="212"/>
                  <a:pt x="93" y="204"/>
                </a:cubicBezTo>
                <a:cubicBezTo>
                  <a:pt x="96" y="195"/>
                  <a:pt x="97" y="187"/>
                  <a:pt x="98" y="179"/>
                </a:cubicBezTo>
                <a:cubicBezTo>
                  <a:pt x="98" y="169"/>
                  <a:pt x="94" y="164"/>
                  <a:pt x="87" y="164"/>
                </a:cubicBezTo>
                <a:lnTo>
                  <a:pt x="86" y="164"/>
                </a:lnTo>
                <a:cubicBezTo>
                  <a:pt x="73" y="164"/>
                  <a:pt x="61" y="171"/>
                  <a:pt x="51" y="185"/>
                </a:cubicBezTo>
                <a:cubicBezTo>
                  <a:pt x="40" y="199"/>
                  <a:pt x="32" y="216"/>
                  <a:pt x="25" y="238"/>
                </a:cubicBezTo>
                <a:cubicBezTo>
                  <a:pt x="25" y="238"/>
                  <a:pt x="25" y="240"/>
                  <a:pt x="24" y="241"/>
                </a:cubicBezTo>
                <a:cubicBezTo>
                  <a:pt x="24" y="242"/>
                  <a:pt x="24" y="242"/>
                  <a:pt x="24" y="243"/>
                </a:cubicBezTo>
                <a:cubicBezTo>
                  <a:pt x="24" y="243"/>
                  <a:pt x="23" y="244"/>
                  <a:pt x="22" y="244"/>
                </a:cubicBezTo>
                <a:cubicBezTo>
                  <a:pt x="21" y="245"/>
                  <a:pt x="21" y="245"/>
                  <a:pt x="20" y="245"/>
                </a:cubicBezTo>
                <a:cubicBezTo>
                  <a:pt x="20" y="245"/>
                  <a:pt x="19" y="245"/>
                  <a:pt x="18" y="245"/>
                </a:cubicBezTo>
                <a:cubicBezTo>
                  <a:pt x="17" y="245"/>
                  <a:pt x="15" y="245"/>
                  <a:pt x="13" y="245"/>
                </a:cubicBezTo>
                <a:lnTo>
                  <a:pt x="4" y="245"/>
                </a:lnTo>
                <a:cubicBezTo>
                  <a:pt x="1" y="242"/>
                  <a:pt x="0" y="240"/>
                  <a:pt x="0" y="238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180" name="テキスト ボックス 179"/>
          <p:cNvSpPr txBox="1"/>
          <p:nvPr/>
        </p:nvSpPr>
        <p:spPr>
          <a:xfrm>
            <a:off x="660690" y="4427460"/>
            <a:ext cx="833562" cy="2503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altLang="en-US" sz="1627" b="1">
                <a:solidFill>
                  <a:srgbClr val="1F2328"/>
                </a:solidFill>
                <a:latin typeface="HiraginoSans-W6"/>
                <a:ea typeface="HiraginoSans-W6"/>
              </a:rPr>
              <a:t>個体最良</a:t>
            </a:r>
            <a:endParaRPr lang="en-US" sz="1627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181" name="テキスト ボックス 180"/>
          <p:cNvSpPr txBox="1"/>
          <p:nvPr/>
        </p:nvSpPr>
        <p:spPr>
          <a:xfrm>
            <a:off x="2289600" y="4427460"/>
            <a:ext cx="2383666" cy="2503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altLang="en-US" sz="1627">
                <a:solidFill>
                  <a:srgbClr val="1F2328"/>
                </a:solidFill>
                <a:latin typeface="HiraginoSans-W4"/>
                <a:ea typeface="HiraginoSans-W4"/>
              </a:rPr>
              <a:t>⾃⼰の最良位置（</a:t>
            </a:r>
            <a:r>
              <a:rPr lang="en-US" sz="1627">
                <a:solidFill>
                  <a:srgbClr val="1F2328"/>
                </a:solidFill>
                <a:latin typeface="Arial"/>
                <a:ea typeface="Arial"/>
              </a:rPr>
              <a:t>pbest</a:t>
            </a:r>
            <a:r>
              <a:rPr lang="ja-JP" altLang="en-US" sz="1627">
                <a:solidFill>
                  <a:srgbClr val="1F2328"/>
                </a:solidFill>
                <a:latin typeface="HiraginoSans-W4"/>
                <a:ea typeface="HiraginoSans-W4"/>
              </a:rPr>
              <a:t>）</a:t>
            </a:r>
            <a:endParaRPr lang="en-US" sz="1627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182" name="フリーフォーム 181"/>
          <p:cNvSpPr/>
          <p:nvPr/>
        </p:nvSpPr>
        <p:spPr>
          <a:xfrm>
            <a:off x="1828710" y="4907520"/>
            <a:ext cx="128790" cy="159840"/>
          </a:xfrm>
          <a:custGeom>
            <a:avLst/>
            <a:gdLst/>
            <a:ahLst/>
            <a:cxnLst/>
            <a:rect l="0" t="0" r="r" b="b"/>
            <a:pathLst>
              <a:path w="477" h="592">
                <a:moveTo>
                  <a:pt x="18" y="141"/>
                </a:moveTo>
                <a:cubicBezTo>
                  <a:pt x="18" y="100"/>
                  <a:pt x="35" y="67"/>
                  <a:pt x="68" y="42"/>
                </a:cubicBezTo>
                <a:cubicBezTo>
                  <a:pt x="101" y="17"/>
                  <a:pt x="147" y="5"/>
                  <a:pt x="204" y="5"/>
                </a:cubicBezTo>
                <a:cubicBezTo>
                  <a:pt x="248" y="5"/>
                  <a:pt x="284" y="12"/>
                  <a:pt x="313" y="26"/>
                </a:cubicBezTo>
                <a:lnTo>
                  <a:pt x="324" y="32"/>
                </a:lnTo>
                <a:cubicBezTo>
                  <a:pt x="352" y="11"/>
                  <a:pt x="382" y="0"/>
                  <a:pt x="415" y="0"/>
                </a:cubicBezTo>
                <a:cubicBezTo>
                  <a:pt x="431" y="0"/>
                  <a:pt x="445" y="5"/>
                  <a:pt x="454" y="13"/>
                </a:cubicBezTo>
                <a:cubicBezTo>
                  <a:pt x="464" y="21"/>
                  <a:pt x="470" y="29"/>
                  <a:pt x="473" y="37"/>
                </a:cubicBezTo>
                <a:cubicBezTo>
                  <a:pt x="476" y="46"/>
                  <a:pt x="477" y="54"/>
                  <a:pt x="477" y="61"/>
                </a:cubicBezTo>
                <a:cubicBezTo>
                  <a:pt x="477" y="74"/>
                  <a:pt x="472" y="85"/>
                  <a:pt x="464" y="93"/>
                </a:cubicBezTo>
                <a:cubicBezTo>
                  <a:pt x="456" y="102"/>
                  <a:pt x="445" y="106"/>
                  <a:pt x="432" y="106"/>
                </a:cubicBezTo>
                <a:cubicBezTo>
                  <a:pt x="417" y="106"/>
                  <a:pt x="406" y="101"/>
                  <a:pt x="398" y="92"/>
                </a:cubicBezTo>
                <a:cubicBezTo>
                  <a:pt x="391" y="83"/>
                  <a:pt x="387" y="73"/>
                  <a:pt x="387" y="63"/>
                </a:cubicBezTo>
                <a:cubicBezTo>
                  <a:pt x="387" y="57"/>
                  <a:pt x="388" y="53"/>
                  <a:pt x="390" y="51"/>
                </a:cubicBezTo>
                <a:cubicBezTo>
                  <a:pt x="391" y="50"/>
                  <a:pt x="391" y="50"/>
                  <a:pt x="389" y="51"/>
                </a:cubicBezTo>
                <a:cubicBezTo>
                  <a:pt x="388" y="51"/>
                  <a:pt x="386" y="51"/>
                  <a:pt x="383" y="52"/>
                </a:cubicBezTo>
                <a:cubicBezTo>
                  <a:pt x="368" y="56"/>
                  <a:pt x="360" y="59"/>
                  <a:pt x="359" y="60"/>
                </a:cubicBezTo>
                <a:cubicBezTo>
                  <a:pt x="375" y="82"/>
                  <a:pt x="385" y="101"/>
                  <a:pt x="388" y="116"/>
                </a:cubicBezTo>
                <a:cubicBezTo>
                  <a:pt x="389" y="123"/>
                  <a:pt x="389" y="132"/>
                  <a:pt x="389" y="141"/>
                </a:cubicBezTo>
                <a:cubicBezTo>
                  <a:pt x="389" y="177"/>
                  <a:pt x="377" y="206"/>
                  <a:pt x="352" y="229"/>
                </a:cubicBezTo>
                <a:cubicBezTo>
                  <a:pt x="319" y="261"/>
                  <a:pt x="267" y="277"/>
                  <a:pt x="198" y="277"/>
                </a:cubicBezTo>
                <a:cubicBezTo>
                  <a:pt x="160" y="277"/>
                  <a:pt x="126" y="270"/>
                  <a:pt x="96" y="256"/>
                </a:cubicBezTo>
                <a:cubicBezTo>
                  <a:pt x="92" y="264"/>
                  <a:pt x="90" y="272"/>
                  <a:pt x="90" y="278"/>
                </a:cubicBezTo>
                <a:cubicBezTo>
                  <a:pt x="90" y="303"/>
                  <a:pt x="102" y="320"/>
                  <a:pt x="127" y="327"/>
                </a:cubicBezTo>
                <a:cubicBezTo>
                  <a:pt x="131" y="328"/>
                  <a:pt x="159" y="329"/>
                  <a:pt x="211" y="329"/>
                </a:cubicBezTo>
                <a:cubicBezTo>
                  <a:pt x="217" y="329"/>
                  <a:pt x="228" y="329"/>
                  <a:pt x="243" y="329"/>
                </a:cubicBezTo>
                <a:cubicBezTo>
                  <a:pt x="258" y="329"/>
                  <a:pt x="268" y="329"/>
                  <a:pt x="275" y="329"/>
                </a:cubicBezTo>
                <a:cubicBezTo>
                  <a:pt x="282" y="329"/>
                  <a:pt x="291" y="330"/>
                  <a:pt x="304" y="331"/>
                </a:cubicBezTo>
                <a:cubicBezTo>
                  <a:pt x="316" y="332"/>
                  <a:pt x="327" y="333"/>
                  <a:pt x="334" y="334"/>
                </a:cubicBezTo>
                <a:cubicBezTo>
                  <a:pt x="342" y="336"/>
                  <a:pt x="352" y="338"/>
                  <a:pt x="363" y="342"/>
                </a:cubicBezTo>
                <a:cubicBezTo>
                  <a:pt x="375" y="345"/>
                  <a:pt x="385" y="349"/>
                  <a:pt x="394" y="353"/>
                </a:cubicBezTo>
                <a:cubicBezTo>
                  <a:pt x="441" y="378"/>
                  <a:pt x="464" y="418"/>
                  <a:pt x="464" y="473"/>
                </a:cubicBezTo>
                <a:cubicBezTo>
                  <a:pt x="464" y="500"/>
                  <a:pt x="453" y="523"/>
                  <a:pt x="430" y="541"/>
                </a:cubicBezTo>
                <a:cubicBezTo>
                  <a:pt x="389" y="575"/>
                  <a:pt x="323" y="592"/>
                  <a:pt x="233" y="592"/>
                </a:cubicBezTo>
                <a:cubicBezTo>
                  <a:pt x="150" y="592"/>
                  <a:pt x="90" y="580"/>
                  <a:pt x="54" y="556"/>
                </a:cubicBezTo>
                <a:cubicBezTo>
                  <a:pt x="19" y="532"/>
                  <a:pt x="1" y="504"/>
                  <a:pt x="0" y="474"/>
                </a:cubicBezTo>
                <a:cubicBezTo>
                  <a:pt x="0" y="467"/>
                  <a:pt x="1" y="460"/>
                  <a:pt x="3" y="453"/>
                </a:cubicBezTo>
                <a:cubicBezTo>
                  <a:pt x="5" y="447"/>
                  <a:pt x="8" y="441"/>
                  <a:pt x="11" y="435"/>
                </a:cubicBezTo>
                <a:cubicBezTo>
                  <a:pt x="15" y="430"/>
                  <a:pt x="18" y="426"/>
                  <a:pt x="22" y="423"/>
                </a:cubicBezTo>
                <a:cubicBezTo>
                  <a:pt x="26" y="420"/>
                  <a:pt x="30" y="416"/>
                  <a:pt x="36" y="412"/>
                </a:cubicBezTo>
                <a:cubicBezTo>
                  <a:pt x="41" y="408"/>
                  <a:pt x="45" y="405"/>
                  <a:pt x="47" y="405"/>
                </a:cubicBezTo>
                <a:cubicBezTo>
                  <a:pt x="50" y="405"/>
                  <a:pt x="53" y="404"/>
                  <a:pt x="58" y="400"/>
                </a:cubicBezTo>
                <a:cubicBezTo>
                  <a:pt x="63" y="396"/>
                  <a:pt x="65" y="396"/>
                  <a:pt x="64" y="397"/>
                </a:cubicBezTo>
                <a:cubicBezTo>
                  <a:pt x="43" y="372"/>
                  <a:pt x="33" y="345"/>
                  <a:pt x="33" y="315"/>
                </a:cubicBezTo>
                <a:cubicBezTo>
                  <a:pt x="33" y="288"/>
                  <a:pt x="40" y="264"/>
                  <a:pt x="54" y="243"/>
                </a:cubicBezTo>
                <a:lnTo>
                  <a:pt x="61" y="234"/>
                </a:lnTo>
                <a:lnTo>
                  <a:pt x="54" y="227"/>
                </a:lnTo>
                <a:cubicBezTo>
                  <a:pt x="30" y="204"/>
                  <a:pt x="18" y="175"/>
                  <a:pt x="18" y="141"/>
                </a:cubicBezTo>
                <a:moveTo>
                  <a:pt x="411" y="48"/>
                </a:moveTo>
                <a:lnTo>
                  <a:pt x="417" y="48"/>
                </a:lnTo>
                <a:cubicBezTo>
                  <a:pt x="417" y="48"/>
                  <a:pt x="415" y="47"/>
                  <a:pt x="414" y="47"/>
                </a:cubicBezTo>
                <a:lnTo>
                  <a:pt x="411" y="48"/>
                </a:lnTo>
                <a:moveTo>
                  <a:pt x="204" y="231"/>
                </a:moveTo>
                <a:cubicBezTo>
                  <a:pt x="218" y="231"/>
                  <a:pt x="230" y="229"/>
                  <a:pt x="240" y="225"/>
                </a:cubicBezTo>
                <a:cubicBezTo>
                  <a:pt x="250" y="222"/>
                  <a:pt x="257" y="218"/>
                  <a:pt x="262" y="214"/>
                </a:cubicBezTo>
                <a:cubicBezTo>
                  <a:pt x="266" y="210"/>
                  <a:pt x="270" y="203"/>
                  <a:pt x="272" y="193"/>
                </a:cubicBezTo>
                <a:cubicBezTo>
                  <a:pt x="275" y="183"/>
                  <a:pt x="276" y="176"/>
                  <a:pt x="276" y="170"/>
                </a:cubicBezTo>
                <a:cubicBezTo>
                  <a:pt x="276" y="164"/>
                  <a:pt x="276" y="154"/>
                  <a:pt x="277" y="141"/>
                </a:cubicBezTo>
                <a:cubicBezTo>
                  <a:pt x="277" y="119"/>
                  <a:pt x="276" y="103"/>
                  <a:pt x="274" y="94"/>
                </a:cubicBezTo>
                <a:cubicBezTo>
                  <a:pt x="272" y="85"/>
                  <a:pt x="268" y="77"/>
                  <a:pt x="260" y="69"/>
                </a:cubicBezTo>
                <a:cubicBezTo>
                  <a:pt x="248" y="57"/>
                  <a:pt x="230" y="52"/>
                  <a:pt x="204" y="52"/>
                </a:cubicBezTo>
                <a:cubicBezTo>
                  <a:pt x="188" y="52"/>
                  <a:pt x="175" y="54"/>
                  <a:pt x="164" y="58"/>
                </a:cubicBezTo>
                <a:cubicBezTo>
                  <a:pt x="154" y="62"/>
                  <a:pt x="147" y="69"/>
                  <a:pt x="143" y="77"/>
                </a:cubicBezTo>
                <a:cubicBezTo>
                  <a:pt x="139" y="85"/>
                  <a:pt x="136" y="93"/>
                  <a:pt x="135" y="100"/>
                </a:cubicBezTo>
                <a:cubicBezTo>
                  <a:pt x="133" y="108"/>
                  <a:pt x="133" y="117"/>
                  <a:pt x="133" y="130"/>
                </a:cubicBezTo>
                <a:lnTo>
                  <a:pt x="133" y="141"/>
                </a:lnTo>
                <a:lnTo>
                  <a:pt x="133" y="151"/>
                </a:lnTo>
                <a:cubicBezTo>
                  <a:pt x="133" y="183"/>
                  <a:pt x="138" y="204"/>
                  <a:pt x="149" y="214"/>
                </a:cubicBezTo>
                <a:cubicBezTo>
                  <a:pt x="162" y="225"/>
                  <a:pt x="180" y="231"/>
                  <a:pt x="204" y="231"/>
                </a:cubicBezTo>
                <a:moveTo>
                  <a:pt x="233" y="546"/>
                </a:moveTo>
                <a:cubicBezTo>
                  <a:pt x="275" y="546"/>
                  <a:pt x="309" y="539"/>
                  <a:pt x="334" y="526"/>
                </a:cubicBezTo>
                <a:cubicBezTo>
                  <a:pt x="360" y="513"/>
                  <a:pt x="373" y="496"/>
                  <a:pt x="373" y="475"/>
                </a:cubicBezTo>
                <a:cubicBezTo>
                  <a:pt x="373" y="471"/>
                  <a:pt x="373" y="468"/>
                  <a:pt x="372" y="466"/>
                </a:cubicBezTo>
                <a:cubicBezTo>
                  <a:pt x="372" y="463"/>
                  <a:pt x="370" y="460"/>
                  <a:pt x="367" y="456"/>
                </a:cubicBezTo>
                <a:cubicBezTo>
                  <a:pt x="364" y="452"/>
                  <a:pt x="359" y="448"/>
                  <a:pt x="352" y="444"/>
                </a:cubicBezTo>
                <a:cubicBezTo>
                  <a:pt x="346" y="441"/>
                  <a:pt x="337" y="438"/>
                  <a:pt x="325" y="435"/>
                </a:cubicBezTo>
                <a:cubicBezTo>
                  <a:pt x="313" y="433"/>
                  <a:pt x="298" y="431"/>
                  <a:pt x="280" y="430"/>
                </a:cubicBezTo>
                <a:lnTo>
                  <a:pt x="252" y="429"/>
                </a:lnTo>
                <a:cubicBezTo>
                  <a:pt x="232" y="429"/>
                  <a:pt x="216" y="429"/>
                  <a:pt x="202" y="429"/>
                </a:cubicBezTo>
                <a:cubicBezTo>
                  <a:pt x="164" y="429"/>
                  <a:pt x="142" y="429"/>
                  <a:pt x="136" y="429"/>
                </a:cubicBezTo>
                <a:cubicBezTo>
                  <a:pt x="130" y="429"/>
                  <a:pt x="123" y="431"/>
                  <a:pt x="114" y="434"/>
                </a:cubicBezTo>
                <a:cubicBezTo>
                  <a:pt x="98" y="441"/>
                  <a:pt x="90" y="454"/>
                  <a:pt x="90" y="473"/>
                </a:cubicBezTo>
                <a:cubicBezTo>
                  <a:pt x="90" y="495"/>
                  <a:pt x="103" y="512"/>
                  <a:pt x="130" y="525"/>
                </a:cubicBezTo>
                <a:cubicBezTo>
                  <a:pt x="156" y="538"/>
                  <a:pt x="190" y="545"/>
                  <a:pt x="233" y="54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183" name="テキスト ボックス 182"/>
          <p:cNvSpPr txBox="1"/>
          <p:nvPr/>
        </p:nvSpPr>
        <p:spPr>
          <a:xfrm>
            <a:off x="660690" y="4834620"/>
            <a:ext cx="833562" cy="2503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altLang="en-US" sz="1627" b="1">
                <a:solidFill>
                  <a:srgbClr val="1F2328"/>
                </a:solidFill>
                <a:latin typeface="HiraginoSans-W6"/>
                <a:ea typeface="HiraginoSans-W6"/>
              </a:rPr>
              <a:t>全体最良</a:t>
            </a:r>
            <a:endParaRPr lang="en-US" sz="1627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184" name="テキスト ボックス 183"/>
          <p:cNvSpPr txBox="1"/>
          <p:nvPr/>
        </p:nvSpPr>
        <p:spPr>
          <a:xfrm>
            <a:off x="2289600" y="4834620"/>
            <a:ext cx="2383666" cy="2503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altLang="en-US" sz="1627">
                <a:solidFill>
                  <a:srgbClr val="1F2328"/>
                </a:solidFill>
                <a:latin typeface="HiraginoSans-W4"/>
                <a:ea typeface="HiraginoSans-W4"/>
              </a:rPr>
              <a:t>群れの最良位置（</a:t>
            </a:r>
            <a:r>
              <a:rPr lang="en-US" sz="1627">
                <a:solidFill>
                  <a:srgbClr val="1F2328"/>
                </a:solidFill>
                <a:latin typeface="Arial"/>
                <a:ea typeface="Arial"/>
              </a:rPr>
              <a:t>gbest</a:t>
            </a:r>
            <a:r>
              <a:rPr lang="ja-JP" altLang="en-US" sz="1627">
                <a:solidFill>
                  <a:srgbClr val="1F2328"/>
                </a:solidFill>
                <a:latin typeface="HiraginoSans-W4"/>
                <a:ea typeface="HiraginoSans-W4"/>
              </a:rPr>
              <a:t>）</a:t>
            </a:r>
            <a:endParaRPr lang="en-US" sz="1627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185" name="テキスト ボックス 184"/>
          <p:cNvSpPr txBox="1"/>
          <p:nvPr/>
        </p:nvSpPr>
        <p:spPr>
          <a:xfrm>
            <a:off x="8834130" y="5624100"/>
            <a:ext cx="96180" cy="2077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>
                <a:solidFill>
                  <a:srgbClr val="777777"/>
                </a:solidFill>
                <a:latin typeface="Arial"/>
                <a:ea typeface="Arial"/>
              </a:rPr>
              <a:t>7</a:t>
            </a:r>
            <a:endParaRPr lang="en-US" sz="1350">
              <a:solidFill>
                <a:srgbClr val="000000"/>
              </a:solidFill>
              <a:latin typeface="ヒラギノ明朝 Pro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/>
          <a:lstStyle/>
          <a:p>
            <a:r>
              <a:rPr kumimoji="1" lang="ja-JP" altLang="en-US" dirty="0"/>
              <a:t>各粒子の持つ情報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D5F38-347F-4466-AB9F-04B1B3000A8E}" type="slidenum">
              <a:rPr kumimoji="1" lang="ja-JP" altLang="en-US" smtClean="0"/>
              <a:t>12</a:t>
            </a:fld>
            <a:endParaRPr kumimoji="1" lang="ja-JP" altLang="en-US"/>
          </a:p>
        </p:txBody>
      </p:sp>
      <p:graphicFrame>
        <p:nvGraphicFramePr>
          <p:cNvPr id="5" name="表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3825967"/>
              </p:ext>
            </p:extLst>
          </p:nvPr>
        </p:nvGraphicFramePr>
        <p:xfrm>
          <a:off x="1752930" y="4854703"/>
          <a:ext cx="4795777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51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1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1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1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1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1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11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正方形/長方形 6"/>
          <p:cNvSpPr/>
          <p:nvPr/>
        </p:nvSpPr>
        <p:spPr>
          <a:xfrm>
            <a:off x="7740241" y="4828137"/>
            <a:ext cx="648183" cy="39740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000"/>
          </a:p>
        </p:txBody>
      </p:sp>
      <p:sp>
        <p:nvSpPr>
          <p:cNvPr id="8" name="正方形/長方形 7"/>
          <p:cNvSpPr/>
          <p:nvPr/>
        </p:nvSpPr>
        <p:spPr>
          <a:xfrm>
            <a:off x="7348229" y="4854703"/>
            <a:ext cx="2632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2000" dirty="0"/>
              <a:t>f</a:t>
            </a:r>
            <a:endParaRPr lang="ja-JP" altLang="en-US" sz="2000" dirty="0"/>
          </a:p>
        </p:txBody>
      </p:sp>
      <p:graphicFrame>
        <p:nvGraphicFramePr>
          <p:cNvPr id="11" name="表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4262734"/>
              </p:ext>
            </p:extLst>
          </p:nvPr>
        </p:nvGraphicFramePr>
        <p:xfrm>
          <a:off x="1763688" y="5468133"/>
          <a:ext cx="4795777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51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1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1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1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1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1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11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正方形/長方形 11"/>
          <p:cNvSpPr/>
          <p:nvPr/>
        </p:nvSpPr>
        <p:spPr>
          <a:xfrm>
            <a:off x="7740241" y="5441567"/>
            <a:ext cx="648183" cy="39740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000"/>
          </a:p>
        </p:txBody>
      </p:sp>
      <p:sp>
        <p:nvSpPr>
          <p:cNvPr id="13" name="正方形/長方形 12"/>
          <p:cNvSpPr/>
          <p:nvPr/>
        </p:nvSpPr>
        <p:spPr>
          <a:xfrm>
            <a:off x="6948264" y="5468133"/>
            <a:ext cx="76687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2000" dirty="0"/>
              <a:t>pbest</a:t>
            </a:r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975886" y="5468133"/>
            <a:ext cx="8182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dirty="0"/>
              <a:t>x_star</a:t>
            </a:r>
            <a:endParaRPr kumimoji="1" lang="ja-JP" altLang="en-US" sz="2000" dirty="0"/>
          </a:p>
        </p:txBody>
      </p:sp>
      <p:sp>
        <p:nvSpPr>
          <p:cNvPr id="15" name="正方形/長方形 14"/>
          <p:cNvSpPr/>
          <p:nvPr/>
        </p:nvSpPr>
        <p:spPr>
          <a:xfrm>
            <a:off x="323528" y="1544666"/>
            <a:ext cx="7242964" cy="23391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000" dirty="0">
                <a:solidFill>
                  <a:srgbClr val="00B050"/>
                </a:solidFill>
              </a:rPr>
              <a:t>/* 粒子の構造体 */</a:t>
            </a:r>
          </a:p>
          <a:p>
            <a:r>
              <a:rPr lang="ja-JP" altLang="en-US" dirty="0"/>
              <a:t>typedef struct {</a:t>
            </a:r>
          </a:p>
          <a:p>
            <a:r>
              <a:rPr lang="ja-JP" altLang="en-US" dirty="0"/>
              <a:t>	double *x;	</a:t>
            </a:r>
            <a:r>
              <a:rPr lang="ja-JP" altLang="en-US" dirty="0">
                <a:solidFill>
                  <a:srgbClr val="00B050"/>
                </a:solidFill>
              </a:rPr>
              <a:t>/* position */</a:t>
            </a:r>
          </a:p>
          <a:p>
            <a:r>
              <a:rPr lang="ja-JP" altLang="en-US" dirty="0"/>
              <a:t>	double *v;	</a:t>
            </a:r>
            <a:r>
              <a:rPr lang="ja-JP" altLang="en-US" dirty="0">
                <a:solidFill>
                  <a:srgbClr val="00B050"/>
                </a:solidFill>
              </a:rPr>
              <a:t>/* velocity */</a:t>
            </a:r>
          </a:p>
          <a:p>
            <a:r>
              <a:rPr lang="ja-JP" altLang="en-US" dirty="0"/>
              <a:t>	double f;	                 </a:t>
            </a:r>
            <a:r>
              <a:rPr lang="ja-JP" altLang="en-US" dirty="0">
                <a:solidFill>
                  <a:srgbClr val="00B050"/>
                </a:solidFill>
              </a:rPr>
              <a:t>/* fitness value */</a:t>
            </a:r>
          </a:p>
          <a:p>
            <a:r>
              <a:rPr lang="ja-JP" altLang="en-US" dirty="0"/>
              <a:t>	double pbest;	</a:t>
            </a:r>
            <a:r>
              <a:rPr lang="ja-JP" altLang="en-US" dirty="0">
                <a:solidFill>
                  <a:srgbClr val="00B050"/>
                </a:solidFill>
              </a:rPr>
              <a:t>/* personal best fitness value */</a:t>
            </a:r>
          </a:p>
          <a:p>
            <a:r>
              <a:rPr lang="ja-JP" altLang="en-US" dirty="0"/>
              <a:t>	double *x_star;	</a:t>
            </a:r>
            <a:r>
              <a:rPr lang="ja-JP" altLang="en-US" dirty="0">
                <a:solidFill>
                  <a:srgbClr val="00B050"/>
                </a:solidFill>
              </a:rPr>
              <a:t>/* personal best position */</a:t>
            </a:r>
          </a:p>
          <a:p>
            <a:r>
              <a:rPr lang="ja-JP" altLang="en-US" dirty="0"/>
              <a:t>} ParticleRec, *Particle;</a:t>
            </a:r>
          </a:p>
        </p:txBody>
      </p:sp>
      <p:graphicFrame>
        <p:nvGraphicFramePr>
          <p:cNvPr id="16" name="表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5584620"/>
              </p:ext>
            </p:extLst>
          </p:nvPr>
        </p:nvGraphicFramePr>
        <p:xfrm>
          <a:off x="1752930" y="6125234"/>
          <a:ext cx="4795777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51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1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1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1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1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1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11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" name="テキスト ボックス 18"/>
          <p:cNvSpPr txBox="1"/>
          <p:nvPr/>
        </p:nvSpPr>
        <p:spPr>
          <a:xfrm>
            <a:off x="1258802" y="6125234"/>
            <a:ext cx="3000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/>
              <a:t>v</a:t>
            </a:r>
            <a:endParaRPr kumimoji="1" lang="ja-JP" altLang="en-US" sz="2000" dirty="0"/>
          </a:p>
        </p:txBody>
      </p:sp>
      <p:sp>
        <p:nvSpPr>
          <p:cNvPr id="20" name="正方形/長方形 19"/>
          <p:cNvSpPr/>
          <p:nvPr/>
        </p:nvSpPr>
        <p:spPr>
          <a:xfrm>
            <a:off x="1244327" y="4842174"/>
            <a:ext cx="29527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2000" dirty="0"/>
              <a:t>x</a:t>
            </a:r>
            <a:endParaRPr lang="ja-JP" altLang="en-US" sz="2000" dirty="0"/>
          </a:p>
        </p:txBody>
      </p:sp>
      <p:sp>
        <p:nvSpPr>
          <p:cNvPr id="22" name="左中かっこ 21"/>
          <p:cNvSpPr/>
          <p:nvPr/>
        </p:nvSpPr>
        <p:spPr>
          <a:xfrm>
            <a:off x="611560" y="4842174"/>
            <a:ext cx="298376" cy="165239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 sz="2000"/>
          </a:p>
        </p:txBody>
      </p:sp>
      <p:sp>
        <p:nvSpPr>
          <p:cNvPr id="23" name="テキスト ボックス 22"/>
          <p:cNvSpPr txBox="1"/>
          <p:nvPr/>
        </p:nvSpPr>
        <p:spPr>
          <a:xfrm>
            <a:off x="218292" y="1114035"/>
            <a:ext cx="29690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/>
              <a:t>PSO</a:t>
            </a:r>
            <a:r>
              <a:rPr lang="ja-JP" altLang="en-US" sz="2000"/>
              <a:t>のサンプルプログラム</a:t>
            </a:r>
            <a:endParaRPr kumimoji="1" lang="ja-JP" altLang="en-US" sz="2000" dirty="0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386607" y="4221728"/>
            <a:ext cx="26324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各粒子の持つ情報</a:t>
            </a:r>
            <a:endParaRPr kumimoji="1" lang="ja-JP" altLang="en-US" sz="2400" dirty="0"/>
          </a:p>
        </p:txBody>
      </p:sp>
      <p:sp>
        <p:nvSpPr>
          <p:cNvPr id="6" name="フリーフォーム 5"/>
          <p:cNvSpPr/>
          <p:nvPr/>
        </p:nvSpPr>
        <p:spPr>
          <a:xfrm>
            <a:off x="6392143" y="1500401"/>
            <a:ext cx="2358567" cy="1547599"/>
          </a:xfrm>
          <a:custGeom>
            <a:avLst/>
            <a:gdLst>
              <a:gd name="connsiteX0" fmla="*/ 38154 w 2358567"/>
              <a:gd name="connsiteY0" fmla="*/ 92425 h 1547599"/>
              <a:gd name="connsiteX1" fmla="*/ 87315 w 2358567"/>
              <a:gd name="connsiteY1" fmla="*/ 151418 h 1547599"/>
              <a:gd name="connsiteX2" fmla="*/ 805070 w 2358567"/>
              <a:gd name="connsiteY2" fmla="*/ 1508270 h 1547599"/>
              <a:gd name="connsiteX3" fmla="*/ 1247522 w 2358567"/>
              <a:gd name="connsiteY3" fmla="*/ 584038 h 1547599"/>
              <a:gd name="connsiteX4" fmla="*/ 1788296 w 2358567"/>
              <a:gd name="connsiteY4" fmla="*/ 1193638 h 1547599"/>
              <a:gd name="connsiteX5" fmla="*/ 2358567 w 2358567"/>
              <a:gd name="connsiteY5" fmla="*/ 1547599 h 1547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58567" h="1547599">
                <a:moveTo>
                  <a:pt x="38154" y="92425"/>
                </a:moveTo>
                <a:cubicBezTo>
                  <a:pt x="-1175" y="3934"/>
                  <a:pt x="-40504" y="-84556"/>
                  <a:pt x="87315" y="151418"/>
                </a:cubicBezTo>
                <a:cubicBezTo>
                  <a:pt x="215134" y="387392"/>
                  <a:pt x="611702" y="1436167"/>
                  <a:pt x="805070" y="1508270"/>
                </a:cubicBezTo>
                <a:cubicBezTo>
                  <a:pt x="998438" y="1580373"/>
                  <a:pt x="1083651" y="636477"/>
                  <a:pt x="1247522" y="584038"/>
                </a:cubicBezTo>
                <a:cubicBezTo>
                  <a:pt x="1411393" y="531599"/>
                  <a:pt x="1603122" y="1033045"/>
                  <a:pt x="1788296" y="1193638"/>
                </a:cubicBezTo>
                <a:cubicBezTo>
                  <a:pt x="1973470" y="1354231"/>
                  <a:pt x="2166018" y="1450915"/>
                  <a:pt x="2358567" y="1547599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楕円 8"/>
          <p:cNvSpPr/>
          <p:nvPr/>
        </p:nvSpPr>
        <p:spPr>
          <a:xfrm>
            <a:off x="7884368" y="1988840"/>
            <a:ext cx="360040" cy="36004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ｘ</a:t>
            </a:r>
          </a:p>
        </p:txBody>
      </p:sp>
      <p:cxnSp>
        <p:nvCxnSpPr>
          <p:cNvPr id="17" name="直線矢印コネクタ 16"/>
          <p:cNvCxnSpPr>
            <a:stCxn id="9" idx="5"/>
          </p:cNvCxnSpPr>
          <p:nvPr/>
        </p:nvCxnSpPr>
        <p:spPr>
          <a:xfrm>
            <a:off x="8191681" y="2296153"/>
            <a:ext cx="412767" cy="3407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/>
          <p:cNvSpPr txBox="1"/>
          <p:nvPr/>
        </p:nvSpPr>
        <p:spPr>
          <a:xfrm>
            <a:off x="8410640" y="2144600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ｖ</a:t>
            </a:r>
          </a:p>
        </p:txBody>
      </p:sp>
      <p:sp>
        <p:nvSpPr>
          <p:cNvPr id="24" name="楕円 23"/>
          <p:cNvSpPr/>
          <p:nvPr/>
        </p:nvSpPr>
        <p:spPr>
          <a:xfrm>
            <a:off x="7079347" y="2310333"/>
            <a:ext cx="360040" cy="36004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6876997" y="1974903"/>
            <a:ext cx="707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/>
              <a:t>pbest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353404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フリーフォーム 95"/>
          <p:cNvSpPr/>
          <p:nvPr/>
        </p:nvSpPr>
        <p:spPr>
          <a:xfrm>
            <a:off x="0" y="857250"/>
            <a:ext cx="9144090" cy="51435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97" name="フリーフォーム 96"/>
          <p:cNvSpPr/>
          <p:nvPr/>
        </p:nvSpPr>
        <p:spPr>
          <a:xfrm>
            <a:off x="0" y="857250"/>
            <a:ext cx="9144090" cy="51435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98" name="フリーフォーム 97"/>
          <p:cNvSpPr/>
          <p:nvPr/>
        </p:nvSpPr>
        <p:spPr>
          <a:xfrm>
            <a:off x="0" y="857250"/>
            <a:ext cx="9144090" cy="51435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99" name="テキスト ボックス 98"/>
          <p:cNvSpPr txBox="1"/>
          <p:nvPr/>
        </p:nvSpPr>
        <p:spPr>
          <a:xfrm>
            <a:off x="500040" y="1349190"/>
            <a:ext cx="3427220" cy="4547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955" b="1">
                <a:solidFill>
                  <a:srgbClr val="455A64"/>
                </a:solidFill>
                <a:latin typeface="Lato"/>
                <a:ea typeface="Lato"/>
              </a:rPr>
              <a:t>3. </a:t>
            </a:r>
            <a:r>
              <a:rPr lang="ja-JP" altLang="en-US" sz="2955" b="1">
                <a:solidFill>
                  <a:srgbClr val="455A64"/>
                </a:solidFill>
                <a:latin typeface="HiraKakuProN-W6"/>
                <a:ea typeface="HiraKakuProN-W6"/>
              </a:rPr>
              <a:t>速度更新式の詳細</a:t>
            </a:r>
            <a:endParaRPr lang="en-US" sz="2955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100" name="フリーフォーム 99"/>
          <p:cNvSpPr/>
          <p:nvPr/>
        </p:nvSpPr>
        <p:spPr>
          <a:xfrm>
            <a:off x="686610" y="2802060"/>
            <a:ext cx="159030" cy="128790"/>
          </a:xfrm>
          <a:custGeom>
            <a:avLst/>
            <a:gdLst/>
            <a:ahLst/>
            <a:cxnLst/>
            <a:rect l="0" t="0" r="r" b="b"/>
            <a:pathLst>
              <a:path w="589" h="477">
                <a:moveTo>
                  <a:pt x="399" y="0"/>
                </a:moveTo>
                <a:cubicBezTo>
                  <a:pt x="407" y="2"/>
                  <a:pt x="441" y="4"/>
                  <a:pt x="499" y="4"/>
                </a:cubicBezTo>
                <a:cubicBezTo>
                  <a:pt x="550" y="4"/>
                  <a:pt x="578" y="2"/>
                  <a:pt x="583" y="0"/>
                </a:cubicBezTo>
                <a:lnTo>
                  <a:pt x="589" y="0"/>
                </a:lnTo>
                <a:lnTo>
                  <a:pt x="589" y="66"/>
                </a:lnTo>
                <a:lnTo>
                  <a:pt x="515" y="66"/>
                </a:lnTo>
                <a:lnTo>
                  <a:pt x="407" y="307"/>
                </a:lnTo>
                <a:cubicBezTo>
                  <a:pt x="364" y="405"/>
                  <a:pt x="340" y="458"/>
                  <a:pt x="333" y="466"/>
                </a:cubicBezTo>
                <a:cubicBezTo>
                  <a:pt x="328" y="473"/>
                  <a:pt x="321" y="477"/>
                  <a:pt x="313" y="477"/>
                </a:cubicBezTo>
                <a:cubicBezTo>
                  <a:pt x="312" y="477"/>
                  <a:pt x="309" y="477"/>
                  <a:pt x="306" y="477"/>
                </a:cubicBezTo>
                <a:cubicBezTo>
                  <a:pt x="302" y="477"/>
                  <a:pt x="299" y="476"/>
                  <a:pt x="295" y="476"/>
                </a:cubicBezTo>
                <a:lnTo>
                  <a:pt x="279" y="476"/>
                </a:lnTo>
                <a:cubicBezTo>
                  <a:pt x="268" y="476"/>
                  <a:pt x="260" y="470"/>
                  <a:pt x="254" y="460"/>
                </a:cubicBezTo>
                <a:cubicBezTo>
                  <a:pt x="247" y="449"/>
                  <a:pt x="232" y="417"/>
                  <a:pt x="208" y="364"/>
                </a:cubicBezTo>
                <a:cubicBezTo>
                  <a:pt x="197" y="341"/>
                  <a:pt x="189" y="322"/>
                  <a:pt x="183" y="307"/>
                </a:cubicBezTo>
                <a:lnTo>
                  <a:pt x="74" y="66"/>
                </a:lnTo>
                <a:lnTo>
                  <a:pt x="0" y="66"/>
                </a:lnTo>
                <a:lnTo>
                  <a:pt x="0" y="0"/>
                </a:lnTo>
                <a:lnTo>
                  <a:pt x="9" y="0"/>
                </a:lnTo>
                <a:cubicBezTo>
                  <a:pt x="19" y="2"/>
                  <a:pt x="58" y="4"/>
                  <a:pt x="127" y="4"/>
                </a:cubicBezTo>
                <a:cubicBezTo>
                  <a:pt x="203" y="4"/>
                  <a:pt x="247" y="2"/>
                  <a:pt x="260" y="0"/>
                </a:cubicBezTo>
                <a:lnTo>
                  <a:pt x="270" y="0"/>
                </a:lnTo>
                <a:lnTo>
                  <a:pt x="270" y="66"/>
                </a:lnTo>
                <a:lnTo>
                  <a:pt x="219" y="66"/>
                </a:lnTo>
                <a:lnTo>
                  <a:pt x="275" y="192"/>
                </a:lnTo>
                <a:cubicBezTo>
                  <a:pt x="311" y="274"/>
                  <a:pt x="330" y="314"/>
                  <a:pt x="332" y="314"/>
                </a:cubicBezTo>
                <a:cubicBezTo>
                  <a:pt x="332" y="314"/>
                  <a:pt x="350" y="273"/>
                  <a:pt x="386" y="192"/>
                </a:cubicBezTo>
                <a:cubicBezTo>
                  <a:pt x="422" y="111"/>
                  <a:pt x="441" y="69"/>
                  <a:pt x="442" y="67"/>
                </a:cubicBezTo>
                <a:cubicBezTo>
                  <a:pt x="442" y="66"/>
                  <a:pt x="434" y="66"/>
                  <a:pt x="417" y="66"/>
                </a:cubicBezTo>
                <a:lnTo>
                  <a:pt x="392" y="66"/>
                </a:lnTo>
                <a:lnTo>
                  <a:pt x="392" y="0"/>
                </a:lnTo>
                <a:lnTo>
                  <a:pt x="399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101" name="フリーフォーム 100"/>
          <p:cNvSpPr/>
          <p:nvPr/>
        </p:nvSpPr>
        <p:spPr>
          <a:xfrm>
            <a:off x="866700" y="2838510"/>
            <a:ext cx="57240" cy="136350"/>
          </a:xfrm>
          <a:custGeom>
            <a:avLst/>
            <a:gdLst/>
            <a:ahLst/>
            <a:cxnLst/>
            <a:rect l="0" t="0" r="r" b="b"/>
            <a:pathLst>
              <a:path w="212" h="505">
                <a:moveTo>
                  <a:pt x="124" y="45"/>
                </a:moveTo>
                <a:cubicBezTo>
                  <a:pt x="124" y="33"/>
                  <a:pt x="128" y="23"/>
                  <a:pt x="138" y="14"/>
                </a:cubicBezTo>
                <a:cubicBezTo>
                  <a:pt x="147" y="5"/>
                  <a:pt x="158" y="0"/>
                  <a:pt x="171" y="0"/>
                </a:cubicBezTo>
                <a:cubicBezTo>
                  <a:pt x="180" y="0"/>
                  <a:pt x="187" y="3"/>
                  <a:pt x="193" y="9"/>
                </a:cubicBezTo>
                <a:cubicBezTo>
                  <a:pt x="199" y="15"/>
                  <a:pt x="203" y="22"/>
                  <a:pt x="203" y="31"/>
                </a:cubicBezTo>
                <a:cubicBezTo>
                  <a:pt x="203" y="43"/>
                  <a:pt x="198" y="53"/>
                  <a:pt x="188" y="63"/>
                </a:cubicBezTo>
                <a:cubicBezTo>
                  <a:pt x="178" y="72"/>
                  <a:pt x="167" y="77"/>
                  <a:pt x="155" y="78"/>
                </a:cubicBezTo>
                <a:cubicBezTo>
                  <a:pt x="148" y="78"/>
                  <a:pt x="141" y="75"/>
                  <a:pt x="134" y="70"/>
                </a:cubicBezTo>
                <a:cubicBezTo>
                  <a:pt x="128" y="65"/>
                  <a:pt x="124" y="57"/>
                  <a:pt x="124" y="45"/>
                </a:cubicBezTo>
                <a:moveTo>
                  <a:pt x="0" y="280"/>
                </a:moveTo>
                <a:cubicBezTo>
                  <a:pt x="0" y="276"/>
                  <a:pt x="3" y="269"/>
                  <a:pt x="7" y="257"/>
                </a:cubicBezTo>
                <a:cubicBezTo>
                  <a:pt x="12" y="246"/>
                  <a:pt x="18" y="233"/>
                  <a:pt x="25" y="219"/>
                </a:cubicBezTo>
                <a:cubicBezTo>
                  <a:pt x="33" y="205"/>
                  <a:pt x="44" y="192"/>
                  <a:pt x="59" y="181"/>
                </a:cubicBezTo>
                <a:cubicBezTo>
                  <a:pt x="74" y="169"/>
                  <a:pt x="89" y="164"/>
                  <a:pt x="104" y="164"/>
                </a:cubicBezTo>
                <a:cubicBezTo>
                  <a:pt x="124" y="164"/>
                  <a:pt x="140" y="170"/>
                  <a:pt x="153" y="181"/>
                </a:cubicBezTo>
                <a:cubicBezTo>
                  <a:pt x="166" y="193"/>
                  <a:pt x="173" y="208"/>
                  <a:pt x="173" y="228"/>
                </a:cubicBezTo>
                <a:cubicBezTo>
                  <a:pt x="173" y="236"/>
                  <a:pt x="170" y="250"/>
                  <a:pt x="163" y="270"/>
                </a:cubicBezTo>
                <a:cubicBezTo>
                  <a:pt x="156" y="289"/>
                  <a:pt x="146" y="316"/>
                  <a:pt x="133" y="349"/>
                </a:cubicBezTo>
                <a:cubicBezTo>
                  <a:pt x="120" y="382"/>
                  <a:pt x="109" y="410"/>
                  <a:pt x="101" y="433"/>
                </a:cubicBezTo>
                <a:cubicBezTo>
                  <a:pt x="99" y="444"/>
                  <a:pt x="97" y="452"/>
                  <a:pt x="97" y="457"/>
                </a:cubicBezTo>
                <a:cubicBezTo>
                  <a:pt x="97" y="470"/>
                  <a:pt x="102" y="477"/>
                  <a:pt x="110" y="477"/>
                </a:cubicBezTo>
                <a:cubicBezTo>
                  <a:pt x="115" y="477"/>
                  <a:pt x="119" y="476"/>
                  <a:pt x="124" y="475"/>
                </a:cubicBezTo>
                <a:cubicBezTo>
                  <a:pt x="129" y="472"/>
                  <a:pt x="135" y="469"/>
                  <a:pt x="142" y="463"/>
                </a:cubicBezTo>
                <a:cubicBezTo>
                  <a:pt x="148" y="458"/>
                  <a:pt x="155" y="449"/>
                  <a:pt x="162" y="437"/>
                </a:cubicBezTo>
                <a:cubicBezTo>
                  <a:pt x="169" y="425"/>
                  <a:pt x="175" y="410"/>
                  <a:pt x="181" y="393"/>
                </a:cubicBezTo>
                <a:cubicBezTo>
                  <a:pt x="182" y="387"/>
                  <a:pt x="183" y="383"/>
                  <a:pt x="184" y="382"/>
                </a:cubicBezTo>
                <a:cubicBezTo>
                  <a:pt x="185" y="381"/>
                  <a:pt x="190" y="381"/>
                  <a:pt x="197" y="381"/>
                </a:cubicBezTo>
                <a:cubicBezTo>
                  <a:pt x="207" y="381"/>
                  <a:pt x="212" y="383"/>
                  <a:pt x="212" y="388"/>
                </a:cubicBezTo>
                <a:cubicBezTo>
                  <a:pt x="212" y="392"/>
                  <a:pt x="210" y="400"/>
                  <a:pt x="205" y="412"/>
                </a:cubicBezTo>
                <a:cubicBezTo>
                  <a:pt x="201" y="423"/>
                  <a:pt x="195" y="436"/>
                  <a:pt x="187" y="450"/>
                </a:cubicBezTo>
                <a:cubicBezTo>
                  <a:pt x="179" y="464"/>
                  <a:pt x="167" y="477"/>
                  <a:pt x="153" y="488"/>
                </a:cubicBezTo>
                <a:cubicBezTo>
                  <a:pt x="138" y="499"/>
                  <a:pt x="123" y="505"/>
                  <a:pt x="106" y="505"/>
                </a:cubicBezTo>
                <a:cubicBezTo>
                  <a:pt x="90" y="505"/>
                  <a:pt x="76" y="500"/>
                  <a:pt x="62" y="489"/>
                </a:cubicBezTo>
                <a:cubicBezTo>
                  <a:pt x="49" y="479"/>
                  <a:pt x="41" y="462"/>
                  <a:pt x="40" y="440"/>
                </a:cubicBezTo>
                <a:cubicBezTo>
                  <a:pt x="40" y="432"/>
                  <a:pt x="41" y="424"/>
                  <a:pt x="44" y="416"/>
                </a:cubicBezTo>
                <a:cubicBezTo>
                  <a:pt x="47" y="409"/>
                  <a:pt x="58" y="380"/>
                  <a:pt x="77" y="331"/>
                </a:cubicBezTo>
                <a:cubicBezTo>
                  <a:pt x="96" y="280"/>
                  <a:pt x="107" y="250"/>
                  <a:pt x="110" y="240"/>
                </a:cubicBezTo>
                <a:cubicBezTo>
                  <a:pt x="113" y="230"/>
                  <a:pt x="115" y="220"/>
                  <a:pt x="115" y="211"/>
                </a:cubicBezTo>
                <a:cubicBezTo>
                  <a:pt x="115" y="199"/>
                  <a:pt x="111" y="193"/>
                  <a:pt x="103" y="193"/>
                </a:cubicBezTo>
                <a:lnTo>
                  <a:pt x="101" y="193"/>
                </a:lnTo>
                <a:cubicBezTo>
                  <a:pt x="86" y="193"/>
                  <a:pt x="72" y="201"/>
                  <a:pt x="60" y="217"/>
                </a:cubicBezTo>
                <a:cubicBezTo>
                  <a:pt x="47" y="234"/>
                  <a:pt x="37" y="255"/>
                  <a:pt x="30" y="280"/>
                </a:cubicBezTo>
                <a:cubicBezTo>
                  <a:pt x="30" y="281"/>
                  <a:pt x="29" y="282"/>
                  <a:pt x="29" y="283"/>
                </a:cubicBezTo>
                <a:cubicBezTo>
                  <a:pt x="28" y="284"/>
                  <a:pt x="28" y="284"/>
                  <a:pt x="28" y="285"/>
                </a:cubicBezTo>
                <a:cubicBezTo>
                  <a:pt x="28" y="285"/>
                  <a:pt x="28" y="286"/>
                  <a:pt x="27" y="286"/>
                </a:cubicBezTo>
                <a:cubicBezTo>
                  <a:pt x="26" y="287"/>
                  <a:pt x="25" y="287"/>
                  <a:pt x="24" y="287"/>
                </a:cubicBezTo>
                <a:cubicBezTo>
                  <a:pt x="24" y="287"/>
                  <a:pt x="23" y="287"/>
                  <a:pt x="21" y="287"/>
                </a:cubicBezTo>
                <a:cubicBezTo>
                  <a:pt x="20" y="287"/>
                  <a:pt x="18" y="287"/>
                  <a:pt x="15" y="287"/>
                </a:cubicBezTo>
                <a:lnTo>
                  <a:pt x="5" y="287"/>
                </a:lnTo>
                <a:cubicBezTo>
                  <a:pt x="2" y="284"/>
                  <a:pt x="0" y="282"/>
                  <a:pt x="0" y="280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102" name="フリーフォーム 101"/>
          <p:cNvSpPr/>
          <p:nvPr/>
        </p:nvSpPr>
        <p:spPr>
          <a:xfrm>
            <a:off x="973620" y="2714580"/>
            <a:ext cx="68850" cy="286740"/>
          </a:xfrm>
          <a:custGeom>
            <a:avLst/>
            <a:gdLst/>
            <a:ahLst/>
            <a:cxnLst/>
            <a:rect l="0" t="0" r="r" b="b"/>
            <a:pathLst>
              <a:path w="255" h="1062">
                <a:moveTo>
                  <a:pt x="0" y="531"/>
                </a:moveTo>
                <a:cubicBezTo>
                  <a:pt x="0" y="482"/>
                  <a:pt x="4" y="436"/>
                  <a:pt x="11" y="392"/>
                </a:cubicBezTo>
                <a:cubicBezTo>
                  <a:pt x="18" y="348"/>
                  <a:pt x="26" y="310"/>
                  <a:pt x="35" y="279"/>
                </a:cubicBezTo>
                <a:cubicBezTo>
                  <a:pt x="44" y="247"/>
                  <a:pt x="58" y="216"/>
                  <a:pt x="75" y="185"/>
                </a:cubicBezTo>
                <a:cubicBezTo>
                  <a:pt x="92" y="155"/>
                  <a:pt x="106" y="131"/>
                  <a:pt x="116" y="114"/>
                </a:cubicBezTo>
                <a:cubicBezTo>
                  <a:pt x="126" y="97"/>
                  <a:pt x="141" y="79"/>
                  <a:pt x="160" y="59"/>
                </a:cubicBezTo>
                <a:cubicBezTo>
                  <a:pt x="180" y="39"/>
                  <a:pt x="192" y="27"/>
                  <a:pt x="195" y="23"/>
                </a:cubicBezTo>
                <a:cubicBezTo>
                  <a:pt x="199" y="19"/>
                  <a:pt x="208" y="10"/>
                  <a:pt x="222" y="0"/>
                </a:cubicBezTo>
                <a:lnTo>
                  <a:pt x="236" y="0"/>
                </a:lnTo>
                <a:lnTo>
                  <a:pt x="240" y="0"/>
                </a:lnTo>
                <a:cubicBezTo>
                  <a:pt x="250" y="0"/>
                  <a:pt x="255" y="3"/>
                  <a:pt x="255" y="9"/>
                </a:cubicBezTo>
                <a:cubicBezTo>
                  <a:pt x="255" y="12"/>
                  <a:pt x="249" y="20"/>
                  <a:pt x="237" y="32"/>
                </a:cubicBezTo>
                <a:cubicBezTo>
                  <a:pt x="225" y="45"/>
                  <a:pt x="210" y="64"/>
                  <a:pt x="193" y="89"/>
                </a:cubicBezTo>
                <a:cubicBezTo>
                  <a:pt x="176" y="113"/>
                  <a:pt x="159" y="144"/>
                  <a:pt x="141" y="180"/>
                </a:cubicBezTo>
                <a:cubicBezTo>
                  <a:pt x="124" y="216"/>
                  <a:pt x="109" y="265"/>
                  <a:pt x="97" y="326"/>
                </a:cubicBezTo>
                <a:cubicBezTo>
                  <a:pt x="85" y="388"/>
                  <a:pt x="79" y="456"/>
                  <a:pt x="79" y="531"/>
                </a:cubicBezTo>
                <a:cubicBezTo>
                  <a:pt x="79" y="606"/>
                  <a:pt x="85" y="674"/>
                  <a:pt x="97" y="735"/>
                </a:cubicBezTo>
                <a:cubicBezTo>
                  <a:pt x="109" y="796"/>
                  <a:pt x="123" y="845"/>
                  <a:pt x="140" y="882"/>
                </a:cubicBezTo>
                <a:cubicBezTo>
                  <a:pt x="157" y="920"/>
                  <a:pt x="175" y="950"/>
                  <a:pt x="192" y="974"/>
                </a:cubicBezTo>
                <a:cubicBezTo>
                  <a:pt x="210" y="997"/>
                  <a:pt x="225" y="1016"/>
                  <a:pt x="237" y="1030"/>
                </a:cubicBezTo>
                <a:cubicBezTo>
                  <a:pt x="249" y="1044"/>
                  <a:pt x="255" y="1051"/>
                  <a:pt x="255" y="1052"/>
                </a:cubicBezTo>
                <a:cubicBezTo>
                  <a:pt x="255" y="1058"/>
                  <a:pt x="249" y="1062"/>
                  <a:pt x="239" y="1062"/>
                </a:cubicBezTo>
                <a:lnTo>
                  <a:pt x="236" y="1062"/>
                </a:lnTo>
                <a:lnTo>
                  <a:pt x="222" y="1062"/>
                </a:lnTo>
                <a:lnTo>
                  <a:pt x="192" y="1036"/>
                </a:lnTo>
                <a:cubicBezTo>
                  <a:pt x="126" y="976"/>
                  <a:pt x="77" y="901"/>
                  <a:pt x="46" y="811"/>
                </a:cubicBezTo>
                <a:cubicBezTo>
                  <a:pt x="15" y="721"/>
                  <a:pt x="0" y="628"/>
                  <a:pt x="0" y="531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103" name="フリーフォーム 102"/>
          <p:cNvSpPr/>
          <p:nvPr/>
        </p:nvSpPr>
        <p:spPr>
          <a:xfrm>
            <a:off x="1063530" y="2749950"/>
            <a:ext cx="89370" cy="182790"/>
          </a:xfrm>
          <a:custGeom>
            <a:avLst/>
            <a:gdLst/>
            <a:ahLst/>
            <a:cxnLst/>
            <a:rect l="0" t="0" r="r" b="b"/>
            <a:pathLst>
              <a:path w="331" h="677">
                <a:moveTo>
                  <a:pt x="8" y="257"/>
                </a:moveTo>
                <a:cubicBezTo>
                  <a:pt x="3" y="252"/>
                  <a:pt x="0" y="248"/>
                  <a:pt x="0" y="246"/>
                </a:cubicBezTo>
                <a:cubicBezTo>
                  <a:pt x="0" y="243"/>
                  <a:pt x="1" y="238"/>
                  <a:pt x="4" y="229"/>
                </a:cubicBezTo>
                <a:cubicBezTo>
                  <a:pt x="6" y="221"/>
                  <a:pt x="7" y="216"/>
                  <a:pt x="9" y="214"/>
                </a:cubicBezTo>
                <a:cubicBezTo>
                  <a:pt x="10" y="211"/>
                  <a:pt x="13" y="209"/>
                  <a:pt x="18" y="209"/>
                </a:cubicBezTo>
                <a:cubicBezTo>
                  <a:pt x="23" y="209"/>
                  <a:pt x="41" y="209"/>
                  <a:pt x="73" y="208"/>
                </a:cubicBezTo>
                <a:lnTo>
                  <a:pt x="129" y="208"/>
                </a:lnTo>
                <a:lnTo>
                  <a:pt x="149" y="123"/>
                </a:lnTo>
                <a:cubicBezTo>
                  <a:pt x="151" y="115"/>
                  <a:pt x="153" y="105"/>
                  <a:pt x="156" y="92"/>
                </a:cubicBezTo>
                <a:cubicBezTo>
                  <a:pt x="159" y="80"/>
                  <a:pt x="162" y="70"/>
                  <a:pt x="164" y="64"/>
                </a:cubicBezTo>
                <a:cubicBezTo>
                  <a:pt x="166" y="58"/>
                  <a:pt x="168" y="51"/>
                  <a:pt x="170" y="43"/>
                </a:cubicBezTo>
                <a:cubicBezTo>
                  <a:pt x="172" y="34"/>
                  <a:pt x="176" y="28"/>
                  <a:pt x="180" y="25"/>
                </a:cubicBezTo>
                <a:cubicBezTo>
                  <a:pt x="183" y="21"/>
                  <a:pt x="187" y="17"/>
                  <a:pt x="190" y="12"/>
                </a:cubicBezTo>
                <a:cubicBezTo>
                  <a:pt x="194" y="7"/>
                  <a:pt x="199" y="4"/>
                  <a:pt x="205" y="2"/>
                </a:cubicBezTo>
                <a:cubicBezTo>
                  <a:pt x="211" y="1"/>
                  <a:pt x="218" y="0"/>
                  <a:pt x="224" y="0"/>
                </a:cubicBezTo>
                <a:cubicBezTo>
                  <a:pt x="237" y="1"/>
                  <a:pt x="246" y="5"/>
                  <a:pt x="251" y="12"/>
                </a:cubicBezTo>
                <a:cubicBezTo>
                  <a:pt x="256" y="19"/>
                  <a:pt x="258" y="26"/>
                  <a:pt x="258" y="32"/>
                </a:cubicBezTo>
                <a:cubicBezTo>
                  <a:pt x="258" y="37"/>
                  <a:pt x="255" y="54"/>
                  <a:pt x="249" y="83"/>
                </a:cubicBezTo>
                <a:cubicBezTo>
                  <a:pt x="242" y="111"/>
                  <a:pt x="235" y="139"/>
                  <a:pt x="227" y="167"/>
                </a:cubicBezTo>
                <a:lnTo>
                  <a:pt x="217" y="206"/>
                </a:lnTo>
                <a:cubicBezTo>
                  <a:pt x="217" y="207"/>
                  <a:pt x="234" y="208"/>
                  <a:pt x="270" y="208"/>
                </a:cubicBezTo>
                <a:lnTo>
                  <a:pt x="324" y="208"/>
                </a:lnTo>
                <a:cubicBezTo>
                  <a:pt x="329" y="213"/>
                  <a:pt x="331" y="217"/>
                  <a:pt x="331" y="220"/>
                </a:cubicBezTo>
                <a:cubicBezTo>
                  <a:pt x="331" y="235"/>
                  <a:pt x="327" y="248"/>
                  <a:pt x="318" y="257"/>
                </a:cubicBezTo>
                <a:lnTo>
                  <a:pt x="204" y="257"/>
                </a:lnTo>
                <a:lnTo>
                  <a:pt x="165" y="411"/>
                </a:lnTo>
                <a:cubicBezTo>
                  <a:pt x="137" y="524"/>
                  <a:pt x="123" y="585"/>
                  <a:pt x="123" y="593"/>
                </a:cubicBezTo>
                <a:cubicBezTo>
                  <a:pt x="123" y="623"/>
                  <a:pt x="133" y="638"/>
                  <a:pt x="152" y="638"/>
                </a:cubicBezTo>
                <a:cubicBezTo>
                  <a:pt x="178" y="638"/>
                  <a:pt x="202" y="626"/>
                  <a:pt x="225" y="602"/>
                </a:cubicBezTo>
                <a:cubicBezTo>
                  <a:pt x="249" y="578"/>
                  <a:pt x="267" y="548"/>
                  <a:pt x="281" y="513"/>
                </a:cubicBezTo>
                <a:cubicBezTo>
                  <a:pt x="283" y="508"/>
                  <a:pt x="285" y="506"/>
                  <a:pt x="287" y="505"/>
                </a:cubicBezTo>
                <a:cubicBezTo>
                  <a:pt x="289" y="504"/>
                  <a:pt x="294" y="504"/>
                  <a:pt x="303" y="503"/>
                </a:cubicBezTo>
                <a:lnTo>
                  <a:pt x="307" y="503"/>
                </a:lnTo>
                <a:cubicBezTo>
                  <a:pt x="318" y="503"/>
                  <a:pt x="323" y="506"/>
                  <a:pt x="323" y="512"/>
                </a:cubicBezTo>
                <a:cubicBezTo>
                  <a:pt x="323" y="514"/>
                  <a:pt x="322" y="518"/>
                  <a:pt x="320" y="524"/>
                </a:cubicBezTo>
                <a:cubicBezTo>
                  <a:pt x="316" y="536"/>
                  <a:pt x="310" y="549"/>
                  <a:pt x="301" y="565"/>
                </a:cubicBezTo>
                <a:cubicBezTo>
                  <a:pt x="291" y="580"/>
                  <a:pt x="279" y="597"/>
                  <a:pt x="264" y="614"/>
                </a:cubicBezTo>
                <a:cubicBezTo>
                  <a:pt x="250" y="632"/>
                  <a:pt x="232" y="647"/>
                  <a:pt x="210" y="659"/>
                </a:cubicBezTo>
                <a:cubicBezTo>
                  <a:pt x="189" y="671"/>
                  <a:pt x="167" y="677"/>
                  <a:pt x="145" y="677"/>
                </a:cubicBezTo>
                <a:cubicBezTo>
                  <a:pt x="123" y="677"/>
                  <a:pt x="103" y="672"/>
                  <a:pt x="84" y="661"/>
                </a:cubicBezTo>
                <a:cubicBezTo>
                  <a:pt x="65" y="651"/>
                  <a:pt x="51" y="632"/>
                  <a:pt x="43" y="606"/>
                </a:cubicBezTo>
                <a:cubicBezTo>
                  <a:pt x="41" y="600"/>
                  <a:pt x="41" y="591"/>
                  <a:pt x="41" y="577"/>
                </a:cubicBezTo>
                <a:lnTo>
                  <a:pt x="41" y="558"/>
                </a:lnTo>
                <a:lnTo>
                  <a:pt x="78" y="410"/>
                </a:lnTo>
                <a:cubicBezTo>
                  <a:pt x="103" y="310"/>
                  <a:pt x="115" y="260"/>
                  <a:pt x="116" y="259"/>
                </a:cubicBezTo>
                <a:cubicBezTo>
                  <a:pt x="116" y="258"/>
                  <a:pt x="98" y="257"/>
                  <a:pt x="62" y="257"/>
                </a:cubicBezTo>
                <a:lnTo>
                  <a:pt x="8" y="257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104" name="フリーフォーム 103"/>
          <p:cNvSpPr/>
          <p:nvPr/>
        </p:nvSpPr>
        <p:spPr>
          <a:xfrm>
            <a:off x="1241190" y="2762370"/>
            <a:ext cx="191160" cy="190620"/>
          </a:xfrm>
          <a:custGeom>
            <a:avLst/>
            <a:gdLst/>
            <a:ahLst/>
            <a:cxnLst/>
            <a:rect l="0" t="0" r="r" b="b"/>
            <a:pathLst>
              <a:path w="708" h="706">
                <a:moveTo>
                  <a:pt x="0" y="368"/>
                </a:moveTo>
                <a:cubicBezTo>
                  <a:pt x="0" y="368"/>
                  <a:pt x="0" y="363"/>
                  <a:pt x="0" y="354"/>
                </a:cubicBezTo>
                <a:cubicBezTo>
                  <a:pt x="0" y="344"/>
                  <a:pt x="5" y="337"/>
                  <a:pt x="15" y="332"/>
                </a:cubicBezTo>
                <a:lnTo>
                  <a:pt x="332" y="332"/>
                </a:lnTo>
                <a:lnTo>
                  <a:pt x="332" y="173"/>
                </a:lnTo>
                <a:lnTo>
                  <a:pt x="334" y="14"/>
                </a:lnTo>
                <a:cubicBezTo>
                  <a:pt x="341" y="4"/>
                  <a:pt x="347" y="0"/>
                  <a:pt x="354" y="0"/>
                </a:cubicBezTo>
                <a:cubicBezTo>
                  <a:pt x="363" y="0"/>
                  <a:pt x="370" y="5"/>
                  <a:pt x="375" y="16"/>
                </a:cubicBezTo>
                <a:lnTo>
                  <a:pt x="375" y="332"/>
                </a:lnTo>
                <a:lnTo>
                  <a:pt x="691" y="332"/>
                </a:lnTo>
                <a:cubicBezTo>
                  <a:pt x="703" y="338"/>
                  <a:pt x="708" y="345"/>
                  <a:pt x="708" y="354"/>
                </a:cubicBezTo>
                <a:cubicBezTo>
                  <a:pt x="708" y="363"/>
                  <a:pt x="703" y="370"/>
                  <a:pt x="691" y="375"/>
                </a:cubicBezTo>
                <a:lnTo>
                  <a:pt x="375" y="375"/>
                </a:lnTo>
                <a:lnTo>
                  <a:pt x="375" y="692"/>
                </a:lnTo>
                <a:cubicBezTo>
                  <a:pt x="369" y="701"/>
                  <a:pt x="363" y="706"/>
                  <a:pt x="356" y="706"/>
                </a:cubicBezTo>
                <a:lnTo>
                  <a:pt x="354" y="706"/>
                </a:lnTo>
                <a:lnTo>
                  <a:pt x="352" y="706"/>
                </a:lnTo>
                <a:cubicBezTo>
                  <a:pt x="343" y="706"/>
                  <a:pt x="337" y="701"/>
                  <a:pt x="332" y="692"/>
                </a:cubicBezTo>
                <a:lnTo>
                  <a:pt x="332" y="375"/>
                </a:lnTo>
                <a:lnTo>
                  <a:pt x="15" y="375"/>
                </a:lnTo>
                <a:cubicBezTo>
                  <a:pt x="5" y="370"/>
                  <a:pt x="0" y="363"/>
                  <a:pt x="0" y="354"/>
                </a:cubicBezTo>
                <a:lnTo>
                  <a:pt x="0" y="368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105" name="フリーフォーム 104"/>
          <p:cNvSpPr/>
          <p:nvPr/>
        </p:nvSpPr>
        <p:spPr>
          <a:xfrm>
            <a:off x="1535490" y="2738610"/>
            <a:ext cx="98820" cy="190890"/>
          </a:xfrm>
          <a:custGeom>
            <a:avLst/>
            <a:gdLst/>
            <a:ahLst/>
            <a:cxnLst/>
            <a:rect l="0" t="0" r="r" b="b"/>
            <a:pathLst>
              <a:path w="366" h="707">
                <a:moveTo>
                  <a:pt x="138" y="93"/>
                </a:moveTo>
                <a:lnTo>
                  <a:pt x="124" y="98"/>
                </a:lnTo>
                <a:cubicBezTo>
                  <a:pt x="114" y="102"/>
                  <a:pt x="100" y="106"/>
                  <a:pt x="82" y="109"/>
                </a:cubicBezTo>
                <a:cubicBezTo>
                  <a:pt x="64" y="113"/>
                  <a:pt x="43" y="115"/>
                  <a:pt x="20" y="116"/>
                </a:cubicBezTo>
                <a:lnTo>
                  <a:pt x="0" y="116"/>
                </a:lnTo>
                <a:lnTo>
                  <a:pt x="0" y="68"/>
                </a:lnTo>
                <a:lnTo>
                  <a:pt x="20" y="68"/>
                </a:lnTo>
                <a:cubicBezTo>
                  <a:pt x="54" y="66"/>
                  <a:pt x="84" y="61"/>
                  <a:pt x="113" y="52"/>
                </a:cubicBezTo>
                <a:cubicBezTo>
                  <a:pt x="141" y="43"/>
                  <a:pt x="161" y="34"/>
                  <a:pt x="172" y="26"/>
                </a:cubicBezTo>
                <a:cubicBezTo>
                  <a:pt x="183" y="19"/>
                  <a:pt x="193" y="11"/>
                  <a:pt x="202" y="3"/>
                </a:cubicBezTo>
                <a:cubicBezTo>
                  <a:pt x="203" y="1"/>
                  <a:pt x="207" y="0"/>
                  <a:pt x="215" y="0"/>
                </a:cubicBezTo>
                <a:cubicBezTo>
                  <a:pt x="221" y="0"/>
                  <a:pt x="227" y="2"/>
                  <a:pt x="233" y="6"/>
                </a:cubicBezTo>
                <a:lnTo>
                  <a:pt x="233" y="323"/>
                </a:lnTo>
                <a:lnTo>
                  <a:pt x="234" y="643"/>
                </a:lnTo>
                <a:cubicBezTo>
                  <a:pt x="239" y="648"/>
                  <a:pt x="243" y="651"/>
                  <a:pt x="246" y="652"/>
                </a:cubicBezTo>
                <a:cubicBezTo>
                  <a:pt x="250" y="654"/>
                  <a:pt x="258" y="655"/>
                  <a:pt x="272" y="656"/>
                </a:cubicBezTo>
                <a:cubicBezTo>
                  <a:pt x="285" y="658"/>
                  <a:pt x="307" y="659"/>
                  <a:pt x="339" y="659"/>
                </a:cubicBezTo>
                <a:lnTo>
                  <a:pt x="366" y="659"/>
                </a:lnTo>
                <a:lnTo>
                  <a:pt x="366" y="707"/>
                </a:lnTo>
                <a:lnTo>
                  <a:pt x="355" y="707"/>
                </a:lnTo>
                <a:cubicBezTo>
                  <a:pt x="340" y="705"/>
                  <a:pt x="282" y="704"/>
                  <a:pt x="185" y="704"/>
                </a:cubicBezTo>
                <a:cubicBezTo>
                  <a:pt x="89" y="704"/>
                  <a:pt x="33" y="705"/>
                  <a:pt x="18" y="707"/>
                </a:cubicBezTo>
                <a:lnTo>
                  <a:pt x="6" y="707"/>
                </a:lnTo>
                <a:lnTo>
                  <a:pt x="6" y="659"/>
                </a:lnTo>
                <a:lnTo>
                  <a:pt x="33" y="659"/>
                </a:lnTo>
                <a:cubicBezTo>
                  <a:pt x="49" y="659"/>
                  <a:pt x="62" y="659"/>
                  <a:pt x="73" y="659"/>
                </a:cubicBezTo>
                <a:cubicBezTo>
                  <a:pt x="85" y="659"/>
                  <a:pt x="94" y="658"/>
                  <a:pt x="100" y="658"/>
                </a:cubicBezTo>
                <a:cubicBezTo>
                  <a:pt x="106" y="657"/>
                  <a:pt x="112" y="656"/>
                  <a:pt x="117" y="654"/>
                </a:cubicBezTo>
                <a:cubicBezTo>
                  <a:pt x="122" y="653"/>
                  <a:pt x="125" y="652"/>
                  <a:pt x="125" y="652"/>
                </a:cubicBezTo>
                <a:cubicBezTo>
                  <a:pt x="126" y="652"/>
                  <a:pt x="128" y="650"/>
                  <a:pt x="132" y="647"/>
                </a:cubicBezTo>
                <a:cubicBezTo>
                  <a:pt x="135" y="643"/>
                  <a:pt x="137" y="642"/>
                  <a:pt x="138" y="643"/>
                </a:cubicBezTo>
                <a:lnTo>
                  <a:pt x="138" y="93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106" name="フリーフォーム 105"/>
          <p:cNvSpPr/>
          <p:nvPr/>
        </p:nvSpPr>
        <p:spPr>
          <a:xfrm>
            <a:off x="1670760" y="2714580"/>
            <a:ext cx="68850" cy="286740"/>
          </a:xfrm>
          <a:custGeom>
            <a:avLst/>
            <a:gdLst/>
            <a:ahLst/>
            <a:cxnLst/>
            <a:rect l="0" t="0" r="r" b="b"/>
            <a:pathLst>
              <a:path w="255" h="1062">
                <a:moveTo>
                  <a:pt x="5" y="1"/>
                </a:moveTo>
                <a:lnTo>
                  <a:pt x="10" y="0"/>
                </a:lnTo>
                <a:cubicBezTo>
                  <a:pt x="14" y="0"/>
                  <a:pt x="18" y="0"/>
                  <a:pt x="21" y="0"/>
                </a:cubicBezTo>
                <a:lnTo>
                  <a:pt x="34" y="0"/>
                </a:lnTo>
                <a:lnTo>
                  <a:pt x="64" y="26"/>
                </a:lnTo>
                <a:cubicBezTo>
                  <a:pt x="130" y="86"/>
                  <a:pt x="179" y="161"/>
                  <a:pt x="209" y="251"/>
                </a:cubicBezTo>
                <a:cubicBezTo>
                  <a:pt x="239" y="341"/>
                  <a:pt x="255" y="434"/>
                  <a:pt x="255" y="531"/>
                </a:cubicBezTo>
                <a:cubicBezTo>
                  <a:pt x="255" y="579"/>
                  <a:pt x="251" y="626"/>
                  <a:pt x="244" y="670"/>
                </a:cubicBezTo>
                <a:cubicBezTo>
                  <a:pt x="237" y="715"/>
                  <a:pt x="229" y="753"/>
                  <a:pt x="220" y="784"/>
                </a:cubicBezTo>
                <a:cubicBezTo>
                  <a:pt x="210" y="815"/>
                  <a:pt x="197" y="846"/>
                  <a:pt x="180" y="877"/>
                </a:cubicBezTo>
                <a:cubicBezTo>
                  <a:pt x="163" y="908"/>
                  <a:pt x="150" y="932"/>
                  <a:pt x="140" y="948"/>
                </a:cubicBezTo>
                <a:cubicBezTo>
                  <a:pt x="130" y="964"/>
                  <a:pt x="116" y="982"/>
                  <a:pt x="97" y="1002"/>
                </a:cubicBezTo>
                <a:cubicBezTo>
                  <a:pt x="77" y="1022"/>
                  <a:pt x="66" y="1034"/>
                  <a:pt x="63" y="1037"/>
                </a:cubicBezTo>
                <a:cubicBezTo>
                  <a:pt x="59" y="1041"/>
                  <a:pt x="51" y="1048"/>
                  <a:pt x="38" y="1057"/>
                </a:cubicBezTo>
                <a:cubicBezTo>
                  <a:pt x="36" y="1060"/>
                  <a:pt x="35" y="1061"/>
                  <a:pt x="34" y="1062"/>
                </a:cubicBezTo>
                <a:lnTo>
                  <a:pt x="21" y="1062"/>
                </a:lnTo>
                <a:cubicBezTo>
                  <a:pt x="16" y="1062"/>
                  <a:pt x="12" y="1062"/>
                  <a:pt x="9" y="1062"/>
                </a:cubicBezTo>
                <a:cubicBezTo>
                  <a:pt x="6" y="1062"/>
                  <a:pt x="5" y="1061"/>
                  <a:pt x="3" y="1058"/>
                </a:cubicBezTo>
                <a:cubicBezTo>
                  <a:pt x="2" y="1056"/>
                  <a:pt x="1" y="1053"/>
                  <a:pt x="0" y="1049"/>
                </a:cubicBezTo>
                <a:cubicBezTo>
                  <a:pt x="1" y="1048"/>
                  <a:pt x="5" y="1044"/>
                  <a:pt x="13" y="1035"/>
                </a:cubicBezTo>
                <a:cubicBezTo>
                  <a:pt x="122" y="921"/>
                  <a:pt x="177" y="753"/>
                  <a:pt x="177" y="531"/>
                </a:cubicBezTo>
                <a:cubicBezTo>
                  <a:pt x="177" y="309"/>
                  <a:pt x="122" y="141"/>
                  <a:pt x="13" y="27"/>
                </a:cubicBezTo>
                <a:cubicBezTo>
                  <a:pt x="5" y="19"/>
                  <a:pt x="1" y="14"/>
                  <a:pt x="0" y="13"/>
                </a:cubicBezTo>
                <a:cubicBezTo>
                  <a:pt x="0" y="7"/>
                  <a:pt x="2" y="3"/>
                  <a:pt x="5" y="1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107" name="フリーフォーム 106"/>
          <p:cNvSpPr/>
          <p:nvPr/>
        </p:nvSpPr>
        <p:spPr>
          <a:xfrm>
            <a:off x="1862190" y="2824200"/>
            <a:ext cx="190890" cy="67230"/>
          </a:xfrm>
          <a:custGeom>
            <a:avLst/>
            <a:gdLst/>
            <a:ahLst/>
            <a:cxnLst/>
            <a:rect l="0" t="0" r="r" b="b"/>
            <a:pathLst>
              <a:path w="707" h="249">
                <a:moveTo>
                  <a:pt x="0" y="21"/>
                </a:moveTo>
                <a:cubicBezTo>
                  <a:pt x="0" y="12"/>
                  <a:pt x="5" y="5"/>
                  <a:pt x="14" y="0"/>
                </a:cubicBezTo>
                <a:lnTo>
                  <a:pt x="691" y="0"/>
                </a:lnTo>
                <a:cubicBezTo>
                  <a:pt x="702" y="6"/>
                  <a:pt x="707" y="13"/>
                  <a:pt x="707" y="21"/>
                </a:cubicBezTo>
                <a:cubicBezTo>
                  <a:pt x="707" y="29"/>
                  <a:pt x="702" y="37"/>
                  <a:pt x="692" y="42"/>
                </a:cubicBezTo>
                <a:lnTo>
                  <a:pt x="354" y="43"/>
                </a:lnTo>
                <a:lnTo>
                  <a:pt x="17" y="43"/>
                </a:lnTo>
                <a:cubicBezTo>
                  <a:pt x="5" y="40"/>
                  <a:pt x="0" y="33"/>
                  <a:pt x="0" y="21"/>
                </a:cubicBezTo>
                <a:moveTo>
                  <a:pt x="0" y="228"/>
                </a:moveTo>
                <a:cubicBezTo>
                  <a:pt x="0" y="217"/>
                  <a:pt x="5" y="210"/>
                  <a:pt x="17" y="207"/>
                </a:cubicBezTo>
                <a:lnTo>
                  <a:pt x="692" y="207"/>
                </a:lnTo>
                <a:cubicBezTo>
                  <a:pt x="702" y="214"/>
                  <a:pt x="707" y="221"/>
                  <a:pt x="707" y="228"/>
                </a:cubicBezTo>
                <a:cubicBezTo>
                  <a:pt x="707" y="237"/>
                  <a:pt x="702" y="244"/>
                  <a:pt x="691" y="249"/>
                </a:cubicBezTo>
                <a:lnTo>
                  <a:pt x="14" y="249"/>
                </a:lnTo>
                <a:cubicBezTo>
                  <a:pt x="5" y="244"/>
                  <a:pt x="0" y="237"/>
                  <a:pt x="0" y="228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108" name="フリーフォーム 107"/>
          <p:cNvSpPr/>
          <p:nvPr/>
        </p:nvSpPr>
        <p:spPr>
          <a:xfrm>
            <a:off x="2154600" y="2802330"/>
            <a:ext cx="191700" cy="130410"/>
          </a:xfrm>
          <a:custGeom>
            <a:avLst/>
            <a:gdLst/>
            <a:ahLst/>
            <a:cxnLst/>
            <a:rect l="0" t="0" r="r" b="b"/>
            <a:pathLst>
              <a:path w="710" h="483">
                <a:moveTo>
                  <a:pt x="594" y="62"/>
                </a:moveTo>
                <a:cubicBezTo>
                  <a:pt x="594" y="47"/>
                  <a:pt x="600" y="33"/>
                  <a:pt x="614" y="21"/>
                </a:cubicBezTo>
                <a:cubicBezTo>
                  <a:pt x="627" y="8"/>
                  <a:pt x="642" y="1"/>
                  <a:pt x="658" y="0"/>
                </a:cubicBezTo>
                <a:cubicBezTo>
                  <a:pt x="671" y="0"/>
                  <a:pt x="683" y="7"/>
                  <a:pt x="693" y="19"/>
                </a:cubicBezTo>
                <a:cubicBezTo>
                  <a:pt x="704" y="32"/>
                  <a:pt x="710" y="52"/>
                  <a:pt x="710" y="80"/>
                </a:cubicBezTo>
                <a:cubicBezTo>
                  <a:pt x="710" y="100"/>
                  <a:pt x="704" y="141"/>
                  <a:pt x="690" y="202"/>
                </a:cubicBezTo>
                <a:cubicBezTo>
                  <a:pt x="680" y="242"/>
                  <a:pt x="670" y="275"/>
                  <a:pt x="662" y="301"/>
                </a:cubicBezTo>
                <a:cubicBezTo>
                  <a:pt x="653" y="326"/>
                  <a:pt x="641" y="355"/>
                  <a:pt x="624" y="387"/>
                </a:cubicBezTo>
                <a:cubicBezTo>
                  <a:pt x="608" y="418"/>
                  <a:pt x="589" y="442"/>
                  <a:pt x="566" y="459"/>
                </a:cubicBezTo>
                <a:cubicBezTo>
                  <a:pt x="544" y="475"/>
                  <a:pt x="518" y="483"/>
                  <a:pt x="490" y="483"/>
                </a:cubicBezTo>
                <a:cubicBezTo>
                  <a:pt x="459" y="483"/>
                  <a:pt x="431" y="477"/>
                  <a:pt x="407" y="466"/>
                </a:cubicBezTo>
                <a:cubicBezTo>
                  <a:pt x="383" y="455"/>
                  <a:pt x="366" y="440"/>
                  <a:pt x="355" y="420"/>
                </a:cubicBezTo>
                <a:cubicBezTo>
                  <a:pt x="354" y="421"/>
                  <a:pt x="353" y="423"/>
                  <a:pt x="352" y="425"/>
                </a:cubicBezTo>
                <a:cubicBezTo>
                  <a:pt x="323" y="464"/>
                  <a:pt x="287" y="483"/>
                  <a:pt x="246" y="483"/>
                </a:cubicBezTo>
                <a:cubicBezTo>
                  <a:pt x="227" y="483"/>
                  <a:pt x="210" y="481"/>
                  <a:pt x="193" y="477"/>
                </a:cubicBezTo>
                <a:cubicBezTo>
                  <a:pt x="176" y="472"/>
                  <a:pt x="158" y="466"/>
                  <a:pt x="142" y="457"/>
                </a:cubicBezTo>
                <a:cubicBezTo>
                  <a:pt x="126" y="447"/>
                  <a:pt x="112" y="434"/>
                  <a:pt x="103" y="415"/>
                </a:cubicBezTo>
                <a:cubicBezTo>
                  <a:pt x="93" y="397"/>
                  <a:pt x="88" y="375"/>
                  <a:pt x="88" y="348"/>
                </a:cubicBezTo>
                <a:cubicBezTo>
                  <a:pt x="88" y="310"/>
                  <a:pt x="100" y="259"/>
                  <a:pt x="124" y="192"/>
                </a:cubicBezTo>
                <a:cubicBezTo>
                  <a:pt x="148" y="127"/>
                  <a:pt x="160" y="86"/>
                  <a:pt x="161" y="68"/>
                </a:cubicBezTo>
                <a:cubicBezTo>
                  <a:pt x="161" y="68"/>
                  <a:pt x="161" y="67"/>
                  <a:pt x="161" y="66"/>
                </a:cubicBezTo>
                <a:cubicBezTo>
                  <a:pt x="161" y="60"/>
                  <a:pt x="161" y="56"/>
                  <a:pt x="161" y="53"/>
                </a:cubicBezTo>
                <a:cubicBezTo>
                  <a:pt x="161" y="51"/>
                  <a:pt x="159" y="49"/>
                  <a:pt x="157" y="46"/>
                </a:cubicBezTo>
                <a:cubicBezTo>
                  <a:pt x="154" y="43"/>
                  <a:pt x="150" y="42"/>
                  <a:pt x="145" y="42"/>
                </a:cubicBezTo>
                <a:lnTo>
                  <a:pt x="141" y="42"/>
                </a:lnTo>
                <a:cubicBezTo>
                  <a:pt x="124" y="42"/>
                  <a:pt x="110" y="48"/>
                  <a:pt x="96" y="62"/>
                </a:cubicBezTo>
                <a:cubicBezTo>
                  <a:pt x="83" y="75"/>
                  <a:pt x="72" y="90"/>
                  <a:pt x="64" y="105"/>
                </a:cubicBezTo>
                <a:cubicBezTo>
                  <a:pt x="57" y="121"/>
                  <a:pt x="51" y="136"/>
                  <a:pt x="46" y="150"/>
                </a:cubicBezTo>
                <a:cubicBezTo>
                  <a:pt x="42" y="164"/>
                  <a:pt x="39" y="172"/>
                  <a:pt x="38" y="173"/>
                </a:cubicBezTo>
                <a:cubicBezTo>
                  <a:pt x="36" y="175"/>
                  <a:pt x="31" y="175"/>
                  <a:pt x="21" y="175"/>
                </a:cubicBezTo>
                <a:lnTo>
                  <a:pt x="6" y="175"/>
                </a:lnTo>
                <a:cubicBezTo>
                  <a:pt x="2" y="171"/>
                  <a:pt x="0" y="168"/>
                  <a:pt x="0" y="166"/>
                </a:cubicBezTo>
                <a:cubicBezTo>
                  <a:pt x="0" y="162"/>
                  <a:pt x="2" y="152"/>
                  <a:pt x="8" y="136"/>
                </a:cubicBezTo>
                <a:cubicBezTo>
                  <a:pt x="14" y="121"/>
                  <a:pt x="22" y="103"/>
                  <a:pt x="33" y="82"/>
                </a:cubicBezTo>
                <a:cubicBezTo>
                  <a:pt x="43" y="62"/>
                  <a:pt x="59" y="43"/>
                  <a:pt x="79" y="27"/>
                </a:cubicBezTo>
                <a:cubicBezTo>
                  <a:pt x="100" y="11"/>
                  <a:pt x="123" y="3"/>
                  <a:pt x="148" y="3"/>
                </a:cubicBezTo>
                <a:cubicBezTo>
                  <a:pt x="180" y="3"/>
                  <a:pt x="203" y="11"/>
                  <a:pt x="219" y="29"/>
                </a:cubicBezTo>
                <a:cubicBezTo>
                  <a:pt x="235" y="47"/>
                  <a:pt x="244" y="67"/>
                  <a:pt x="244" y="91"/>
                </a:cubicBezTo>
                <a:cubicBezTo>
                  <a:pt x="244" y="103"/>
                  <a:pt x="232" y="142"/>
                  <a:pt x="209" y="205"/>
                </a:cubicBezTo>
                <a:cubicBezTo>
                  <a:pt x="185" y="270"/>
                  <a:pt x="173" y="319"/>
                  <a:pt x="173" y="354"/>
                </a:cubicBezTo>
                <a:cubicBezTo>
                  <a:pt x="173" y="386"/>
                  <a:pt x="181" y="409"/>
                  <a:pt x="196" y="423"/>
                </a:cubicBezTo>
                <a:cubicBezTo>
                  <a:pt x="211" y="436"/>
                  <a:pt x="229" y="443"/>
                  <a:pt x="252" y="444"/>
                </a:cubicBezTo>
                <a:cubicBezTo>
                  <a:pt x="283" y="444"/>
                  <a:pt x="309" y="422"/>
                  <a:pt x="333" y="379"/>
                </a:cubicBezTo>
                <a:lnTo>
                  <a:pt x="338" y="370"/>
                </a:lnTo>
                <a:lnTo>
                  <a:pt x="338" y="345"/>
                </a:lnTo>
                <a:cubicBezTo>
                  <a:pt x="338" y="343"/>
                  <a:pt x="338" y="340"/>
                  <a:pt x="338" y="336"/>
                </a:cubicBezTo>
                <a:cubicBezTo>
                  <a:pt x="338" y="331"/>
                  <a:pt x="338" y="329"/>
                  <a:pt x="339" y="327"/>
                </a:cubicBezTo>
                <a:cubicBezTo>
                  <a:pt x="340" y="326"/>
                  <a:pt x="340" y="323"/>
                  <a:pt x="340" y="320"/>
                </a:cubicBezTo>
                <a:cubicBezTo>
                  <a:pt x="340" y="316"/>
                  <a:pt x="341" y="313"/>
                  <a:pt x="341" y="310"/>
                </a:cubicBezTo>
                <a:cubicBezTo>
                  <a:pt x="342" y="307"/>
                  <a:pt x="343" y="303"/>
                  <a:pt x="344" y="296"/>
                </a:cubicBezTo>
                <a:cubicBezTo>
                  <a:pt x="346" y="290"/>
                  <a:pt x="347" y="284"/>
                  <a:pt x="348" y="278"/>
                </a:cubicBezTo>
                <a:cubicBezTo>
                  <a:pt x="348" y="273"/>
                  <a:pt x="350" y="264"/>
                  <a:pt x="354" y="253"/>
                </a:cubicBezTo>
                <a:cubicBezTo>
                  <a:pt x="357" y="241"/>
                  <a:pt x="360" y="229"/>
                  <a:pt x="362" y="218"/>
                </a:cubicBezTo>
                <a:cubicBezTo>
                  <a:pt x="365" y="207"/>
                  <a:pt x="368" y="191"/>
                  <a:pt x="374" y="172"/>
                </a:cubicBezTo>
                <a:cubicBezTo>
                  <a:pt x="395" y="92"/>
                  <a:pt x="406" y="48"/>
                  <a:pt x="409" y="42"/>
                </a:cubicBezTo>
                <a:cubicBezTo>
                  <a:pt x="418" y="23"/>
                  <a:pt x="434" y="13"/>
                  <a:pt x="455" y="13"/>
                </a:cubicBezTo>
                <a:cubicBezTo>
                  <a:pt x="468" y="13"/>
                  <a:pt x="477" y="17"/>
                  <a:pt x="482" y="24"/>
                </a:cubicBezTo>
                <a:cubicBezTo>
                  <a:pt x="487" y="31"/>
                  <a:pt x="490" y="38"/>
                  <a:pt x="491" y="44"/>
                </a:cubicBezTo>
                <a:cubicBezTo>
                  <a:pt x="491" y="53"/>
                  <a:pt x="481" y="98"/>
                  <a:pt x="460" y="180"/>
                </a:cubicBezTo>
                <a:cubicBezTo>
                  <a:pt x="440" y="262"/>
                  <a:pt x="428" y="309"/>
                  <a:pt x="426" y="321"/>
                </a:cubicBezTo>
                <a:cubicBezTo>
                  <a:pt x="425" y="329"/>
                  <a:pt x="424" y="341"/>
                  <a:pt x="424" y="358"/>
                </a:cubicBezTo>
                <a:lnTo>
                  <a:pt x="424" y="365"/>
                </a:lnTo>
                <a:cubicBezTo>
                  <a:pt x="424" y="376"/>
                  <a:pt x="425" y="386"/>
                  <a:pt x="427" y="396"/>
                </a:cubicBezTo>
                <a:cubicBezTo>
                  <a:pt x="429" y="406"/>
                  <a:pt x="436" y="416"/>
                  <a:pt x="447" y="427"/>
                </a:cubicBezTo>
                <a:cubicBezTo>
                  <a:pt x="459" y="437"/>
                  <a:pt x="475" y="443"/>
                  <a:pt x="495" y="444"/>
                </a:cubicBezTo>
                <a:cubicBezTo>
                  <a:pt x="545" y="444"/>
                  <a:pt x="585" y="401"/>
                  <a:pt x="615" y="314"/>
                </a:cubicBezTo>
                <a:cubicBezTo>
                  <a:pt x="621" y="298"/>
                  <a:pt x="628" y="275"/>
                  <a:pt x="636" y="244"/>
                </a:cubicBezTo>
                <a:cubicBezTo>
                  <a:pt x="644" y="215"/>
                  <a:pt x="648" y="193"/>
                  <a:pt x="649" y="181"/>
                </a:cubicBezTo>
                <a:cubicBezTo>
                  <a:pt x="649" y="157"/>
                  <a:pt x="644" y="139"/>
                  <a:pt x="635" y="126"/>
                </a:cubicBezTo>
                <a:cubicBezTo>
                  <a:pt x="626" y="112"/>
                  <a:pt x="617" y="101"/>
                  <a:pt x="608" y="92"/>
                </a:cubicBezTo>
                <a:cubicBezTo>
                  <a:pt x="598" y="82"/>
                  <a:pt x="594" y="73"/>
                  <a:pt x="594" y="62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109" name="フリーフォーム 108"/>
          <p:cNvSpPr/>
          <p:nvPr/>
        </p:nvSpPr>
        <p:spPr>
          <a:xfrm>
            <a:off x="2439720" y="2840670"/>
            <a:ext cx="34830" cy="34560"/>
          </a:xfrm>
          <a:custGeom>
            <a:avLst/>
            <a:gdLst/>
            <a:ahLst/>
            <a:cxnLst/>
            <a:rect l="0" t="0" r="r" b="b"/>
            <a:pathLst>
              <a:path w="129" h="128">
                <a:moveTo>
                  <a:pt x="0" y="63"/>
                </a:moveTo>
                <a:cubicBezTo>
                  <a:pt x="0" y="46"/>
                  <a:pt x="6" y="31"/>
                  <a:pt x="18" y="19"/>
                </a:cubicBezTo>
                <a:cubicBezTo>
                  <a:pt x="30" y="6"/>
                  <a:pt x="45" y="0"/>
                  <a:pt x="63" y="0"/>
                </a:cubicBezTo>
                <a:cubicBezTo>
                  <a:pt x="80" y="0"/>
                  <a:pt x="95" y="5"/>
                  <a:pt x="108" y="16"/>
                </a:cubicBezTo>
                <a:cubicBezTo>
                  <a:pt x="121" y="28"/>
                  <a:pt x="128" y="43"/>
                  <a:pt x="129" y="62"/>
                </a:cubicBezTo>
                <a:cubicBezTo>
                  <a:pt x="129" y="80"/>
                  <a:pt x="123" y="96"/>
                  <a:pt x="110" y="109"/>
                </a:cubicBezTo>
                <a:cubicBezTo>
                  <a:pt x="98" y="121"/>
                  <a:pt x="83" y="128"/>
                  <a:pt x="64" y="128"/>
                </a:cubicBezTo>
                <a:cubicBezTo>
                  <a:pt x="46" y="128"/>
                  <a:pt x="31" y="122"/>
                  <a:pt x="19" y="110"/>
                </a:cubicBezTo>
                <a:cubicBezTo>
                  <a:pt x="7" y="98"/>
                  <a:pt x="0" y="82"/>
                  <a:pt x="0" y="63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110" name="フリーフォーム 109"/>
          <p:cNvSpPr/>
          <p:nvPr/>
        </p:nvSpPr>
        <p:spPr>
          <a:xfrm>
            <a:off x="2567970" y="2802060"/>
            <a:ext cx="159030" cy="128790"/>
          </a:xfrm>
          <a:custGeom>
            <a:avLst/>
            <a:gdLst/>
            <a:ahLst/>
            <a:cxnLst/>
            <a:rect l="0" t="0" r="r" b="b"/>
            <a:pathLst>
              <a:path w="589" h="477">
                <a:moveTo>
                  <a:pt x="399" y="0"/>
                </a:moveTo>
                <a:cubicBezTo>
                  <a:pt x="407" y="2"/>
                  <a:pt x="441" y="4"/>
                  <a:pt x="499" y="4"/>
                </a:cubicBezTo>
                <a:cubicBezTo>
                  <a:pt x="550" y="4"/>
                  <a:pt x="578" y="2"/>
                  <a:pt x="582" y="0"/>
                </a:cubicBezTo>
                <a:lnTo>
                  <a:pt x="589" y="0"/>
                </a:lnTo>
                <a:lnTo>
                  <a:pt x="589" y="66"/>
                </a:lnTo>
                <a:lnTo>
                  <a:pt x="515" y="66"/>
                </a:lnTo>
                <a:lnTo>
                  <a:pt x="407" y="307"/>
                </a:lnTo>
                <a:cubicBezTo>
                  <a:pt x="364" y="405"/>
                  <a:pt x="340" y="458"/>
                  <a:pt x="333" y="466"/>
                </a:cubicBezTo>
                <a:cubicBezTo>
                  <a:pt x="328" y="473"/>
                  <a:pt x="321" y="477"/>
                  <a:pt x="313" y="477"/>
                </a:cubicBezTo>
                <a:cubicBezTo>
                  <a:pt x="312" y="477"/>
                  <a:pt x="309" y="477"/>
                  <a:pt x="306" y="477"/>
                </a:cubicBezTo>
                <a:cubicBezTo>
                  <a:pt x="302" y="477"/>
                  <a:pt x="299" y="476"/>
                  <a:pt x="295" y="476"/>
                </a:cubicBezTo>
                <a:lnTo>
                  <a:pt x="279" y="476"/>
                </a:lnTo>
                <a:cubicBezTo>
                  <a:pt x="268" y="476"/>
                  <a:pt x="260" y="470"/>
                  <a:pt x="254" y="460"/>
                </a:cubicBezTo>
                <a:cubicBezTo>
                  <a:pt x="247" y="449"/>
                  <a:pt x="232" y="417"/>
                  <a:pt x="208" y="364"/>
                </a:cubicBezTo>
                <a:cubicBezTo>
                  <a:pt x="197" y="341"/>
                  <a:pt x="189" y="322"/>
                  <a:pt x="182" y="307"/>
                </a:cubicBezTo>
                <a:lnTo>
                  <a:pt x="74" y="66"/>
                </a:lnTo>
                <a:lnTo>
                  <a:pt x="0" y="66"/>
                </a:lnTo>
                <a:lnTo>
                  <a:pt x="0" y="0"/>
                </a:lnTo>
                <a:lnTo>
                  <a:pt x="9" y="0"/>
                </a:lnTo>
                <a:cubicBezTo>
                  <a:pt x="19" y="2"/>
                  <a:pt x="58" y="4"/>
                  <a:pt x="126" y="4"/>
                </a:cubicBezTo>
                <a:cubicBezTo>
                  <a:pt x="203" y="4"/>
                  <a:pt x="247" y="2"/>
                  <a:pt x="260" y="0"/>
                </a:cubicBezTo>
                <a:lnTo>
                  <a:pt x="270" y="0"/>
                </a:lnTo>
                <a:lnTo>
                  <a:pt x="270" y="66"/>
                </a:lnTo>
                <a:lnTo>
                  <a:pt x="219" y="66"/>
                </a:lnTo>
                <a:lnTo>
                  <a:pt x="275" y="192"/>
                </a:lnTo>
                <a:cubicBezTo>
                  <a:pt x="311" y="274"/>
                  <a:pt x="330" y="314"/>
                  <a:pt x="332" y="314"/>
                </a:cubicBezTo>
                <a:cubicBezTo>
                  <a:pt x="332" y="314"/>
                  <a:pt x="350" y="273"/>
                  <a:pt x="386" y="192"/>
                </a:cubicBezTo>
                <a:cubicBezTo>
                  <a:pt x="422" y="111"/>
                  <a:pt x="441" y="69"/>
                  <a:pt x="442" y="67"/>
                </a:cubicBezTo>
                <a:cubicBezTo>
                  <a:pt x="442" y="66"/>
                  <a:pt x="434" y="66"/>
                  <a:pt x="417" y="66"/>
                </a:cubicBezTo>
                <a:lnTo>
                  <a:pt x="392" y="66"/>
                </a:lnTo>
                <a:lnTo>
                  <a:pt x="392" y="0"/>
                </a:lnTo>
                <a:lnTo>
                  <a:pt x="399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111" name="フリーフォーム 110"/>
          <p:cNvSpPr/>
          <p:nvPr/>
        </p:nvSpPr>
        <p:spPr>
          <a:xfrm>
            <a:off x="2748060" y="2838510"/>
            <a:ext cx="57240" cy="136350"/>
          </a:xfrm>
          <a:custGeom>
            <a:avLst/>
            <a:gdLst/>
            <a:ahLst/>
            <a:cxnLst/>
            <a:rect l="0" t="0" r="r" b="b"/>
            <a:pathLst>
              <a:path w="212" h="505">
                <a:moveTo>
                  <a:pt x="124" y="45"/>
                </a:moveTo>
                <a:cubicBezTo>
                  <a:pt x="124" y="33"/>
                  <a:pt x="128" y="23"/>
                  <a:pt x="138" y="14"/>
                </a:cubicBezTo>
                <a:cubicBezTo>
                  <a:pt x="147" y="5"/>
                  <a:pt x="158" y="0"/>
                  <a:pt x="171" y="0"/>
                </a:cubicBezTo>
                <a:cubicBezTo>
                  <a:pt x="180" y="0"/>
                  <a:pt x="187" y="3"/>
                  <a:pt x="193" y="9"/>
                </a:cubicBezTo>
                <a:cubicBezTo>
                  <a:pt x="199" y="15"/>
                  <a:pt x="203" y="22"/>
                  <a:pt x="203" y="31"/>
                </a:cubicBezTo>
                <a:cubicBezTo>
                  <a:pt x="203" y="43"/>
                  <a:pt x="198" y="53"/>
                  <a:pt x="188" y="63"/>
                </a:cubicBezTo>
                <a:cubicBezTo>
                  <a:pt x="178" y="72"/>
                  <a:pt x="167" y="77"/>
                  <a:pt x="155" y="78"/>
                </a:cubicBezTo>
                <a:cubicBezTo>
                  <a:pt x="148" y="78"/>
                  <a:pt x="141" y="75"/>
                  <a:pt x="134" y="70"/>
                </a:cubicBezTo>
                <a:cubicBezTo>
                  <a:pt x="128" y="65"/>
                  <a:pt x="124" y="57"/>
                  <a:pt x="124" y="45"/>
                </a:cubicBezTo>
                <a:moveTo>
                  <a:pt x="0" y="280"/>
                </a:moveTo>
                <a:cubicBezTo>
                  <a:pt x="0" y="276"/>
                  <a:pt x="3" y="269"/>
                  <a:pt x="8" y="257"/>
                </a:cubicBezTo>
                <a:cubicBezTo>
                  <a:pt x="13" y="246"/>
                  <a:pt x="19" y="233"/>
                  <a:pt x="26" y="219"/>
                </a:cubicBezTo>
                <a:cubicBezTo>
                  <a:pt x="34" y="205"/>
                  <a:pt x="45" y="192"/>
                  <a:pt x="59" y="181"/>
                </a:cubicBezTo>
                <a:cubicBezTo>
                  <a:pt x="74" y="169"/>
                  <a:pt x="89" y="164"/>
                  <a:pt x="104" y="164"/>
                </a:cubicBezTo>
                <a:cubicBezTo>
                  <a:pt x="124" y="164"/>
                  <a:pt x="140" y="170"/>
                  <a:pt x="153" y="181"/>
                </a:cubicBezTo>
                <a:cubicBezTo>
                  <a:pt x="166" y="193"/>
                  <a:pt x="173" y="208"/>
                  <a:pt x="173" y="228"/>
                </a:cubicBezTo>
                <a:cubicBezTo>
                  <a:pt x="173" y="236"/>
                  <a:pt x="170" y="250"/>
                  <a:pt x="163" y="270"/>
                </a:cubicBezTo>
                <a:cubicBezTo>
                  <a:pt x="156" y="289"/>
                  <a:pt x="146" y="316"/>
                  <a:pt x="133" y="349"/>
                </a:cubicBezTo>
                <a:cubicBezTo>
                  <a:pt x="120" y="382"/>
                  <a:pt x="109" y="410"/>
                  <a:pt x="101" y="433"/>
                </a:cubicBezTo>
                <a:cubicBezTo>
                  <a:pt x="99" y="444"/>
                  <a:pt x="97" y="452"/>
                  <a:pt x="97" y="457"/>
                </a:cubicBezTo>
                <a:cubicBezTo>
                  <a:pt x="97" y="470"/>
                  <a:pt x="102" y="477"/>
                  <a:pt x="110" y="477"/>
                </a:cubicBezTo>
                <a:cubicBezTo>
                  <a:pt x="115" y="477"/>
                  <a:pt x="119" y="476"/>
                  <a:pt x="124" y="475"/>
                </a:cubicBezTo>
                <a:cubicBezTo>
                  <a:pt x="129" y="472"/>
                  <a:pt x="135" y="469"/>
                  <a:pt x="142" y="463"/>
                </a:cubicBezTo>
                <a:cubicBezTo>
                  <a:pt x="148" y="458"/>
                  <a:pt x="155" y="449"/>
                  <a:pt x="162" y="437"/>
                </a:cubicBezTo>
                <a:cubicBezTo>
                  <a:pt x="169" y="425"/>
                  <a:pt x="175" y="410"/>
                  <a:pt x="181" y="393"/>
                </a:cubicBezTo>
                <a:cubicBezTo>
                  <a:pt x="182" y="387"/>
                  <a:pt x="183" y="383"/>
                  <a:pt x="184" y="382"/>
                </a:cubicBezTo>
                <a:cubicBezTo>
                  <a:pt x="185" y="381"/>
                  <a:pt x="190" y="381"/>
                  <a:pt x="197" y="381"/>
                </a:cubicBezTo>
                <a:cubicBezTo>
                  <a:pt x="207" y="381"/>
                  <a:pt x="212" y="383"/>
                  <a:pt x="212" y="388"/>
                </a:cubicBezTo>
                <a:cubicBezTo>
                  <a:pt x="212" y="392"/>
                  <a:pt x="210" y="400"/>
                  <a:pt x="205" y="412"/>
                </a:cubicBezTo>
                <a:cubicBezTo>
                  <a:pt x="201" y="423"/>
                  <a:pt x="195" y="436"/>
                  <a:pt x="187" y="450"/>
                </a:cubicBezTo>
                <a:cubicBezTo>
                  <a:pt x="179" y="464"/>
                  <a:pt x="167" y="477"/>
                  <a:pt x="153" y="488"/>
                </a:cubicBezTo>
                <a:cubicBezTo>
                  <a:pt x="138" y="499"/>
                  <a:pt x="123" y="505"/>
                  <a:pt x="106" y="505"/>
                </a:cubicBezTo>
                <a:cubicBezTo>
                  <a:pt x="90" y="505"/>
                  <a:pt x="76" y="500"/>
                  <a:pt x="62" y="489"/>
                </a:cubicBezTo>
                <a:cubicBezTo>
                  <a:pt x="49" y="479"/>
                  <a:pt x="42" y="462"/>
                  <a:pt x="41" y="440"/>
                </a:cubicBezTo>
                <a:cubicBezTo>
                  <a:pt x="41" y="432"/>
                  <a:pt x="42" y="424"/>
                  <a:pt x="45" y="416"/>
                </a:cubicBezTo>
                <a:cubicBezTo>
                  <a:pt x="47" y="409"/>
                  <a:pt x="58" y="380"/>
                  <a:pt x="77" y="331"/>
                </a:cubicBezTo>
                <a:cubicBezTo>
                  <a:pt x="96" y="280"/>
                  <a:pt x="107" y="250"/>
                  <a:pt x="110" y="240"/>
                </a:cubicBezTo>
                <a:cubicBezTo>
                  <a:pt x="113" y="230"/>
                  <a:pt x="115" y="220"/>
                  <a:pt x="115" y="211"/>
                </a:cubicBezTo>
                <a:cubicBezTo>
                  <a:pt x="115" y="199"/>
                  <a:pt x="111" y="193"/>
                  <a:pt x="103" y="193"/>
                </a:cubicBezTo>
                <a:lnTo>
                  <a:pt x="101" y="193"/>
                </a:lnTo>
                <a:cubicBezTo>
                  <a:pt x="86" y="193"/>
                  <a:pt x="72" y="201"/>
                  <a:pt x="60" y="217"/>
                </a:cubicBezTo>
                <a:cubicBezTo>
                  <a:pt x="47" y="234"/>
                  <a:pt x="38" y="255"/>
                  <a:pt x="31" y="280"/>
                </a:cubicBezTo>
                <a:cubicBezTo>
                  <a:pt x="31" y="281"/>
                  <a:pt x="30" y="282"/>
                  <a:pt x="30" y="283"/>
                </a:cubicBezTo>
                <a:cubicBezTo>
                  <a:pt x="29" y="284"/>
                  <a:pt x="29" y="284"/>
                  <a:pt x="29" y="285"/>
                </a:cubicBezTo>
                <a:cubicBezTo>
                  <a:pt x="29" y="285"/>
                  <a:pt x="29" y="286"/>
                  <a:pt x="28" y="286"/>
                </a:cubicBezTo>
                <a:cubicBezTo>
                  <a:pt x="27" y="287"/>
                  <a:pt x="26" y="287"/>
                  <a:pt x="25" y="287"/>
                </a:cubicBezTo>
                <a:cubicBezTo>
                  <a:pt x="25" y="287"/>
                  <a:pt x="24" y="287"/>
                  <a:pt x="22" y="287"/>
                </a:cubicBezTo>
                <a:cubicBezTo>
                  <a:pt x="21" y="287"/>
                  <a:pt x="19" y="287"/>
                  <a:pt x="16" y="287"/>
                </a:cubicBezTo>
                <a:lnTo>
                  <a:pt x="5" y="287"/>
                </a:lnTo>
                <a:cubicBezTo>
                  <a:pt x="2" y="284"/>
                  <a:pt x="0" y="282"/>
                  <a:pt x="0" y="280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112" name="フリーフォーム 111"/>
          <p:cNvSpPr/>
          <p:nvPr/>
        </p:nvSpPr>
        <p:spPr>
          <a:xfrm>
            <a:off x="2854980" y="2714580"/>
            <a:ext cx="68850" cy="286740"/>
          </a:xfrm>
          <a:custGeom>
            <a:avLst/>
            <a:gdLst/>
            <a:ahLst/>
            <a:cxnLst/>
            <a:rect l="0" t="0" r="r" b="b"/>
            <a:pathLst>
              <a:path w="255" h="1062">
                <a:moveTo>
                  <a:pt x="0" y="531"/>
                </a:moveTo>
                <a:cubicBezTo>
                  <a:pt x="0" y="482"/>
                  <a:pt x="4" y="436"/>
                  <a:pt x="11" y="392"/>
                </a:cubicBezTo>
                <a:cubicBezTo>
                  <a:pt x="18" y="348"/>
                  <a:pt x="26" y="310"/>
                  <a:pt x="35" y="279"/>
                </a:cubicBezTo>
                <a:cubicBezTo>
                  <a:pt x="44" y="247"/>
                  <a:pt x="57" y="216"/>
                  <a:pt x="74" y="185"/>
                </a:cubicBezTo>
                <a:cubicBezTo>
                  <a:pt x="91" y="155"/>
                  <a:pt x="105" y="131"/>
                  <a:pt x="115" y="114"/>
                </a:cubicBezTo>
                <a:cubicBezTo>
                  <a:pt x="125" y="97"/>
                  <a:pt x="140" y="79"/>
                  <a:pt x="159" y="59"/>
                </a:cubicBezTo>
                <a:cubicBezTo>
                  <a:pt x="180" y="39"/>
                  <a:pt x="192" y="27"/>
                  <a:pt x="195" y="23"/>
                </a:cubicBezTo>
                <a:cubicBezTo>
                  <a:pt x="199" y="19"/>
                  <a:pt x="208" y="10"/>
                  <a:pt x="222" y="0"/>
                </a:cubicBezTo>
                <a:lnTo>
                  <a:pt x="236" y="0"/>
                </a:lnTo>
                <a:lnTo>
                  <a:pt x="240" y="0"/>
                </a:lnTo>
                <a:cubicBezTo>
                  <a:pt x="250" y="0"/>
                  <a:pt x="255" y="3"/>
                  <a:pt x="255" y="9"/>
                </a:cubicBezTo>
                <a:cubicBezTo>
                  <a:pt x="255" y="12"/>
                  <a:pt x="249" y="20"/>
                  <a:pt x="237" y="32"/>
                </a:cubicBezTo>
                <a:cubicBezTo>
                  <a:pt x="225" y="45"/>
                  <a:pt x="210" y="64"/>
                  <a:pt x="193" y="89"/>
                </a:cubicBezTo>
                <a:cubicBezTo>
                  <a:pt x="175" y="113"/>
                  <a:pt x="158" y="144"/>
                  <a:pt x="140" y="180"/>
                </a:cubicBezTo>
                <a:cubicBezTo>
                  <a:pt x="123" y="216"/>
                  <a:pt x="108" y="265"/>
                  <a:pt x="96" y="326"/>
                </a:cubicBezTo>
                <a:cubicBezTo>
                  <a:pt x="84" y="388"/>
                  <a:pt x="78" y="456"/>
                  <a:pt x="78" y="531"/>
                </a:cubicBezTo>
                <a:cubicBezTo>
                  <a:pt x="78" y="606"/>
                  <a:pt x="84" y="674"/>
                  <a:pt x="96" y="735"/>
                </a:cubicBezTo>
                <a:cubicBezTo>
                  <a:pt x="108" y="796"/>
                  <a:pt x="122" y="845"/>
                  <a:pt x="139" y="882"/>
                </a:cubicBezTo>
                <a:cubicBezTo>
                  <a:pt x="156" y="920"/>
                  <a:pt x="173" y="950"/>
                  <a:pt x="192" y="974"/>
                </a:cubicBezTo>
                <a:cubicBezTo>
                  <a:pt x="210" y="997"/>
                  <a:pt x="225" y="1016"/>
                  <a:pt x="237" y="1030"/>
                </a:cubicBezTo>
                <a:cubicBezTo>
                  <a:pt x="249" y="1044"/>
                  <a:pt x="255" y="1051"/>
                  <a:pt x="255" y="1052"/>
                </a:cubicBezTo>
                <a:cubicBezTo>
                  <a:pt x="255" y="1058"/>
                  <a:pt x="249" y="1062"/>
                  <a:pt x="239" y="1062"/>
                </a:cubicBezTo>
                <a:lnTo>
                  <a:pt x="236" y="1062"/>
                </a:lnTo>
                <a:lnTo>
                  <a:pt x="222" y="1062"/>
                </a:lnTo>
                <a:lnTo>
                  <a:pt x="192" y="1036"/>
                </a:lnTo>
                <a:cubicBezTo>
                  <a:pt x="125" y="976"/>
                  <a:pt x="76" y="901"/>
                  <a:pt x="46" y="811"/>
                </a:cubicBezTo>
                <a:cubicBezTo>
                  <a:pt x="15" y="721"/>
                  <a:pt x="0" y="628"/>
                  <a:pt x="0" y="531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113" name="フリーフォーム 112"/>
          <p:cNvSpPr/>
          <p:nvPr/>
        </p:nvSpPr>
        <p:spPr>
          <a:xfrm>
            <a:off x="2944890" y="2749950"/>
            <a:ext cx="89370" cy="182790"/>
          </a:xfrm>
          <a:custGeom>
            <a:avLst/>
            <a:gdLst/>
            <a:ahLst/>
            <a:cxnLst/>
            <a:rect l="0" t="0" r="r" b="b"/>
            <a:pathLst>
              <a:path w="331" h="677">
                <a:moveTo>
                  <a:pt x="8" y="257"/>
                </a:moveTo>
                <a:cubicBezTo>
                  <a:pt x="3" y="252"/>
                  <a:pt x="0" y="248"/>
                  <a:pt x="0" y="246"/>
                </a:cubicBezTo>
                <a:cubicBezTo>
                  <a:pt x="0" y="243"/>
                  <a:pt x="1" y="238"/>
                  <a:pt x="4" y="229"/>
                </a:cubicBezTo>
                <a:cubicBezTo>
                  <a:pt x="6" y="221"/>
                  <a:pt x="7" y="216"/>
                  <a:pt x="9" y="214"/>
                </a:cubicBezTo>
                <a:cubicBezTo>
                  <a:pt x="10" y="211"/>
                  <a:pt x="13" y="209"/>
                  <a:pt x="18" y="209"/>
                </a:cubicBezTo>
                <a:cubicBezTo>
                  <a:pt x="23" y="209"/>
                  <a:pt x="41" y="209"/>
                  <a:pt x="72" y="208"/>
                </a:cubicBezTo>
                <a:lnTo>
                  <a:pt x="130" y="208"/>
                </a:lnTo>
                <a:lnTo>
                  <a:pt x="150" y="123"/>
                </a:lnTo>
                <a:cubicBezTo>
                  <a:pt x="152" y="115"/>
                  <a:pt x="154" y="105"/>
                  <a:pt x="157" y="92"/>
                </a:cubicBezTo>
                <a:cubicBezTo>
                  <a:pt x="160" y="80"/>
                  <a:pt x="163" y="70"/>
                  <a:pt x="165" y="64"/>
                </a:cubicBezTo>
                <a:cubicBezTo>
                  <a:pt x="167" y="58"/>
                  <a:pt x="169" y="51"/>
                  <a:pt x="171" y="43"/>
                </a:cubicBezTo>
                <a:cubicBezTo>
                  <a:pt x="173" y="34"/>
                  <a:pt x="176" y="28"/>
                  <a:pt x="180" y="25"/>
                </a:cubicBezTo>
                <a:cubicBezTo>
                  <a:pt x="183" y="21"/>
                  <a:pt x="187" y="17"/>
                  <a:pt x="190" y="12"/>
                </a:cubicBezTo>
                <a:cubicBezTo>
                  <a:pt x="194" y="7"/>
                  <a:pt x="199" y="4"/>
                  <a:pt x="205" y="2"/>
                </a:cubicBezTo>
                <a:cubicBezTo>
                  <a:pt x="211" y="1"/>
                  <a:pt x="218" y="0"/>
                  <a:pt x="224" y="0"/>
                </a:cubicBezTo>
                <a:cubicBezTo>
                  <a:pt x="237" y="1"/>
                  <a:pt x="246" y="5"/>
                  <a:pt x="251" y="12"/>
                </a:cubicBezTo>
                <a:cubicBezTo>
                  <a:pt x="256" y="19"/>
                  <a:pt x="258" y="26"/>
                  <a:pt x="258" y="32"/>
                </a:cubicBezTo>
                <a:cubicBezTo>
                  <a:pt x="258" y="37"/>
                  <a:pt x="255" y="54"/>
                  <a:pt x="249" y="83"/>
                </a:cubicBezTo>
                <a:cubicBezTo>
                  <a:pt x="242" y="111"/>
                  <a:pt x="235" y="139"/>
                  <a:pt x="227" y="167"/>
                </a:cubicBezTo>
                <a:lnTo>
                  <a:pt x="217" y="206"/>
                </a:lnTo>
                <a:cubicBezTo>
                  <a:pt x="217" y="207"/>
                  <a:pt x="234" y="208"/>
                  <a:pt x="270" y="208"/>
                </a:cubicBezTo>
                <a:lnTo>
                  <a:pt x="324" y="208"/>
                </a:lnTo>
                <a:cubicBezTo>
                  <a:pt x="329" y="213"/>
                  <a:pt x="331" y="217"/>
                  <a:pt x="331" y="220"/>
                </a:cubicBezTo>
                <a:cubicBezTo>
                  <a:pt x="331" y="235"/>
                  <a:pt x="327" y="248"/>
                  <a:pt x="318" y="257"/>
                </a:cubicBezTo>
                <a:lnTo>
                  <a:pt x="204" y="257"/>
                </a:lnTo>
                <a:lnTo>
                  <a:pt x="166" y="411"/>
                </a:lnTo>
                <a:cubicBezTo>
                  <a:pt x="138" y="524"/>
                  <a:pt x="124" y="585"/>
                  <a:pt x="124" y="593"/>
                </a:cubicBezTo>
                <a:cubicBezTo>
                  <a:pt x="124" y="623"/>
                  <a:pt x="134" y="638"/>
                  <a:pt x="153" y="638"/>
                </a:cubicBezTo>
                <a:cubicBezTo>
                  <a:pt x="178" y="638"/>
                  <a:pt x="202" y="626"/>
                  <a:pt x="225" y="602"/>
                </a:cubicBezTo>
                <a:cubicBezTo>
                  <a:pt x="249" y="578"/>
                  <a:pt x="267" y="548"/>
                  <a:pt x="281" y="513"/>
                </a:cubicBezTo>
                <a:cubicBezTo>
                  <a:pt x="283" y="508"/>
                  <a:pt x="285" y="506"/>
                  <a:pt x="287" y="505"/>
                </a:cubicBezTo>
                <a:cubicBezTo>
                  <a:pt x="289" y="504"/>
                  <a:pt x="294" y="504"/>
                  <a:pt x="303" y="503"/>
                </a:cubicBezTo>
                <a:lnTo>
                  <a:pt x="307" y="503"/>
                </a:lnTo>
                <a:cubicBezTo>
                  <a:pt x="318" y="503"/>
                  <a:pt x="323" y="506"/>
                  <a:pt x="323" y="512"/>
                </a:cubicBezTo>
                <a:cubicBezTo>
                  <a:pt x="323" y="514"/>
                  <a:pt x="322" y="518"/>
                  <a:pt x="320" y="524"/>
                </a:cubicBezTo>
                <a:cubicBezTo>
                  <a:pt x="316" y="536"/>
                  <a:pt x="310" y="549"/>
                  <a:pt x="301" y="565"/>
                </a:cubicBezTo>
                <a:cubicBezTo>
                  <a:pt x="291" y="580"/>
                  <a:pt x="279" y="597"/>
                  <a:pt x="264" y="614"/>
                </a:cubicBezTo>
                <a:cubicBezTo>
                  <a:pt x="250" y="632"/>
                  <a:pt x="232" y="647"/>
                  <a:pt x="210" y="659"/>
                </a:cubicBezTo>
                <a:cubicBezTo>
                  <a:pt x="189" y="671"/>
                  <a:pt x="168" y="677"/>
                  <a:pt x="146" y="677"/>
                </a:cubicBezTo>
                <a:cubicBezTo>
                  <a:pt x="124" y="677"/>
                  <a:pt x="103" y="672"/>
                  <a:pt x="84" y="661"/>
                </a:cubicBezTo>
                <a:cubicBezTo>
                  <a:pt x="65" y="651"/>
                  <a:pt x="51" y="632"/>
                  <a:pt x="43" y="606"/>
                </a:cubicBezTo>
                <a:cubicBezTo>
                  <a:pt x="41" y="600"/>
                  <a:pt x="41" y="591"/>
                  <a:pt x="41" y="577"/>
                </a:cubicBezTo>
                <a:lnTo>
                  <a:pt x="41" y="558"/>
                </a:lnTo>
                <a:lnTo>
                  <a:pt x="78" y="410"/>
                </a:lnTo>
                <a:cubicBezTo>
                  <a:pt x="103" y="310"/>
                  <a:pt x="116" y="260"/>
                  <a:pt x="117" y="259"/>
                </a:cubicBezTo>
                <a:cubicBezTo>
                  <a:pt x="117" y="258"/>
                  <a:pt x="98" y="257"/>
                  <a:pt x="62" y="257"/>
                </a:cubicBezTo>
                <a:lnTo>
                  <a:pt x="8" y="257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114" name="フリーフォーム 113"/>
          <p:cNvSpPr/>
          <p:nvPr/>
        </p:nvSpPr>
        <p:spPr>
          <a:xfrm>
            <a:off x="3058830" y="2714580"/>
            <a:ext cx="68580" cy="286740"/>
          </a:xfrm>
          <a:custGeom>
            <a:avLst/>
            <a:gdLst/>
            <a:ahLst/>
            <a:cxnLst/>
            <a:rect l="0" t="0" r="r" b="b"/>
            <a:pathLst>
              <a:path w="254" h="1062">
                <a:moveTo>
                  <a:pt x="5" y="1"/>
                </a:moveTo>
                <a:lnTo>
                  <a:pt x="9" y="0"/>
                </a:lnTo>
                <a:cubicBezTo>
                  <a:pt x="13" y="0"/>
                  <a:pt x="16" y="0"/>
                  <a:pt x="20" y="0"/>
                </a:cubicBezTo>
                <a:lnTo>
                  <a:pt x="32" y="0"/>
                </a:lnTo>
                <a:lnTo>
                  <a:pt x="62" y="26"/>
                </a:lnTo>
                <a:cubicBezTo>
                  <a:pt x="129" y="86"/>
                  <a:pt x="177" y="161"/>
                  <a:pt x="209" y="251"/>
                </a:cubicBezTo>
                <a:cubicBezTo>
                  <a:pt x="239" y="341"/>
                  <a:pt x="254" y="434"/>
                  <a:pt x="254" y="531"/>
                </a:cubicBezTo>
                <a:cubicBezTo>
                  <a:pt x="254" y="579"/>
                  <a:pt x="251" y="626"/>
                  <a:pt x="244" y="670"/>
                </a:cubicBezTo>
                <a:cubicBezTo>
                  <a:pt x="236" y="715"/>
                  <a:pt x="228" y="753"/>
                  <a:pt x="219" y="784"/>
                </a:cubicBezTo>
                <a:cubicBezTo>
                  <a:pt x="210" y="815"/>
                  <a:pt x="197" y="846"/>
                  <a:pt x="179" y="877"/>
                </a:cubicBezTo>
                <a:cubicBezTo>
                  <a:pt x="162" y="908"/>
                  <a:pt x="148" y="932"/>
                  <a:pt x="139" y="948"/>
                </a:cubicBezTo>
                <a:cubicBezTo>
                  <a:pt x="129" y="964"/>
                  <a:pt x="114" y="982"/>
                  <a:pt x="95" y="1002"/>
                </a:cubicBezTo>
                <a:cubicBezTo>
                  <a:pt x="76" y="1022"/>
                  <a:pt x="65" y="1034"/>
                  <a:pt x="61" y="1037"/>
                </a:cubicBezTo>
                <a:cubicBezTo>
                  <a:pt x="58" y="1041"/>
                  <a:pt x="49" y="1048"/>
                  <a:pt x="37" y="1057"/>
                </a:cubicBezTo>
                <a:cubicBezTo>
                  <a:pt x="35" y="1060"/>
                  <a:pt x="33" y="1061"/>
                  <a:pt x="32" y="1062"/>
                </a:cubicBezTo>
                <a:lnTo>
                  <a:pt x="20" y="1062"/>
                </a:lnTo>
                <a:cubicBezTo>
                  <a:pt x="14" y="1062"/>
                  <a:pt x="10" y="1062"/>
                  <a:pt x="8" y="1062"/>
                </a:cubicBezTo>
                <a:cubicBezTo>
                  <a:pt x="6" y="1062"/>
                  <a:pt x="4" y="1061"/>
                  <a:pt x="3" y="1058"/>
                </a:cubicBezTo>
                <a:cubicBezTo>
                  <a:pt x="1" y="1056"/>
                  <a:pt x="0" y="1053"/>
                  <a:pt x="0" y="1049"/>
                </a:cubicBezTo>
                <a:cubicBezTo>
                  <a:pt x="0" y="1048"/>
                  <a:pt x="4" y="1044"/>
                  <a:pt x="11" y="1035"/>
                </a:cubicBezTo>
                <a:cubicBezTo>
                  <a:pt x="121" y="921"/>
                  <a:pt x="176" y="753"/>
                  <a:pt x="176" y="531"/>
                </a:cubicBezTo>
                <a:cubicBezTo>
                  <a:pt x="176" y="309"/>
                  <a:pt x="121" y="141"/>
                  <a:pt x="11" y="27"/>
                </a:cubicBezTo>
                <a:cubicBezTo>
                  <a:pt x="4" y="19"/>
                  <a:pt x="0" y="14"/>
                  <a:pt x="0" y="13"/>
                </a:cubicBezTo>
                <a:cubicBezTo>
                  <a:pt x="0" y="7"/>
                  <a:pt x="1" y="3"/>
                  <a:pt x="5" y="1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115" name="フリーフォーム 114"/>
          <p:cNvSpPr/>
          <p:nvPr/>
        </p:nvSpPr>
        <p:spPr>
          <a:xfrm>
            <a:off x="2141640" y="3027240"/>
            <a:ext cx="138780" cy="95850"/>
          </a:xfrm>
          <a:custGeom>
            <a:avLst/>
            <a:gdLst/>
            <a:ahLst/>
            <a:cxnLst/>
            <a:rect l="0" t="0" r="r" b="b"/>
            <a:pathLst>
              <a:path w="514" h="355">
                <a:moveTo>
                  <a:pt x="0" y="7"/>
                </a:moveTo>
                <a:lnTo>
                  <a:pt x="6" y="0"/>
                </a:lnTo>
                <a:lnTo>
                  <a:pt x="25" y="0"/>
                </a:lnTo>
                <a:cubicBezTo>
                  <a:pt x="34" y="0"/>
                  <a:pt x="39" y="0"/>
                  <a:pt x="42" y="0"/>
                </a:cubicBezTo>
                <a:cubicBezTo>
                  <a:pt x="45" y="0"/>
                  <a:pt x="48" y="2"/>
                  <a:pt x="50" y="5"/>
                </a:cubicBezTo>
                <a:cubicBezTo>
                  <a:pt x="52" y="7"/>
                  <a:pt x="54" y="10"/>
                  <a:pt x="55" y="12"/>
                </a:cubicBezTo>
                <a:cubicBezTo>
                  <a:pt x="56" y="14"/>
                  <a:pt x="59" y="19"/>
                  <a:pt x="63" y="27"/>
                </a:cubicBezTo>
                <a:cubicBezTo>
                  <a:pt x="68" y="35"/>
                  <a:pt x="74" y="43"/>
                  <a:pt x="84" y="52"/>
                </a:cubicBezTo>
                <a:cubicBezTo>
                  <a:pt x="127" y="110"/>
                  <a:pt x="187" y="153"/>
                  <a:pt x="265" y="182"/>
                </a:cubicBezTo>
                <a:cubicBezTo>
                  <a:pt x="343" y="211"/>
                  <a:pt x="419" y="226"/>
                  <a:pt x="494" y="226"/>
                </a:cubicBezTo>
                <a:cubicBezTo>
                  <a:pt x="503" y="226"/>
                  <a:pt x="509" y="227"/>
                  <a:pt x="511" y="229"/>
                </a:cubicBezTo>
                <a:cubicBezTo>
                  <a:pt x="513" y="232"/>
                  <a:pt x="514" y="239"/>
                  <a:pt x="514" y="253"/>
                </a:cubicBezTo>
                <a:lnTo>
                  <a:pt x="514" y="291"/>
                </a:lnTo>
                <a:lnTo>
                  <a:pt x="514" y="325"/>
                </a:lnTo>
                <a:cubicBezTo>
                  <a:pt x="514" y="339"/>
                  <a:pt x="513" y="348"/>
                  <a:pt x="511" y="350"/>
                </a:cubicBezTo>
                <a:cubicBezTo>
                  <a:pt x="509" y="353"/>
                  <a:pt x="504" y="355"/>
                  <a:pt x="495" y="355"/>
                </a:cubicBezTo>
                <a:cubicBezTo>
                  <a:pt x="434" y="355"/>
                  <a:pt x="369" y="342"/>
                  <a:pt x="302" y="316"/>
                </a:cubicBezTo>
                <a:cubicBezTo>
                  <a:pt x="171" y="257"/>
                  <a:pt x="74" y="172"/>
                  <a:pt x="8" y="59"/>
                </a:cubicBezTo>
                <a:lnTo>
                  <a:pt x="0" y="44"/>
                </a:lnTo>
                <a:lnTo>
                  <a:pt x="0" y="7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116" name="フリーフォーム 115"/>
          <p:cNvSpPr/>
          <p:nvPr/>
        </p:nvSpPr>
        <p:spPr>
          <a:xfrm>
            <a:off x="3022650" y="3027240"/>
            <a:ext cx="138780" cy="95850"/>
          </a:xfrm>
          <a:custGeom>
            <a:avLst/>
            <a:gdLst/>
            <a:ahLst/>
            <a:cxnLst/>
            <a:rect l="0" t="0" r="r" b="b"/>
            <a:pathLst>
              <a:path w="514" h="355">
                <a:moveTo>
                  <a:pt x="0" y="291"/>
                </a:moveTo>
                <a:lnTo>
                  <a:pt x="0" y="253"/>
                </a:lnTo>
                <a:cubicBezTo>
                  <a:pt x="0" y="240"/>
                  <a:pt x="1" y="233"/>
                  <a:pt x="3" y="231"/>
                </a:cubicBezTo>
                <a:cubicBezTo>
                  <a:pt x="5" y="228"/>
                  <a:pt x="11" y="227"/>
                  <a:pt x="20" y="226"/>
                </a:cubicBezTo>
                <a:cubicBezTo>
                  <a:pt x="120" y="226"/>
                  <a:pt x="206" y="208"/>
                  <a:pt x="276" y="172"/>
                </a:cubicBezTo>
                <a:cubicBezTo>
                  <a:pt x="346" y="136"/>
                  <a:pt x="398" y="96"/>
                  <a:pt x="432" y="52"/>
                </a:cubicBezTo>
                <a:cubicBezTo>
                  <a:pt x="437" y="46"/>
                  <a:pt x="443" y="38"/>
                  <a:pt x="449" y="30"/>
                </a:cubicBezTo>
                <a:cubicBezTo>
                  <a:pt x="454" y="21"/>
                  <a:pt x="459" y="15"/>
                  <a:pt x="461" y="10"/>
                </a:cubicBezTo>
                <a:cubicBezTo>
                  <a:pt x="464" y="5"/>
                  <a:pt x="467" y="2"/>
                  <a:pt x="469" y="2"/>
                </a:cubicBezTo>
                <a:cubicBezTo>
                  <a:pt x="470" y="1"/>
                  <a:pt x="477" y="0"/>
                  <a:pt x="490" y="0"/>
                </a:cubicBezTo>
                <a:lnTo>
                  <a:pt x="508" y="0"/>
                </a:lnTo>
                <a:lnTo>
                  <a:pt x="514" y="7"/>
                </a:lnTo>
                <a:lnTo>
                  <a:pt x="514" y="44"/>
                </a:lnTo>
                <a:lnTo>
                  <a:pt x="506" y="59"/>
                </a:lnTo>
                <a:cubicBezTo>
                  <a:pt x="442" y="172"/>
                  <a:pt x="343" y="257"/>
                  <a:pt x="212" y="316"/>
                </a:cubicBezTo>
                <a:cubicBezTo>
                  <a:pt x="145" y="342"/>
                  <a:pt x="81" y="355"/>
                  <a:pt x="19" y="355"/>
                </a:cubicBezTo>
                <a:cubicBezTo>
                  <a:pt x="10" y="355"/>
                  <a:pt x="4" y="354"/>
                  <a:pt x="3" y="351"/>
                </a:cubicBezTo>
                <a:cubicBezTo>
                  <a:pt x="2" y="349"/>
                  <a:pt x="1" y="342"/>
                  <a:pt x="0" y="329"/>
                </a:cubicBezTo>
                <a:lnTo>
                  <a:pt x="0" y="291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117" name="フリーフォーム 116"/>
          <p:cNvSpPr/>
          <p:nvPr/>
        </p:nvSpPr>
        <p:spPr>
          <a:xfrm>
            <a:off x="2519640" y="3088260"/>
            <a:ext cx="139050" cy="95850"/>
          </a:xfrm>
          <a:custGeom>
            <a:avLst/>
            <a:gdLst/>
            <a:ahLst/>
            <a:cxnLst/>
            <a:rect l="0" t="0" r="r" b="b"/>
            <a:pathLst>
              <a:path w="515" h="355">
                <a:moveTo>
                  <a:pt x="0" y="65"/>
                </a:moveTo>
                <a:cubicBezTo>
                  <a:pt x="0" y="34"/>
                  <a:pt x="0" y="15"/>
                  <a:pt x="0" y="10"/>
                </a:cubicBezTo>
                <a:cubicBezTo>
                  <a:pt x="0" y="5"/>
                  <a:pt x="2" y="2"/>
                  <a:pt x="5" y="2"/>
                </a:cubicBezTo>
                <a:cubicBezTo>
                  <a:pt x="8" y="1"/>
                  <a:pt x="14" y="0"/>
                  <a:pt x="21" y="0"/>
                </a:cubicBezTo>
                <a:cubicBezTo>
                  <a:pt x="82" y="0"/>
                  <a:pt x="146" y="13"/>
                  <a:pt x="213" y="39"/>
                </a:cubicBezTo>
                <a:cubicBezTo>
                  <a:pt x="344" y="97"/>
                  <a:pt x="442" y="183"/>
                  <a:pt x="506" y="296"/>
                </a:cubicBezTo>
                <a:lnTo>
                  <a:pt x="515" y="311"/>
                </a:lnTo>
                <a:lnTo>
                  <a:pt x="515" y="348"/>
                </a:lnTo>
                <a:lnTo>
                  <a:pt x="508" y="355"/>
                </a:lnTo>
                <a:lnTo>
                  <a:pt x="490" y="355"/>
                </a:lnTo>
                <a:lnTo>
                  <a:pt x="486" y="355"/>
                </a:lnTo>
                <a:cubicBezTo>
                  <a:pt x="479" y="355"/>
                  <a:pt x="474" y="355"/>
                  <a:pt x="472" y="355"/>
                </a:cubicBezTo>
                <a:cubicBezTo>
                  <a:pt x="470" y="355"/>
                  <a:pt x="468" y="353"/>
                  <a:pt x="466" y="350"/>
                </a:cubicBezTo>
                <a:cubicBezTo>
                  <a:pt x="464" y="348"/>
                  <a:pt x="462" y="345"/>
                  <a:pt x="460" y="343"/>
                </a:cubicBezTo>
                <a:cubicBezTo>
                  <a:pt x="459" y="341"/>
                  <a:pt x="456" y="335"/>
                  <a:pt x="451" y="327"/>
                </a:cubicBezTo>
                <a:cubicBezTo>
                  <a:pt x="446" y="319"/>
                  <a:pt x="440" y="310"/>
                  <a:pt x="432" y="302"/>
                </a:cubicBezTo>
                <a:cubicBezTo>
                  <a:pt x="386" y="244"/>
                  <a:pt x="325" y="201"/>
                  <a:pt x="249" y="172"/>
                </a:cubicBezTo>
                <a:cubicBezTo>
                  <a:pt x="174" y="143"/>
                  <a:pt x="97" y="129"/>
                  <a:pt x="20" y="129"/>
                </a:cubicBezTo>
                <a:cubicBezTo>
                  <a:pt x="11" y="129"/>
                  <a:pt x="5" y="128"/>
                  <a:pt x="3" y="125"/>
                </a:cubicBezTo>
                <a:cubicBezTo>
                  <a:pt x="1" y="123"/>
                  <a:pt x="0" y="115"/>
                  <a:pt x="0" y="102"/>
                </a:cubicBezTo>
                <a:lnTo>
                  <a:pt x="0" y="65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118" name="フリーフォーム 117"/>
          <p:cNvSpPr/>
          <p:nvPr/>
        </p:nvSpPr>
        <p:spPr>
          <a:xfrm>
            <a:off x="2644650" y="3088260"/>
            <a:ext cx="138780" cy="95850"/>
          </a:xfrm>
          <a:custGeom>
            <a:avLst/>
            <a:gdLst/>
            <a:ahLst/>
            <a:cxnLst/>
            <a:rect l="0" t="0" r="r" b="b"/>
            <a:pathLst>
              <a:path w="514" h="355">
                <a:moveTo>
                  <a:pt x="6" y="355"/>
                </a:moveTo>
                <a:lnTo>
                  <a:pt x="0" y="348"/>
                </a:lnTo>
                <a:lnTo>
                  <a:pt x="0" y="311"/>
                </a:lnTo>
                <a:lnTo>
                  <a:pt x="8" y="296"/>
                </a:lnTo>
                <a:cubicBezTo>
                  <a:pt x="73" y="183"/>
                  <a:pt x="170" y="97"/>
                  <a:pt x="302" y="39"/>
                </a:cubicBezTo>
                <a:cubicBezTo>
                  <a:pt x="354" y="18"/>
                  <a:pt x="409" y="6"/>
                  <a:pt x="466" y="1"/>
                </a:cubicBezTo>
                <a:cubicBezTo>
                  <a:pt x="469" y="1"/>
                  <a:pt x="473" y="1"/>
                  <a:pt x="479" y="1"/>
                </a:cubicBezTo>
                <a:cubicBezTo>
                  <a:pt x="486" y="1"/>
                  <a:pt x="490" y="1"/>
                  <a:pt x="493" y="0"/>
                </a:cubicBezTo>
                <a:cubicBezTo>
                  <a:pt x="503" y="0"/>
                  <a:pt x="509" y="1"/>
                  <a:pt x="511" y="3"/>
                </a:cubicBezTo>
                <a:cubicBezTo>
                  <a:pt x="513" y="6"/>
                  <a:pt x="514" y="12"/>
                  <a:pt x="514" y="24"/>
                </a:cubicBezTo>
                <a:lnTo>
                  <a:pt x="514" y="65"/>
                </a:lnTo>
                <a:lnTo>
                  <a:pt x="514" y="102"/>
                </a:lnTo>
                <a:cubicBezTo>
                  <a:pt x="514" y="115"/>
                  <a:pt x="513" y="122"/>
                  <a:pt x="511" y="124"/>
                </a:cubicBezTo>
                <a:cubicBezTo>
                  <a:pt x="509" y="126"/>
                  <a:pt x="503" y="128"/>
                  <a:pt x="494" y="129"/>
                </a:cubicBezTo>
                <a:cubicBezTo>
                  <a:pt x="400" y="129"/>
                  <a:pt x="312" y="148"/>
                  <a:pt x="231" y="187"/>
                </a:cubicBezTo>
                <a:cubicBezTo>
                  <a:pt x="149" y="226"/>
                  <a:pt x="89" y="279"/>
                  <a:pt x="52" y="346"/>
                </a:cubicBezTo>
                <a:cubicBezTo>
                  <a:pt x="49" y="350"/>
                  <a:pt x="46" y="353"/>
                  <a:pt x="44" y="354"/>
                </a:cubicBezTo>
                <a:cubicBezTo>
                  <a:pt x="42" y="354"/>
                  <a:pt x="35" y="355"/>
                  <a:pt x="24" y="355"/>
                </a:cubicBezTo>
                <a:lnTo>
                  <a:pt x="6" y="355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119" name="フリーフォーム 118"/>
          <p:cNvSpPr/>
          <p:nvPr/>
        </p:nvSpPr>
        <p:spPr>
          <a:xfrm>
            <a:off x="2248830" y="3088260"/>
            <a:ext cx="302670" cy="34830"/>
          </a:xfrm>
          <a:custGeom>
            <a:avLst/>
            <a:gdLst/>
            <a:ahLst/>
            <a:cxnLst/>
            <a:rect l="0" t="0" r="r" b="b"/>
            <a:pathLst>
              <a:path w="1121" h="129">
                <a:moveTo>
                  <a:pt x="0" y="0"/>
                </a:moveTo>
                <a:lnTo>
                  <a:pt x="1121" y="0"/>
                </a:lnTo>
                <a:lnTo>
                  <a:pt x="1121" y="129"/>
                </a:lnTo>
                <a:lnTo>
                  <a:pt x="0" y="12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120" name="フリーフォーム 119"/>
          <p:cNvSpPr/>
          <p:nvPr/>
        </p:nvSpPr>
        <p:spPr>
          <a:xfrm>
            <a:off x="2751570" y="3088260"/>
            <a:ext cx="302940" cy="34830"/>
          </a:xfrm>
          <a:custGeom>
            <a:avLst/>
            <a:gdLst/>
            <a:ahLst/>
            <a:cxnLst/>
            <a:rect l="0" t="0" r="r" b="b"/>
            <a:pathLst>
              <a:path w="1122" h="129">
                <a:moveTo>
                  <a:pt x="0" y="0"/>
                </a:moveTo>
                <a:lnTo>
                  <a:pt x="1122" y="0"/>
                </a:lnTo>
                <a:lnTo>
                  <a:pt x="1122" y="129"/>
                </a:lnTo>
                <a:lnTo>
                  <a:pt x="0" y="12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121" name="テキスト ボックス 120"/>
          <p:cNvSpPr txBox="1"/>
          <p:nvPr/>
        </p:nvSpPr>
        <p:spPr>
          <a:xfrm>
            <a:off x="500040" y="2024191"/>
            <a:ext cx="3286156" cy="39472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altLang="en-US" sz="2565" b="1">
                <a:solidFill>
                  <a:srgbClr val="455A64"/>
                </a:solidFill>
                <a:latin typeface="HiraKakuProN-W6"/>
                <a:ea typeface="HiraKakuProN-W6"/>
              </a:rPr>
              <a:t>完全な速度更新⽅程式</a:t>
            </a:r>
            <a:endParaRPr lang="en-US" sz="2565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122" name="フリーフォーム 121"/>
          <p:cNvSpPr/>
          <p:nvPr/>
        </p:nvSpPr>
        <p:spPr>
          <a:xfrm>
            <a:off x="3234060" y="2762370"/>
            <a:ext cx="191160" cy="190620"/>
          </a:xfrm>
          <a:custGeom>
            <a:avLst/>
            <a:gdLst/>
            <a:ahLst/>
            <a:cxnLst/>
            <a:rect l="0" t="0" r="r" b="b"/>
            <a:pathLst>
              <a:path w="708" h="706">
                <a:moveTo>
                  <a:pt x="0" y="368"/>
                </a:moveTo>
                <a:cubicBezTo>
                  <a:pt x="0" y="368"/>
                  <a:pt x="0" y="363"/>
                  <a:pt x="0" y="354"/>
                </a:cubicBezTo>
                <a:cubicBezTo>
                  <a:pt x="0" y="344"/>
                  <a:pt x="5" y="337"/>
                  <a:pt x="15" y="332"/>
                </a:cubicBezTo>
                <a:lnTo>
                  <a:pt x="332" y="332"/>
                </a:lnTo>
                <a:lnTo>
                  <a:pt x="332" y="173"/>
                </a:lnTo>
                <a:lnTo>
                  <a:pt x="333" y="14"/>
                </a:lnTo>
                <a:cubicBezTo>
                  <a:pt x="340" y="4"/>
                  <a:pt x="347" y="0"/>
                  <a:pt x="353" y="0"/>
                </a:cubicBezTo>
                <a:cubicBezTo>
                  <a:pt x="363" y="0"/>
                  <a:pt x="370" y="5"/>
                  <a:pt x="375" y="16"/>
                </a:cubicBezTo>
                <a:lnTo>
                  <a:pt x="375" y="332"/>
                </a:lnTo>
                <a:lnTo>
                  <a:pt x="692" y="332"/>
                </a:lnTo>
                <a:cubicBezTo>
                  <a:pt x="702" y="338"/>
                  <a:pt x="708" y="345"/>
                  <a:pt x="708" y="354"/>
                </a:cubicBezTo>
                <a:cubicBezTo>
                  <a:pt x="708" y="363"/>
                  <a:pt x="702" y="370"/>
                  <a:pt x="692" y="375"/>
                </a:cubicBezTo>
                <a:lnTo>
                  <a:pt x="375" y="375"/>
                </a:lnTo>
                <a:lnTo>
                  <a:pt x="375" y="692"/>
                </a:lnTo>
                <a:cubicBezTo>
                  <a:pt x="369" y="701"/>
                  <a:pt x="363" y="706"/>
                  <a:pt x="356" y="706"/>
                </a:cubicBezTo>
                <a:lnTo>
                  <a:pt x="353" y="706"/>
                </a:lnTo>
                <a:lnTo>
                  <a:pt x="351" y="706"/>
                </a:lnTo>
                <a:cubicBezTo>
                  <a:pt x="343" y="706"/>
                  <a:pt x="336" y="701"/>
                  <a:pt x="332" y="692"/>
                </a:cubicBezTo>
                <a:lnTo>
                  <a:pt x="332" y="375"/>
                </a:lnTo>
                <a:lnTo>
                  <a:pt x="15" y="375"/>
                </a:lnTo>
                <a:cubicBezTo>
                  <a:pt x="5" y="370"/>
                  <a:pt x="0" y="363"/>
                  <a:pt x="0" y="354"/>
                </a:cubicBezTo>
                <a:lnTo>
                  <a:pt x="0" y="368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123" name="フリーフォーム 122"/>
          <p:cNvSpPr/>
          <p:nvPr/>
        </p:nvSpPr>
        <p:spPr>
          <a:xfrm>
            <a:off x="3514320" y="2802600"/>
            <a:ext cx="113400" cy="130140"/>
          </a:xfrm>
          <a:custGeom>
            <a:avLst/>
            <a:gdLst/>
            <a:ahLst/>
            <a:cxnLst/>
            <a:rect l="0" t="0" r="r" b="b"/>
            <a:pathLst>
              <a:path w="420" h="482">
                <a:moveTo>
                  <a:pt x="0" y="302"/>
                </a:moveTo>
                <a:cubicBezTo>
                  <a:pt x="0" y="224"/>
                  <a:pt x="30" y="154"/>
                  <a:pt x="91" y="93"/>
                </a:cubicBezTo>
                <a:cubicBezTo>
                  <a:pt x="152" y="31"/>
                  <a:pt x="219" y="0"/>
                  <a:pt x="290" y="0"/>
                </a:cubicBezTo>
                <a:cubicBezTo>
                  <a:pt x="329" y="0"/>
                  <a:pt x="360" y="9"/>
                  <a:pt x="383" y="26"/>
                </a:cubicBezTo>
                <a:cubicBezTo>
                  <a:pt x="406" y="43"/>
                  <a:pt x="417" y="65"/>
                  <a:pt x="418" y="93"/>
                </a:cubicBezTo>
                <a:cubicBezTo>
                  <a:pt x="418" y="113"/>
                  <a:pt x="411" y="131"/>
                  <a:pt x="398" y="145"/>
                </a:cubicBezTo>
                <a:cubicBezTo>
                  <a:pt x="384" y="159"/>
                  <a:pt x="367" y="166"/>
                  <a:pt x="347" y="167"/>
                </a:cubicBezTo>
                <a:cubicBezTo>
                  <a:pt x="333" y="167"/>
                  <a:pt x="323" y="163"/>
                  <a:pt x="315" y="156"/>
                </a:cubicBezTo>
                <a:cubicBezTo>
                  <a:pt x="307" y="149"/>
                  <a:pt x="303" y="139"/>
                  <a:pt x="303" y="125"/>
                </a:cubicBezTo>
                <a:cubicBezTo>
                  <a:pt x="303" y="110"/>
                  <a:pt x="307" y="98"/>
                  <a:pt x="315" y="89"/>
                </a:cubicBezTo>
                <a:cubicBezTo>
                  <a:pt x="323" y="79"/>
                  <a:pt x="331" y="71"/>
                  <a:pt x="338" y="66"/>
                </a:cubicBezTo>
                <a:cubicBezTo>
                  <a:pt x="346" y="61"/>
                  <a:pt x="351" y="59"/>
                  <a:pt x="353" y="60"/>
                </a:cubicBezTo>
                <a:lnTo>
                  <a:pt x="354" y="60"/>
                </a:lnTo>
                <a:cubicBezTo>
                  <a:pt x="354" y="58"/>
                  <a:pt x="352" y="56"/>
                  <a:pt x="348" y="54"/>
                </a:cubicBezTo>
                <a:cubicBezTo>
                  <a:pt x="344" y="51"/>
                  <a:pt x="336" y="48"/>
                  <a:pt x="326" y="45"/>
                </a:cubicBezTo>
                <a:cubicBezTo>
                  <a:pt x="315" y="42"/>
                  <a:pt x="303" y="41"/>
                  <a:pt x="290" y="41"/>
                </a:cubicBezTo>
                <a:cubicBezTo>
                  <a:pt x="268" y="41"/>
                  <a:pt x="248" y="46"/>
                  <a:pt x="229" y="56"/>
                </a:cubicBezTo>
                <a:cubicBezTo>
                  <a:pt x="214" y="62"/>
                  <a:pt x="199" y="73"/>
                  <a:pt x="182" y="89"/>
                </a:cubicBezTo>
                <a:cubicBezTo>
                  <a:pt x="151" y="120"/>
                  <a:pt x="129" y="163"/>
                  <a:pt x="115" y="220"/>
                </a:cubicBezTo>
                <a:cubicBezTo>
                  <a:pt x="100" y="278"/>
                  <a:pt x="93" y="319"/>
                  <a:pt x="92" y="344"/>
                </a:cubicBezTo>
                <a:cubicBezTo>
                  <a:pt x="92" y="377"/>
                  <a:pt x="101" y="401"/>
                  <a:pt x="120" y="417"/>
                </a:cubicBezTo>
                <a:cubicBezTo>
                  <a:pt x="135" y="434"/>
                  <a:pt x="156" y="443"/>
                  <a:pt x="181" y="443"/>
                </a:cubicBezTo>
                <a:lnTo>
                  <a:pt x="187" y="443"/>
                </a:lnTo>
                <a:cubicBezTo>
                  <a:pt x="266" y="443"/>
                  <a:pt x="331" y="413"/>
                  <a:pt x="383" y="353"/>
                </a:cubicBezTo>
                <a:cubicBezTo>
                  <a:pt x="389" y="346"/>
                  <a:pt x="394" y="342"/>
                  <a:pt x="396" y="342"/>
                </a:cubicBezTo>
                <a:cubicBezTo>
                  <a:pt x="398" y="342"/>
                  <a:pt x="403" y="345"/>
                  <a:pt x="409" y="352"/>
                </a:cubicBezTo>
                <a:cubicBezTo>
                  <a:pt x="416" y="358"/>
                  <a:pt x="419" y="363"/>
                  <a:pt x="420" y="366"/>
                </a:cubicBezTo>
                <a:cubicBezTo>
                  <a:pt x="421" y="370"/>
                  <a:pt x="418" y="375"/>
                  <a:pt x="411" y="382"/>
                </a:cubicBezTo>
                <a:cubicBezTo>
                  <a:pt x="403" y="389"/>
                  <a:pt x="393" y="399"/>
                  <a:pt x="380" y="412"/>
                </a:cubicBezTo>
                <a:cubicBezTo>
                  <a:pt x="366" y="425"/>
                  <a:pt x="350" y="435"/>
                  <a:pt x="332" y="444"/>
                </a:cubicBezTo>
                <a:cubicBezTo>
                  <a:pt x="314" y="452"/>
                  <a:pt x="291" y="461"/>
                  <a:pt x="264" y="470"/>
                </a:cubicBezTo>
                <a:cubicBezTo>
                  <a:pt x="237" y="480"/>
                  <a:pt x="209" y="483"/>
                  <a:pt x="178" y="482"/>
                </a:cubicBezTo>
                <a:cubicBezTo>
                  <a:pt x="125" y="482"/>
                  <a:pt x="82" y="465"/>
                  <a:pt x="50" y="431"/>
                </a:cubicBezTo>
                <a:cubicBezTo>
                  <a:pt x="17" y="397"/>
                  <a:pt x="1" y="354"/>
                  <a:pt x="0" y="302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124" name="フリーフォーム 123"/>
          <p:cNvSpPr/>
          <p:nvPr/>
        </p:nvSpPr>
        <p:spPr>
          <a:xfrm>
            <a:off x="3654990" y="2837430"/>
            <a:ext cx="69930" cy="135270"/>
          </a:xfrm>
          <a:custGeom>
            <a:avLst/>
            <a:gdLst/>
            <a:ahLst/>
            <a:cxnLst/>
            <a:rect l="0" t="0" r="r" b="b"/>
            <a:pathLst>
              <a:path w="259" h="501">
                <a:moveTo>
                  <a:pt x="98" y="66"/>
                </a:moveTo>
                <a:lnTo>
                  <a:pt x="88" y="70"/>
                </a:lnTo>
                <a:cubicBezTo>
                  <a:pt x="81" y="72"/>
                  <a:pt x="71" y="75"/>
                  <a:pt x="58" y="77"/>
                </a:cubicBezTo>
                <a:cubicBezTo>
                  <a:pt x="45" y="80"/>
                  <a:pt x="31" y="81"/>
                  <a:pt x="15" y="82"/>
                </a:cubicBezTo>
                <a:lnTo>
                  <a:pt x="0" y="82"/>
                </a:lnTo>
                <a:lnTo>
                  <a:pt x="0" y="48"/>
                </a:lnTo>
                <a:lnTo>
                  <a:pt x="15" y="48"/>
                </a:lnTo>
                <a:cubicBezTo>
                  <a:pt x="38" y="47"/>
                  <a:pt x="60" y="43"/>
                  <a:pt x="80" y="37"/>
                </a:cubicBezTo>
                <a:cubicBezTo>
                  <a:pt x="100" y="30"/>
                  <a:pt x="114" y="24"/>
                  <a:pt x="122" y="19"/>
                </a:cubicBezTo>
                <a:cubicBezTo>
                  <a:pt x="130" y="13"/>
                  <a:pt x="137" y="8"/>
                  <a:pt x="143" y="2"/>
                </a:cubicBezTo>
                <a:cubicBezTo>
                  <a:pt x="144" y="1"/>
                  <a:pt x="147" y="0"/>
                  <a:pt x="152" y="0"/>
                </a:cubicBezTo>
                <a:cubicBezTo>
                  <a:pt x="157" y="0"/>
                  <a:pt x="161" y="1"/>
                  <a:pt x="165" y="4"/>
                </a:cubicBezTo>
                <a:lnTo>
                  <a:pt x="165" y="229"/>
                </a:lnTo>
                <a:lnTo>
                  <a:pt x="166" y="455"/>
                </a:lnTo>
                <a:cubicBezTo>
                  <a:pt x="169" y="458"/>
                  <a:pt x="172" y="461"/>
                  <a:pt x="175" y="462"/>
                </a:cubicBezTo>
                <a:cubicBezTo>
                  <a:pt x="177" y="463"/>
                  <a:pt x="183" y="464"/>
                  <a:pt x="193" y="465"/>
                </a:cubicBezTo>
                <a:cubicBezTo>
                  <a:pt x="202" y="466"/>
                  <a:pt x="218" y="466"/>
                  <a:pt x="239" y="466"/>
                </a:cubicBezTo>
                <a:lnTo>
                  <a:pt x="259" y="466"/>
                </a:lnTo>
                <a:lnTo>
                  <a:pt x="259" y="501"/>
                </a:lnTo>
                <a:lnTo>
                  <a:pt x="250" y="501"/>
                </a:lnTo>
                <a:cubicBezTo>
                  <a:pt x="240" y="499"/>
                  <a:pt x="200" y="498"/>
                  <a:pt x="131" y="498"/>
                </a:cubicBezTo>
                <a:cubicBezTo>
                  <a:pt x="63" y="498"/>
                  <a:pt x="24" y="499"/>
                  <a:pt x="13" y="501"/>
                </a:cubicBezTo>
                <a:lnTo>
                  <a:pt x="3" y="501"/>
                </a:lnTo>
                <a:lnTo>
                  <a:pt x="3" y="466"/>
                </a:lnTo>
                <a:lnTo>
                  <a:pt x="24" y="466"/>
                </a:lnTo>
                <a:cubicBezTo>
                  <a:pt x="35" y="466"/>
                  <a:pt x="44" y="466"/>
                  <a:pt x="52" y="466"/>
                </a:cubicBezTo>
                <a:cubicBezTo>
                  <a:pt x="60" y="466"/>
                  <a:pt x="67" y="466"/>
                  <a:pt x="71" y="465"/>
                </a:cubicBezTo>
                <a:cubicBezTo>
                  <a:pt x="76" y="465"/>
                  <a:pt x="80" y="464"/>
                  <a:pt x="83" y="463"/>
                </a:cubicBezTo>
                <a:cubicBezTo>
                  <a:pt x="87" y="462"/>
                  <a:pt x="89" y="462"/>
                  <a:pt x="89" y="462"/>
                </a:cubicBezTo>
                <a:cubicBezTo>
                  <a:pt x="90" y="462"/>
                  <a:pt x="91" y="460"/>
                  <a:pt x="94" y="458"/>
                </a:cubicBezTo>
                <a:cubicBezTo>
                  <a:pt x="96" y="455"/>
                  <a:pt x="98" y="454"/>
                  <a:pt x="98" y="455"/>
                </a:cubicBezTo>
                <a:lnTo>
                  <a:pt x="98" y="66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125" name="フリーフォーム 124"/>
          <p:cNvSpPr/>
          <p:nvPr/>
        </p:nvSpPr>
        <p:spPr>
          <a:xfrm>
            <a:off x="3839670" y="2840670"/>
            <a:ext cx="34830" cy="34560"/>
          </a:xfrm>
          <a:custGeom>
            <a:avLst/>
            <a:gdLst/>
            <a:ahLst/>
            <a:cxnLst/>
            <a:rect l="0" t="0" r="r" b="b"/>
            <a:pathLst>
              <a:path w="129" h="128">
                <a:moveTo>
                  <a:pt x="0" y="63"/>
                </a:moveTo>
                <a:cubicBezTo>
                  <a:pt x="0" y="46"/>
                  <a:pt x="6" y="31"/>
                  <a:pt x="18" y="19"/>
                </a:cubicBezTo>
                <a:cubicBezTo>
                  <a:pt x="30" y="6"/>
                  <a:pt x="45" y="0"/>
                  <a:pt x="65" y="0"/>
                </a:cubicBezTo>
                <a:cubicBezTo>
                  <a:pt x="82" y="0"/>
                  <a:pt x="97" y="5"/>
                  <a:pt x="109" y="16"/>
                </a:cubicBezTo>
                <a:cubicBezTo>
                  <a:pt x="122" y="28"/>
                  <a:pt x="129" y="43"/>
                  <a:pt x="129" y="62"/>
                </a:cubicBezTo>
                <a:cubicBezTo>
                  <a:pt x="129" y="80"/>
                  <a:pt x="123" y="96"/>
                  <a:pt x="111" y="109"/>
                </a:cubicBezTo>
                <a:cubicBezTo>
                  <a:pt x="99" y="121"/>
                  <a:pt x="84" y="128"/>
                  <a:pt x="66" y="128"/>
                </a:cubicBezTo>
                <a:cubicBezTo>
                  <a:pt x="46" y="128"/>
                  <a:pt x="31" y="122"/>
                  <a:pt x="19" y="110"/>
                </a:cubicBezTo>
                <a:cubicBezTo>
                  <a:pt x="7" y="98"/>
                  <a:pt x="1" y="82"/>
                  <a:pt x="0" y="63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126" name="フリーフォーム 125"/>
          <p:cNvSpPr/>
          <p:nvPr/>
        </p:nvSpPr>
        <p:spPr>
          <a:xfrm>
            <a:off x="3966570" y="2802600"/>
            <a:ext cx="117450" cy="130140"/>
          </a:xfrm>
          <a:custGeom>
            <a:avLst/>
            <a:gdLst/>
            <a:ahLst/>
            <a:cxnLst/>
            <a:rect l="0" t="0" r="r" b="b"/>
            <a:pathLst>
              <a:path w="435" h="482">
                <a:moveTo>
                  <a:pt x="0" y="165"/>
                </a:moveTo>
                <a:cubicBezTo>
                  <a:pt x="1" y="163"/>
                  <a:pt x="2" y="160"/>
                  <a:pt x="2" y="156"/>
                </a:cubicBezTo>
                <a:cubicBezTo>
                  <a:pt x="3" y="153"/>
                  <a:pt x="5" y="145"/>
                  <a:pt x="8" y="133"/>
                </a:cubicBezTo>
                <a:cubicBezTo>
                  <a:pt x="11" y="121"/>
                  <a:pt x="14" y="110"/>
                  <a:pt x="18" y="100"/>
                </a:cubicBezTo>
                <a:cubicBezTo>
                  <a:pt x="23" y="90"/>
                  <a:pt x="28" y="79"/>
                  <a:pt x="34" y="65"/>
                </a:cubicBezTo>
                <a:cubicBezTo>
                  <a:pt x="41" y="52"/>
                  <a:pt x="48" y="41"/>
                  <a:pt x="55" y="33"/>
                </a:cubicBezTo>
                <a:cubicBezTo>
                  <a:pt x="63" y="26"/>
                  <a:pt x="72" y="18"/>
                  <a:pt x="83" y="10"/>
                </a:cubicBezTo>
                <a:cubicBezTo>
                  <a:pt x="94" y="2"/>
                  <a:pt x="105" y="-1"/>
                  <a:pt x="118" y="0"/>
                </a:cubicBezTo>
                <a:cubicBezTo>
                  <a:pt x="139" y="0"/>
                  <a:pt x="157" y="5"/>
                  <a:pt x="172" y="13"/>
                </a:cubicBezTo>
                <a:cubicBezTo>
                  <a:pt x="188" y="22"/>
                  <a:pt x="199" y="29"/>
                  <a:pt x="205" y="37"/>
                </a:cubicBezTo>
                <a:cubicBezTo>
                  <a:pt x="211" y="44"/>
                  <a:pt x="215" y="51"/>
                  <a:pt x="217" y="58"/>
                </a:cubicBezTo>
                <a:cubicBezTo>
                  <a:pt x="218" y="62"/>
                  <a:pt x="219" y="64"/>
                  <a:pt x="220" y="64"/>
                </a:cubicBezTo>
                <a:cubicBezTo>
                  <a:pt x="221" y="64"/>
                  <a:pt x="223" y="62"/>
                  <a:pt x="228" y="57"/>
                </a:cubicBezTo>
                <a:cubicBezTo>
                  <a:pt x="263" y="20"/>
                  <a:pt x="303" y="2"/>
                  <a:pt x="347" y="2"/>
                </a:cubicBezTo>
                <a:lnTo>
                  <a:pt x="350" y="2"/>
                </a:lnTo>
                <a:cubicBezTo>
                  <a:pt x="384" y="2"/>
                  <a:pt x="410" y="16"/>
                  <a:pt x="427" y="45"/>
                </a:cubicBezTo>
                <a:cubicBezTo>
                  <a:pt x="432" y="58"/>
                  <a:pt x="435" y="72"/>
                  <a:pt x="435" y="84"/>
                </a:cubicBezTo>
                <a:cubicBezTo>
                  <a:pt x="435" y="105"/>
                  <a:pt x="431" y="122"/>
                  <a:pt x="421" y="135"/>
                </a:cubicBezTo>
                <a:cubicBezTo>
                  <a:pt x="412" y="148"/>
                  <a:pt x="403" y="156"/>
                  <a:pt x="394" y="160"/>
                </a:cubicBezTo>
                <a:cubicBezTo>
                  <a:pt x="385" y="163"/>
                  <a:pt x="376" y="165"/>
                  <a:pt x="367" y="164"/>
                </a:cubicBezTo>
                <a:cubicBezTo>
                  <a:pt x="353" y="164"/>
                  <a:pt x="342" y="160"/>
                  <a:pt x="333" y="152"/>
                </a:cubicBezTo>
                <a:cubicBezTo>
                  <a:pt x="325" y="144"/>
                  <a:pt x="321" y="134"/>
                  <a:pt x="321" y="121"/>
                </a:cubicBezTo>
                <a:cubicBezTo>
                  <a:pt x="321" y="87"/>
                  <a:pt x="340" y="65"/>
                  <a:pt x="380" y="54"/>
                </a:cubicBezTo>
                <a:cubicBezTo>
                  <a:pt x="364" y="44"/>
                  <a:pt x="352" y="40"/>
                  <a:pt x="342" y="40"/>
                </a:cubicBezTo>
                <a:cubicBezTo>
                  <a:pt x="302" y="40"/>
                  <a:pt x="266" y="66"/>
                  <a:pt x="232" y="118"/>
                </a:cubicBezTo>
                <a:cubicBezTo>
                  <a:pt x="224" y="130"/>
                  <a:pt x="219" y="141"/>
                  <a:pt x="216" y="153"/>
                </a:cubicBezTo>
                <a:cubicBezTo>
                  <a:pt x="212" y="165"/>
                  <a:pt x="200" y="212"/>
                  <a:pt x="180" y="295"/>
                </a:cubicBezTo>
                <a:cubicBezTo>
                  <a:pt x="156" y="394"/>
                  <a:pt x="142" y="447"/>
                  <a:pt x="138" y="453"/>
                </a:cubicBezTo>
                <a:cubicBezTo>
                  <a:pt x="129" y="473"/>
                  <a:pt x="114" y="482"/>
                  <a:pt x="93" y="482"/>
                </a:cubicBezTo>
                <a:cubicBezTo>
                  <a:pt x="83" y="482"/>
                  <a:pt x="76" y="480"/>
                  <a:pt x="70" y="476"/>
                </a:cubicBezTo>
                <a:cubicBezTo>
                  <a:pt x="65" y="471"/>
                  <a:pt x="61" y="467"/>
                  <a:pt x="59" y="463"/>
                </a:cubicBezTo>
                <a:cubicBezTo>
                  <a:pt x="57" y="459"/>
                  <a:pt x="56" y="455"/>
                  <a:pt x="57" y="452"/>
                </a:cubicBezTo>
                <a:cubicBezTo>
                  <a:pt x="57" y="443"/>
                  <a:pt x="71" y="382"/>
                  <a:pt x="99" y="270"/>
                </a:cubicBezTo>
                <a:cubicBezTo>
                  <a:pt x="127" y="156"/>
                  <a:pt x="141" y="94"/>
                  <a:pt x="141" y="81"/>
                </a:cubicBezTo>
                <a:cubicBezTo>
                  <a:pt x="141" y="54"/>
                  <a:pt x="132" y="40"/>
                  <a:pt x="114" y="40"/>
                </a:cubicBezTo>
                <a:cubicBezTo>
                  <a:pt x="99" y="40"/>
                  <a:pt x="86" y="50"/>
                  <a:pt x="76" y="69"/>
                </a:cubicBezTo>
                <a:cubicBezTo>
                  <a:pt x="65" y="89"/>
                  <a:pt x="57" y="111"/>
                  <a:pt x="50" y="134"/>
                </a:cubicBezTo>
                <a:cubicBezTo>
                  <a:pt x="44" y="157"/>
                  <a:pt x="40" y="170"/>
                  <a:pt x="38" y="172"/>
                </a:cubicBezTo>
                <a:cubicBezTo>
                  <a:pt x="37" y="174"/>
                  <a:pt x="31" y="174"/>
                  <a:pt x="21" y="174"/>
                </a:cubicBezTo>
                <a:lnTo>
                  <a:pt x="7" y="174"/>
                </a:lnTo>
                <a:cubicBezTo>
                  <a:pt x="2" y="170"/>
                  <a:pt x="0" y="167"/>
                  <a:pt x="0" y="165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127" name="フリーフォーム 126"/>
          <p:cNvSpPr/>
          <p:nvPr/>
        </p:nvSpPr>
        <p:spPr>
          <a:xfrm>
            <a:off x="4116150" y="2837430"/>
            <a:ext cx="69930" cy="135270"/>
          </a:xfrm>
          <a:custGeom>
            <a:avLst/>
            <a:gdLst/>
            <a:ahLst/>
            <a:cxnLst/>
            <a:rect l="0" t="0" r="r" b="b"/>
            <a:pathLst>
              <a:path w="259" h="501">
                <a:moveTo>
                  <a:pt x="97" y="66"/>
                </a:moveTo>
                <a:lnTo>
                  <a:pt x="88" y="70"/>
                </a:lnTo>
                <a:cubicBezTo>
                  <a:pt x="81" y="72"/>
                  <a:pt x="71" y="75"/>
                  <a:pt x="58" y="77"/>
                </a:cubicBezTo>
                <a:cubicBezTo>
                  <a:pt x="45" y="80"/>
                  <a:pt x="30" y="81"/>
                  <a:pt x="14" y="82"/>
                </a:cubicBezTo>
                <a:lnTo>
                  <a:pt x="0" y="82"/>
                </a:lnTo>
                <a:lnTo>
                  <a:pt x="0" y="48"/>
                </a:lnTo>
                <a:lnTo>
                  <a:pt x="14" y="48"/>
                </a:lnTo>
                <a:cubicBezTo>
                  <a:pt x="38" y="47"/>
                  <a:pt x="59" y="43"/>
                  <a:pt x="79" y="37"/>
                </a:cubicBezTo>
                <a:cubicBezTo>
                  <a:pt x="99" y="30"/>
                  <a:pt x="114" y="24"/>
                  <a:pt x="122" y="19"/>
                </a:cubicBezTo>
                <a:cubicBezTo>
                  <a:pt x="130" y="13"/>
                  <a:pt x="137" y="8"/>
                  <a:pt x="143" y="2"/>
                </a:cubicBezTo>
                <a:cubicBezTo>
                  <a:pt x="144" y="1"/>
                  <a:pt x="147" y="0"/>
                  <a:pt x="152" y="0"/>
                </a:cubicBezTo>
                <a:cubicBezTo>
                  <a:pt x="157" y="0"/>
                  <a:pt x="161" y="1"/>
                  <a:pt x="165" y="4"/>
                </a:cubicBezTo>
                <a:lnTo>
                  <a:pt x="165" y="229"/>
                </a:lnTo>
                <a:lnTo>
                  <a:pt x="166" y="455"/>
                </a:lnTo>
                <a:cubicBezTo>
                  <a:pt x="169" y="458"/>
                  <a:pt x="172" y="461"/>
                  <a:pt x="175" y="462"/>
                </a:cubicBezTo>
                <a:cubicBezTo>
                  <a:pt x="177" y="463"/>
                  <a:pt x="183" y="464"/>
                  <a:pt x="193" y="465"/>
                </a:cubicBezTo>
                <a:cubicBezTo>
                  <a:pt x="202" y="466"/>
                  <a:pt x="218" y="466"/>
                  <a:pt x="239" y="466"/>
                </a:cubicBezTo>
                <a:lnTo>
                  <a:pt x="259" y="466"/>
                </a:lnTo>
                <a:lnTo>
                  <a:pt x="259" y="501"/>
                </a:lnTo>
                <a:lnTo>
                  <a:pt x="251" y="501"/>
                </a:lnTo>
                <a:cubicBezTo>
                  <a:pt x="240" y="499"/>
                  <a:pt x="200" y="498"/>
                  <a:pt x="131" y="498"/>
                </a:cubicBezTo>
                <a:cubicBezTo>
                  <a:pt x="62" y="498"/>
                  <a:pt x="23" y="499"/>
                  <a:pt x="13" y="501"/>
                </a:cubicBezTo>
                <a:lnTo>
                  <a:pt x="4" y="501"/>
                </a:lnTo>
                <a:lnTo>
                  <a:pt x="4" y="466"/>
                </a:lnTo>
                <a:lnTo>
                  <a:pt x="23" y="466"/>
                </a:lnTo>
                <a:cubicBezTo>
                  <a:pt x="34" y="466"/>
                  <a:pt x="44" y="466"/>
                  <a:pt x="52" y="466"/>
                </a:cubicBezTo>
                <a:cubicBezTo>
                  <a:pt x="60" y="466"/>
                  <a:pt x="66" y="466"/>
                  <a:pt x="70" y="465"/>
                </a:cubicBezTo>
                <a:cubicBezTo>
                  <a:pt x="75" y="465"/>
                  <a:pt x="79" y="464"/>
                  <a:pt x="82" y="463"/>
                </a:cubicBezTo>
                <a:cubicBezTo>
                  <a:pt x="86" y="462"/>
                  <a:pt x="88" y="462"/>
                  <a:pt x="88" y="462"/>
                </a:cubicBezTo>
                <a:cubicBezTo>
                  <a:pt x="89" y="462"/>
                  <a:pt x="90" y="460"/>
                  <a:pt x="93" y="458"/>
                </a:cubicBezTo>
                <a:cubicBezTo>
                  <a:pt x="95" y="455"/>
                  <a:pt x="97" y="454"/>
                  <a:pt x="97" y="455"/>
                </a:cubicBezTo>
                <a:lnTo>
                  <a:pt x="97" y="66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128" name="フリーフォーム 127"/>
          <p:cNvSpPr/>
          <p:nvPr/>
        </p:nvSpPr>
        <p:spPr>
          <a:xfrm>
            <a:off x="4300830" y="2840670"/>
            <a:ext cx="35100" cy="34560"/>
          </a:xfrm>
          <a:custGeom>
            <a:avLst/>
            <a:gdLst/>
            <a:ahLst/>
            <a:cxnLst/>
            <a:rect l="0" t="0" r="r" b="b"/>
            <a:pathLst>
              <a:path w="130" h="128">
                <a:moveTo>
                  <a:pt x="0" y="63"/>
                </a:moveTo>
                <a:cubicBezTo>
                  <a:pt x="0" y="46"/>
                  <a:pt x="6" y="31"/>
                  <a:pt x="19" y="19"/>
                </a:cubicBezTo>
                <a:cubicBezTo>
                  <a:pt x="31" y="6"/>
                  <a:pt x="47" y="0"/>
                  <a:pt x="65" y="0"/>
                </a:cubicBezTo>
                <a:cubicBezTo>
                  <a:pt x="82" y="0"/>
                  <a:pt x="97" y="5"/>
                  <a:pt x="109" y="16"/>
                </a:cubicBezTo>
                <a:cubicBezTo>
                  <a:pt x="122" y="28"/>
                  <a:pt x="129" y="43"/>
                  <a:pt x="130" y="62"/>
                </a:cubicBezTo>
                <a:cubicBezTo>
                  <a:pt x="130" y="80"/>
                  <a:pt x="124" y="96"/>
                  <a:pt x="112" y="109"/>
                </a:cubicBezTo>
                <a:cubicBezTo>
                  <a:pt x="100" y="121"/>
                  <a:pt x="84" y="128"/>
                  <a:pt x="66" y="128"/>
                </a:cubicBezTo>
                <a:cubicBezTo>
                  <a:pt x="48" y="128"/>
                  <a:pt x="32" y="122"/>
                  <a:pt x="20" y="110"/>
                </a:cubicBezTo>
                <a:cubicBezTo>
                  <a:pt x="8" y="98"/>
                  <a:pt x="1" y="82"/>
                  <a:pt x="0" y="63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129" name="フリーフォーム 128"/>
          <p:cNvSpPr/>
          <p:nvPr/>
        </p:nvSpPr>
        <p:spPr>
          <a:xfrm>
            <a:off x="4448790" y="2714580"/>
            <a:ext cx="68850" cy="286740"/>
          </a:xfrm>
          <a:custGeom>
            <a:avLst/>
            <a:gdLst/>
            <a:ahLst/>
            <a:cxnLst/>
            <a:rect l="0" t="0" r="r" b="b"/>
            <a:pathLst>
              <a:path w="255" h="1062">
                <a:moveTo>
                  <a:pt x="0" y="531"/>
                </a:moveTo>
                <a:cubicBezTo>
                  <a:pt x="0" y="482"/>
                  <a:pt x="3" y="436"/>
                  <a:pt x="11" y="392"/>
                </a:cubicBezTo>
                <a:cubicBezTo>
                  <a:pt x="18" y="348"/>
                  <a:pt x="26" y="310"/>
                  <a:pt x="35" y="279"/>
                </a:cubicBezTo>
                <a:cubicBezTo>
                  <a:pt x="44" y="247"/>
                  <a:pt x="57" y="216"/>
                  <a:pt x="74" y="185"/>
                </a:cubicBezTo>
                <a:cubicBezTo>
                  <a:pt x="91" y="155"/>
                  <a:pt x="106" y="131"/>
                  <a:pt x="116" y="114"/>
                </a:cubicBezTo>
                <a:cubicBezTo>
                  <a:pt x="125" y="97"/>
                  <a:pt x="140" y="79"/>
                  <a:pt x="160" y="59"/>
                </a:cubicBezTo>
                <a:cubicBezTo>
                  <a:pt x="180" y="39"/>
                  <a:pt x="192" y="27"/>
                  <a:pt x="195" y="23"/>
                </a:cubicBezTo>
                <a:cubicBezTo>
                  <a:pt x="199" y="19"/>
                  <a:pt x="207" y="10"/>
                  <a:pt x="222" y="0"/>
                </a:cubicBezTo>
                <a:lnTo>
                  <a:pt x="235" y="0"/>
                </a:lnTo>
                <a:lnTo>
                  <a:pt x="240" y="0"/>
                </a:lnTo>
                <a:cubicBezTo>
                  <a:pt x="250" y="0"/>
                  <a:pt x="255" y="3"/>
                  <a:pt x="255" y="9"/>
                </a:cubicBezTo>
                <a:cubicBezTo>
                  <a:pt x="255" y="12"/>
                  <a:pt x="248" y="20"/>
                  <a:pt x="236" y="32"/>
                </a:cubicBezTo>
                <a:cubicBezTo>
                  <a:pt x="224" y="45"/>
                  <a:pt x="210" y="64"/>
                  <a:pt x="193" y="89"/>
                </a:cubicBezTo>
                <a:cubicBezTo>
                  <a:pt x="176" y="113"/>
                  <a:pt x="159" y="144"/>
                  <a:pt x="141" y="180"/>
                </a:cubicBezTo>
                <a:cubicBezTo>
                  <a:pt x="123" y="216"/>
                  <a:pt x="108" y="265"/>
                  <a:pt x="96" y="326"/>
                </a:cubicBezTo>
                <a:cubicBezTo>
                  <a:pt x="83" y="388"/>
                  <a:pt x="77" y="456"/>
                  <a:pt x="77" y="531"/>
                </a:cubicBezTo>
                <a:cubicBezTo>
                  <a:pt x="77" y="606"/>
                  <a:pt x="83" y="674"/>
                  <a:pt x="96" y="735"/>
                </a:cubicBezTo>
                <a:cubicBezTo>
                  <a:pt x="108" y="796"/>
                  <a:pt x="123" y="845"/>
                  <a:pt x="140" y="882"/>
                </a:cubicBezTo>
                <a:cubicBezTo>
                  <a:pt x="157" y="920"/>
                  <a:pt x="174" y="950"/>
                  <a:pt x="192" y="974"/>
                </a:cubicBezTo>
                <a:cubicBezTo>
                  <a:pt x="210" y="997"/>
                  <a:pt x="224" y="1016"/>
                  <a:pt x="236" y="1030"/>
                </a:cubicBezTo>
                <a:cubicBezTo>
                  <a:pt x="248" y="1044"/>
                  <a:pt x="255" y="1051"/>
                  <a:pt x="255" y="1052"/>
                </a:cubicBezTo>
                <a:cubicBezTo>
                  <a:pt x="255" y="1058"/>
                  <a:pt x="249" y="1062"/>
                  <a:pt x="239" y="1062"/>
                </a:cubicBezTo>
                <a:lnTo>
                  <a:pt x="235" y="1062"/>
                </a:lnTo>
                <a:lnTo>
                  <a:pt x="222" y="1062"/>
                </a:lnTo>
                <a:lnTo>
                  <a:pt x="192" y="1036"/>
                </a:lnTo>
                <a:cubicBezTo>
                  <a:pt x="125" y="976"/>
                  <a:pt x="76" y="901"/>
                  <a:pt x="46" y="811"/>
                </a:cubicBezTo>
                <a:cubicBezTo>
                  <a:pt x="15" y="721"/>
                  <a:pt x="0" y="628"/>
                  <a:pt x="0" y="531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130" name="フリーフォーム 129"/>
          <p:cNvSpPr/>
          <p:nvPr/>
        </p:nvSpPr>
        <p:spPr>
          <a:xfrm>
            <a:off x="4541670" y="2800440"/>
            <a:ext cx="163890" cy="184680"/>
          </a:xfrm>
          <a:custGeom>
            <a:avLst/>
            <a:gdLst/>
            <a:ahLst/>
            <a:cxnLst/>
            <a:rect l="0" t="0" r="r" b="b"/>
            <a:pathLst>
              <a:path w="607" h="684">
                <a:moveTo>
                  <a:pt x="3" y="8"/>
                </a:moveTo>
                <a:lnTo>
                  <a:pt x="99" y="4"/>
                </a:lnTo>
                <a:cubicBezTo>
                  <a:pt x="164" y="1"/>
                  <a:pt x="196" y="0"/>
                  <a:pt x="197" y="0"/>
                </a:cubicBezTo>
                <a:lnTo>
                  <a:pt x="203" y="0"/>
                </a:lnTo>
                <a:lnTo>
                  <a:pt x="203" y="43"/>
                </a:lnTo>
                <a:cubicBezTo>
                  <a:pt x="204" y="43"/>
                  <a:pt x="207" y="42"/>
                  <a:pt x="212" y="39"/>
                </a:cubicBezTo>
                <a:cubicBezTo>
                  <a:pt x="217" y="36"/>
                  <a:pt x="225" y="33"/>
                  <a:pt x="235" y="29"/>
                </a:cubicBezTo>
                <a:cubicBezTo>
                  <a:pt x="246" y="24"/>
                  <a:pt x="258" y="20"/>
                  <a:pt x="270" y="15"/>
                </a:cubicBezTo>
                <a:cubicBezTo>
                  <a:pt x="283" y="10"/>
                  <a:pt x="299" y="6"/>
                  <a:pt x="317" y="4"/>
                </a:cubicBezTo>
                <a:cubicBezTo>
                  <a:pt x="335" y="2"/>
                  <a:pt x="354" y="1"/>
                  <a:pt x="374" y="0"/>
                </a:cubicBezTo>
                <a:cubicBezTo>
                  <a:pt x="445" y="0"/>
                  <a:pt x="500" y="22"/>
                  <a:pt x="543" y="66"/>
                </a:cubicBezTo>
                <a:cubicBezTo>
                  <a:pt x="585" y="110"/>
                  <a:pt x="607" y="168"/>
                  <a:pt x="607" y="241"/>
                </a:cubicBezTo>
                <a:cubicBezTo>
                  <a:pt x="607" y="308"/>
                  <a:pt x="585" y="365"/>
                  <a:pt x="542" y="413"/>
                </a:cubicBezTo>
                <a:cubicBezTo>
                  <a:pt x="499" y="460"/>
                  <a:pt x="436" y="484"/>
                  <a:pt x="352" y="484"/>
                </a:cubicBezTo>
                <a:lnTo>
                  <a:pt x="345" y="484"/>
                </a:lnTo>
                <a:cubicBezTo>
                  <a:pt x="301" y="484"/>
                  <a:pt x="259" y="472"/>
                  <a:pt x="219" y="448"/>
                </a:cubicBezTo>
                <a:lnTo>
                  <a:pt x="210" y="441"/>
                </a:lnTo>
                <a:lnTo>
                  <a:pt x="210" y="617"/>
                </a:lnTo>
                <a:lnTo>
                  <a:pt x="283" y="617"/>
                </a:lnTo>
                <a:lnTo>
                  <a:pt x="283" y="684"/>
                </a:lnTo>
                <a:lnTo>
                  <a:pt x="273" y="684"/>
                </a:lnTo>
                <a:cubicBezTo>
                  <a:pt x="261" y="682"/>
                  <a:pt x="217" y="681"/>
                  <a:pt x="142" y="681"/>
                </a:cubicBezTo>
                <a:cubicBezTo>
                  <a:pt x="66" y="681"/>
                  <a:pt x="22" y="682"/>
                  <a:pt x="9" y="684"/>
                </a:cubicBezTo>
                <a:lnTo>
                  <a:pt x="0" y="684"/>
                </a:lnTo>
                <a:lnTo>
                  <a:pt x="0" y="617"/>
                </a:lnTo>
                <a:lnTo>
                  <a:pt x="73" y="617"/>
                </a:lnTo>
                <a:lnTo>
                  <a:pt x="73" y="358"/>
                </a:lnTo>
                <a:lnTo>
                  <a:pt x="73" y="176"/>
                </a:lnTo>
                <a:cubicBezTo>
                  <a:pt x="73" y="144"/>
                  <a:pt x="73" y="121"/>
                  <a:pt x="72" y="108"/>
                </a:cubicBezTo>
                <a:cubicBezTo>
                  <a:pt x="71" y="95"/>
                  <a:pt x="70" y="88"/>
                  <a:pt x="68" y="85"/>
                </a:cubicBezTo>
                <a:cubicBezTo>
                  <a:pt x="65" y="82"/>
                  <a:pt x="62" y="80"/>
                  <a:pt x="57" y="78"/>
                </a:cubicBezTo>
                <a:cubicBezTo>
                  <a:pt x="47" y="76"/>
                  <a:pt x="33" y="74"/>
                  <a:pt x="13" y="74"/>
                </a:cubicBezTo>
                <a:lnTo>
                  <a:pt x="0" y="74"/>
                </a:lnTo>
                <a:lnTo>
                  <a:pt x="0" y="8"/>
                </a:lnTo>
                <a:lnTo>
                  <a:pt x="3" y="8"/>
                </a:lnTo>
                <a:moveTo>
                  <a:pt x="455" y="240"/>
                </a:moveTo>
                <a:cubicBezTo>
                  <a:pt x="455" y="184"/>
                  <a:pt x="444" y="140"/>
                  <a:pt x="423" y="107"/>
                </a:cubicBezTo>
                <a:cubicBezTo>
                  <a:pt x="401" y="75"/>
                  <a:pt x="374" y="58"/>
                  <a:pt x="340" y="58"/>
                </a:cubicBezTo>
                <a:cubicBezTo>
                  <a:pt x="292" y="58"/>
                  <a:pt x="251" y="74"/>
                  <a:pt x="218" y="104"/>
                </a:cubicBezTo>
                <a:lnTo>
                  <a:pt x="210" y="111"/>
                </a:lnTo>
                <a:lnTo>
                  <a:pt x="210" y="367"/>
                </a:lnTo>
                <a:lnTo>
                  <a:pt x="216" y="374"/>
                </a:lnTo>
                <a:cubicBezTo>
                  <a:pt x="245" y="411"/>
                  <a:pt x="282" y="430"/>
                  <a:pt x="326" y="430"/>
                </a:cubicBezTo>
                <a:cubicBezTo>
                  <a:pt x="359" y="430"/>
                  <a:pt x="388" y="415"/>
                  <a:pt x="415" y="386"/>
                </a:cubicBezTo>
                <a:cubicBezTo>
                  <a:pt x="442" y="357"/>
                  <a:pt x="455" y="308"/>
                  <a:pt x="455" y="240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131" name="フリーフォーム 130"/>
          <p:cNvSpPr/>
          <p:nvPr/>
        </p:nvSpPr>
        <p:spPr>
          <a:xfrm>
            <a:off x="4730130" y="2838510"/>
            <a:ext cx="56970" cy="136350"/>
          </a:xfrm>
          <a:custGeom>
            <a:avLst/>
            <a:gdLst/>
            <a:ahLst/>
            <a:cxnLst/>
            <a:rect l="0" t="0" r="r" b="b"/>
            <a:pathLst>
              <a:path w="211" h="505">
                <a:moveTo>
                  <a:pt x="123" y="45"/>
                </a:moveTo>
                <a:cubicBezTo>
                  <a:pt x="123" y="33"/>
                  <a:pt x="128" y="23"/>
                  <a:pt x="137" y="14"/>
                </a:cubicBezTo>
                <a:cubicBezTo>
                  <a:pt x="147" y="5"/>
                  <a:pt x="158" y="0"/>
                  <a:pt x="170" y="0"/>
                </a:cubicBezTo>
                <a:cubicBezTo>
                  <a:pt x="179" y="0"/>
                  <a:pt x="187" y="3"/>
                  <a:pt x="193" y="9"/>
                </a:cubicBezTo>
                <a:cubicBezTo>
                  <a:pt x="199" y="15"/>
                  <a:pt x="202" y="22"/>
                  <a:pt x="202" y="31"/>
                </a:cubicBezTo>
                <a:cubicBezTo>
                  <a:pt x="202" y="43"/>
                  <a:pt x="197" y="53"/>
                  <a:pt x="187" y="63"/>
                </a:cubicBezTo>
                <a:cubicBezTo>
                  <a:pt x="177" y="72"/>
                  <a:pt x="166" y="77"/>
                  <a:pt x="154" y="78"/>
                </a:cubicBezTo>
                <a:cubicBezTo>
                  <a:pt x="147" y="78"/>
                  <a:pt x="140" y="75"/>
                  <a:pt x="133" y="70"/>
                </a:cubicBezTo>
                <a:cubicBezTo>
                  <a:pt x="127" y="65"/>
                  <a:pt x="123" y="57"/>
                  <a:pt x="123" y="45"/>
                </a:cubicBezTo>
                <a:moveTo>
                  <a:pt x="0" y="280"/>
                </a:moveTo>
                <a:cubicBezTo>
                  <a:pt x="0" y="276"/>
                  <a:pt x="2" y="269"/>
                  <a:pt x="6" y="257"/>
                </a:cubicBezTo>
                <a:cubicBezTo>
                  <a:pt x="11" y="246"/>
                  <a:pt x="18" y="233"/>
                  <a:pt x="25" y="219"/>
                </a:cubicBezTo>
                <a:cubicBezTo>
                  <a:pt x="33" y="205"/>
                  <a:pt x="44" y="192"/>
                  <a:pt x="58" y="181"/>
                </a:cubicBezTo>
                <a:cubicBezTo>
                  <a:pt x="73" y="169"/>
                  <a:pt x="88" y="164"/>
                  <a:pt x="103" y="164"/>
                </a:cubicBezTo>
                <a:cubicBezTo>
                  <a:pt x="123" y="164"/>
                  <a:pt x="139" y="170"/>
                  <a:pt x="152" y="181"/>
                </a:cubicBezTo>
                <a:cubicBezTo>
                  <a:pt x="165" y="193"/>
                  <a:pt x="172" y="208"/>
                  <a:pt x="172" y="228"/>
                </a:cubicBezTo>
                <a:cubicBezTo>
                  <a:pt x="172" y="236"/>
                  <a:pt x="169" y="250"/>
                  <a:pt x="162" y="270"/>
                </a:cubicBezTo>
                <a:cubicBezTo>
                  <a:pt x="155" y="289"/>
                  <a:pt x="145" y="316"/>
                  <a:pt x="132" y="349"/>
                </a:cubicBezTo>
                <a:cubicBezTo>
                  <a:pt x="119" y="382"/>
                  <a:pt x="108" y="410"/>
                  <a:pt x="100" y="433"/>
                </a:cubicBezTo>
                <a:cubicBezTo>
                  <a:pt x="98" y="444"/>
                  <a:pt x="97" y="452"/>
                  <a:pt x="97" y="457"/>
                </a:cubicBezTo>
                <a:cubicBezTo>
                  <a:pt x="97" y="470"/>
                  <a:pt x="101" y="477"/>
                  <a:pt x="109" y="477"/>
                </a:cubicBezTo>
                <a:cubicBezTo>
                  <a:pt x="114" y="477"/>
                  <a:pt x="119" y="476"/>
                  <a:pt x="124" y="475"/>
                </a:cubicBezTo>
                <a:cubicBezTo>
                  <a:pt x="129" y="472"/>
                  <a:pt x="134" y="469"/>
                  <a:pt x="141" y="463"/>
                </a:cubicBezTo>
                <a:cubicBezTo>
                  <a:pt x="147" y="458"/>
                  <a:pt x="154" y="449"/>
                  <a:pt x="161" y="437"/>
                </a:cubicBezTo>
                <a:cubicBezTo>
                  <a:pt x="168" y="425"/>
                  <a:pt x="174" y="410"/>
                  <a:pt x="180" y="393"/>
                </a:cubicBezTo>
                <a:cubicBezTo>
                  <a:pt x="181" y="387"/>
                  <a:pt x="183" y="383"/>
                  <a:pt x="184" y="382"/>
                </a:cubicBezTo>
                <a:cubicBezTo>
                  <a:pt x="185" y="381"/>
                  <a:pt x="189" y="381"/>
                  <a:pt x="196" y="381"/>
                </a:cubicBezTo>
                <a:cubicBezTo>
                  <a:pt x="206" y="381"/>
                  <a:pt x="211" y="383"/>
                  <a:pt x="211" y="388"/>
                </a:cubicBezTo>
                <a:cubicBezTo>
                  <a:pt x="211" y="392"/>
                  <a:pt x="209" y="400"/>
                  <a:pt x="205" y="412"/>
                </a:cubicBezTo>
                <a:cubicBezTo>
                  <a:pt x="200" y="423"/>
                  <a:pt x="194" y="436"/>
                  <a:pt x="186" y="450"/>
                </a:cubicBezTo>
                <a:cubicBezTo>
                  <a:pt x="178" y="464"/>
                  <a:pt x="167" y="477"/>
                  <a:pt x="152" y="488"/>
                </a:cubicBezTo>
                <a:cubicBezTo>
                  <a:pt x="138" y="499"/>
                  <a:pt x="122" y="505"/>
                  <a:pt x="106" y="505"/>
                </a:cubicBezTo>
                <a:cubicBezTo>
                  <a:pt x="90" y="505"/>
                  <a:pt x="75" y="500"/>
                  <a:pt x="61" y="489"/>
                </a:cubicBezTo>
                <a:cubicBezTo>
                  <a:pt x="48" y="479"/>
                  <a:pt x="41" y="462"/>
                  <a:pt x="40" y="440"/>
                </a:cubicBezTo>
                <a:cubicBezTo>
                  <a:pt x="40" y="432"/>
                  <a:pt x="42" y="424"/>
                  <a:pt x="44" y="416"/>
                </a:cubicBezTo>
                <a:cubicBezTo>
                  <a:pt x="47" y="409"/>
                  <a:pt x="57" y="380"/>
                  <a:pt x="76" y="331"/>
                </a:cubicBezTo>
                <a:cubicBezTo>
                  <a:pt x="95" y="280"/>
                  <a:pt x="106" y="250"/>
                  <a:pt x="109" y="240"/>
                </a:cubicBezTo>
                <a:cubicBezTo>
                  <a:pt x="112" y="230"/>
                  <a:pt x="114" y="220"/>
                  <a:pt x="115" y="211"/>
                </a:cubicBezTo>
                <a:cubicBezTo>
                  <a:pt x="115" y="199"/>
                  <a:pt x="110" y="193"/>
                  <a:pt x="102" y="193"/>
                </a:cubicBezTo>
                <a:lnTo>
                  <a:pt x="100" y="193"/>
                </a:lnTo>
                <a:cubicBezTo>
                  <a:pt x="85" y="193"/>
                  <a:pt x="72" y="201"/>
                  <a:pt x="59" y="217"/>
                </a:cubicBezTo>
                <a:cubicBezTo>
                  <a:pt x="47" y="234"/>
                  <a:pt x="37" y="255"/>
                  <a:pt x="31" y="280"/>
                </a:cubicBezTo>
                <a:cubicBezTo>
                  <a:pt x="30" y="281"/>
                  <a:pt x="30" y="282"/>
                  <a:pt x="29" y="283"/>
                </a:cubicBezTo>
                <a:cubicBezTo>
                  <a:pt x="29" y="284"/>
                  <a:pt x="28" y="284"/>
                  <a:pt x="28" y="285"/>
                </a:cubicBezTo>
                <a:cubicBezTo>
                  <a:pt x="28" y="285"/>
                  <a:pt x="28" y="286"/>
                  <a:pt x="27" y="286"/>
                </a:cubicBezTo>
                <a:cubicBezTo>
                  <a:pt x="26" y="287"/>
                  <a:pt x="25" y="287"/>
                  <a:pt x="25" y="287"/>
                </a:cubicBezTo>
                <a:cubicBezTo>
                  <a:pt x="24" y="287"/>
                  <a:pt x="23" y="287"/>
                  <a:pt x="22" y="287"/>
                </a:cubicBezTo>
                <a:cubicBezTo>
                  <a:pt x="20" y="287"/>
                  <a:pt x="18" y="287"/>
                  <a:pt x="15" y="287"/>
                </a:cubicBezTo>
                <a:lnTo>
                  <a:pt x="4" y="287"/>
                </a:lnTo>
                <a:cubicBezTo>
                  <a:pt x="1" y="284"/>
                  <a:pt x="0" y="282"/>
                  <a:pt x="0" y="280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132" name="フリーフォーム 131"/>
          <p:cNvSpPr/>
          <p:nvPr/>
        </p:nvSpPr>
        <p:spPr>
          <a:xfrm>
            <a:off x="4897800" y="2852010"/>
            <a:ext cx="174960" cy="11610"/>
          </a:xfrm>
          <a:custGeom>
            <a:avLst/>
            <a:gdLst/>
            <a:ahLst/>
            <a:cxnLst/>
            <a:rect l="0" t="0" r="r" b="b"/>
            <a:pathLst>
              <a:path w="648" h="43">
                <a:moveTo>
                  <a:pt x="0" y="36"/>
                </a:moveTo>
                <a:cubicBezTo>
                  <a:pt x="0" y="36"/>
                  <a:pt x="0" y="31"/>
                  <a:pt x="0" y="21"/>
                </a:cubicBezTo>
                <a:cubicBezTo>
                  <a:pt x="0" y="12"/>
                  <a:pt x="5" y="5"/>
                  <a:pt x="15" y="0"/>
                </a:cubicBezTo>
                <a:lnTo>
                  <a:pt x="632" y="0"/>
                </a:lnTo>
                <a:cubicBezTo>
                  <a:pt x="643" y="6"/>
                  <a:pt x="648" y="13"/>
                  <a:pt x="648" y="21"/>
                </a:cubicBezTo>
                <a:cubicBezTo>
                  <a:pt x="648" y="31"/>
                  <a:pt x="643" y="38"/>
                  <a:pt x="632" y="43"/>
                </a:cubicBezTo>
                <a:lnTo>
                  <a:pt x="15" y="43"/>
                </a:lnTo>
                <a:cubicBezTo>
                  <a:pt x="5" y="38"/>
                  <a:pt x="0" y="31"/>
                  <a:pt x="0" y="21"/>
                </a:cubicBezTo>
                <a:lnTo>
                  <a:pt x="0" y="36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133" name="フリーフォーム 132"/>
          <p:cNvSpPr/>
          <p:nvPr/>
        </p:nvSpPr>
        <p:spPr>
          <a:xfrm>
            <a:off x="5166180" y="2802060"/>
            <a:ext cx="162270" cy="127440"/>
          </a:xfrm>
          <a:custGeom>
            <a:avLst/>
            <a:gdLst/>
            <a:ahLst/>
            <a:cxnLst/>
            <a:rect l="0" t="0" r="r" b="b"/>
            <a:pathLst>
              <a:path w="601" h="472">
                <a:moveTo>
                  <a:pt x="219" y="472"/>
                </a:moveTo>
                <a:cubicBezTo>
                  <a:pt x="208" y="470"/>
                  <a:pt x="171" y="469"/>
                  <a:pt x="106" y="469"/>
                </a:cubicBezTo>
                <a:cubicBezTo>
                  <a:pt x="49" y="469"/>
                  <a:pt x="16" y="470"/>
                  <a:pt x="8" y="472"/>
                </a:cubicBezTo>
                <a:lnTo>
                  <a:pt x="0" y="472"/>
                </a:lnTo>
                <a:lnTo>
                  <a:pt x="0" y="407"/>
                </a:lnTo>
                <a:lnTo>
                  <a:pt x="102" y="407"/>
                </a:lnTo>
                <a:lnTo>
                  <a:pt x="238" y="246"/>
                </a:lnTo>
                <a:lnTo>
                  <a:pt x="93" y="66"/>
                </a:lnTo>
                <a:lnTo>
                  <a:pt x="5" y="66"/>
                </a:lnTo>
                <a:lnTo>
                  <a:pt x="5" y="0"/>
                </a:lnTo>
                <a:lnTo>
                  <a:pt x="14" y="0"/>
                </a:lnTo>
                <a:cubicBezTo>
                  <a:pt x="24" y="2"/>
                  <a:pt x="63" y="4"/>
                  <a:pt x="130" y="4"/>
                </a:cubicBezTo>
                <a:cubicBezTo>
                  <a:pt x="203" y="4"/>
                  <a:pt x="246" y="2"/>
                  <a:pt x="259" y="0"/>
                </a:cubicBezTo>
                <a:lnTo>
                  <a:pt x="269" y="0"/>
                </a:lnTo>
                <a:lnTo>
                  <a:pt x="269" y="66"/>
                </a:lnTo>
                <a:lnTo>
                  <a:pt x="239" y="66"/>
                </a:lnTo>
                <a:lnTo>
                  <a:pt x="276" y="113"/>
                </a:lnTo>
                <a:cubicBezTo>
                  <a:pt x="300" y="142"/>
                  <a:pt x="312" y="157"/>
                  <a:pt x="313" y="157"/>
                </a:cubicBezTo>
                <a:cubicBezTo>
                  <a:pt x="316" y="157"/>
                  <a:pt x="329" y="142"/>
                  <a:pt x="354" y="111"/>
                </a:cubicBezTo>
                <a:lnTo>
                  <a:pt x="392" y="66"/>
                </a:lnTo>
                <a:lnTo>
                  <a:pt x="352" y="66"/>
                </a:lnTo>
                <a:lnTo>
                  <a:pt x="352" y="0"/>
                </a:lnTo>
                <a:lnTo>
                  <a:pt x="361" y="0"/>
                </a:lnTo>
                <a:cubicBezTo>
                  <a:pt x="371" y="2"/>
                  <a:pt x="409" y="4"/>
                  <a:pt x="473" y="4"/>
                </a:cubicBezTo>
                <a:cubicBezTo>
                  <a:pt x="531" y="4"/>
                  <a:pt x="563" y="2"/>
                  <a:pt x="572" y="0"/>
                </a:cubicBezTo>
                <a:lnTo>
                  <a:pt x="579" y="0"/>
                </a:lnTo>
                <a:lnTo>
                  <a:pt x="579" y="66"/>
                </a:lnTo>
                <a:lnTo>
                  <a:pt x="479" y="66"/>
                </a:lnTo>
                <a:lnTo>
                  <a:pt x="355" y="211"/>
                </a:lnTo>
                <a:lnTo>
                  <a:pt x="514" y="406"/>
                </a:lnTo>
                <a:lnTo>
                  <a:pt x="557" y="407"/>
                </a:lnTo>
                <a:lnTo>
                  <a:pt x="601" y="407"/>
                </a:lnTo>
                <a:lnTo>
                  <a:pt x="601" y="472"/>
                </a:lnTo>
                <a:lnTo>
                  <a:pt x="592" y="472"/>
                </a:lnTo>
                <a:cubicBezTo>
                  <a:pt x="581" y="470"/>
                  <a:pt x="543" y="469"/>
                  <a:pt x="476" y="469"/>
                </a:cubicBezTo>
                <a:cubicBezTo>
                  <a:pt x="403" y="469"/>
                  <a:pt x="360" y="470"/>
                  <a:pt x="347" y="472"/>
                </a:cubicBezTo>
                <a:lnTo>
                  <a:pt x="337" y="472"/>
                </a:lnTo>
                <a:lnTo>
                  <a:pt x="337" y="407"/>
                </a:lnTo>
                <a:lnTo>
                  <a:pt x="367" y="407"/>
                </a:lnTo>
                <a:cubicBezTo>
                  <a:pt x="367" y="406"/>
                  <a:pt x="353" y="388"/>
                  <a:pt x="324" y="354"/>
                </a:cubicBezTo>
                <a:cubicBezTo>
                  <a:pt x="295" y="319"/>
                  <a:pt x="281" y="301"/>
                  <a:pt x="280" y="299"/>
                </a:cubicBezTo>
                <a:lnTo>
                  <a:pt x="188" y="406"/>
                </a:lnTo>
                <a:lnTo>
                  <a:pt x="208" y="407"/>
                </a:lnTo>
                <a:lnTo>
                  <a:pt x="227" y="407"/>
                </a:lnTo>
                <a:lnTo>
                  <a:pt x="227" y="472"/>
                </a:lnTo>
                <a:lnTo>
                  <a:pt x="219" y="472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134" name="フリーフォーム 133"/>
          <p:cNvSpPr/>
          <p:nvPr/>
        </p:nvSpPr>
        <p:spPr>
          <a:xfrm>
            <a:off x="5347890" y="2838510"/>
            <a:ext cx="56970" cy="136350"/>
          </a:xfrm>
          <a:custGeom>
            <a:avLst/>
            <a:gdLst/>
            <a:ahLst/>
            <a:cxnLst/>
            <a:rect l="0" t="0" r="r" b="b"/>
            <a:pathLst>
              <a:path w="211" h="505">
                <a:moveTo>
                  <a:pt x="123" y="45"/>
                </a:moveTo>
                <a:cubicBezTo>
                  <a:pt x="123" y="33"/>
                  <a:pt x="128" y="23"/>
                  <a:pt x="137" y="14"/>
                </a:cubicBezTo>
                <a:cubicBezTo>
                  <a:pt x="147" y="5"/>
                  <a:pt x="158" y="0"/>
                  <a:pt x="170" y="0"/>
                </a:cubicBezTo>
                <a:cubicBezTo>
                  <a:pt x="179" y="0"/>
                  <a:pt x="187" y="3"/>
                  <a:pt x="193" y="9"/>
                </a:cubicBezTo>
                <a:cubicBezTo>
                  <a:pt x="199" y="15"/>
                  <a:pt x="202" y="22"/>
                  <a:pt x="202" y="31"/>
                </a:cubicBezTo>
                <a:cubicBezTo>
                  <a:pt x="202" y="43"/>
                  <a:pt x="197" y="53"/>
                  <a:pt x="187" y="63"/>
                </a:cubicBezTo>
                <a:cubicBezTo>
                  <a:pt x="177" y="72"/>
                  <a:pt x="166" y="77"/>
                  <a:pt x="154" y="78"/>
                </a:cubicBezTo>
                <a:cubicBezTo>
                  <a:pt x="147" y="78"/>
                  <a:pt x="140" y="75"/>
                  <a:pt x="133" y="70"/>
                </a:cubicBezTo>
                <a:cubicBezTo>
                  <a:pt x="127" y="65"/>
                  <a:pt x="123" y="57"/>
                  <a:pt x="123" y="45"/>
                </a:cubicBezTo>
                <a:moveTo>
                  <a:pt x="0" y="280"/>
                </a:moveTo>
                <a:cubicBezTo>
                  <a:pt x="0" y="276"/>
                  <a:pt x="2" y="269"/>
                  <a:pt x="6" y="257"/>
                </a:cubicBezTo>
                <a:cubicBezTo>
                  <a:pt x="11" y="246"/>
                  <a:pt x="17" y="233"/>
                  <a:pt x="24" y="219"/>
                </a:cubicBezTo>
                <a:cubicBezTo>
                  <a:pt x="32" y="205"/>
                  <a:pt x="44" y="192"/>
                  <a:pt x="58" y="181"/>
                </a:cubicBezTo>
                <a:cubicBezTo>
                  <a:pt x="73" y="169"/>
                  <a:pt x="88" y="164"/>
                  <a:pt x="103" y="164"/>
                </a:cubicBezTo>
                <a:cubicBezTo>
                  <a:pt x="123" y="164"/>
                  <a:pt x="139" y="170"/>
                  <a:pt x="152" y="181"/>
                </a:cubicBezTo>
                <a:cubicBezTo>
                  <a:pt x="165" y="193"/>
                  <a:pt x="172" y="208"/>
                  <a:pt x="172" y="228"/>
                </a:cubicBezTo>
                <a:cubicBezTo>
                  <a:pt x="172" y="236"/>
                  <a:pt x="169" y="250"/>
                  <a:pt x="162" y="270"/>
                </a:cubicBezTo>
                <a:cubicBezTo>
                  <a:pt x="155" y="289"/>
                  <a:pt x="145" y="316"/>
                  <a:pt x="132" y="349"/>
                </a:cubicBezTo>
                <a:cubicBezTo>
                  <a:pt x="119" y="382"/>
                  <a:pt x="108" y="410"/>
                  <a:pt x="100" y="433"/>
                </a:cubicBezTo>
                <a:cubicBezTo>
                  <a:pt x="98" y="444"/>
                  <a:pt x="97" y="452"/>
                  <a:pt x="97" y="457"/>
                </a:cubicBezTo>
                <a:cubicBezTo>
                  <a:pt x="97" y="470"/>
                  <a:pt x="101" y="477"/>
                  <a:pt x="109" y="477"/>
                </a:cubicBezTo>
                <a:cubicBezTo>
                  <a:pt x="114" y="477"/>
                  <a:pt x="119" y="476"/>
                  <a:pt x="124" y="475"/>
                </a:cubicBezTo>
                <a:cubicBezTo>
                  <a:pt x="129" y="472"/>
                  <a:pt x="134" y="469"/>
                  <a:pt x="141" y="463"/>
                </a:cubicBezTo>
                <a:cubicBezTo>
                  <a:pt x="147" y="458"/>
                  <a:pt x="154" y="449"/>
                  <a:pt x="161" y="437"/>
                </a:cubicBezTo>
                <a:cubicBezTo>
                  <a:pt x="168" y="425"/>
                  <a:pt x="174" y="410"/>
                  <a:pt x="180" y="393"/>
                </a:cubicBezTo>
                <a:cubicBezTo>
                  <a:pt x="181" y="387"/>
                  <a:pt x="183" y="383"/>
                  <a:pt x="184" y="382"/>
                </a:cubicBezTo>
                <a:cubicBezTo>
                  <a:pt x="185" y="381"/>
                  <a:pt x="189" y="381"/>
                  <a:pt x="196" y="381"/>
                </a:cubicBezTo>
                <a:cubicBezTo>
                  <a:pt x="206" y="381"/>
                  <a:pt x="211" y="383"/>
                  <a:pt x="211" y="388"/>
                </a:cubicBezTo>
                <a:cubicBezTo>
                  <a:pt x="211" y="392"/>
                  <a:pt x="209" y="400"/>
                  <a:pt x="205" y="412"/>
                </a:cubicBezTo>
                <a:cubicBezTo>
                  <a:pt x="200" y="423"/>
                  <a:pt x="194" y="436"/>
                  <a:pt x="186" y="450"/>
                </a:cubicBezTo>
                <a:cubicBezTo>
                  <a:pt x="178" y="464"/>
                  <a:pt x="167" y="477"/>
                  <a:pt x="152" y="488"/>
                </a:cubicBezTo>
                <a:cubicBezTo>
                  <a:pt x="138" y="499"/>
                  <a:pt x="122" y="505"/>
                  <a:pt x="106" y="505"/>
                </a:cubicBezTo>
                <a:cubicBezTo>
                  <a:pt x="90" y="505"/>
                  <a:pt x="75" y="500"/>
                  <a:pt x="61" y="489"/>
                </a:cubicBezTo>
                <a:cubicBezTo>
                  <a:pt x="48" y="479"/>
                  <a:pt x="41" y="462"/>
                  <a:pt x="40" y="440"/>
                </a:cubicBezTo>
                <a:cubicBezTo>
                  <a:pt x="40" y="432"/>
                  <a:pt x="42" y="424"/>
                  <a:pt x="44" y="416"/>
                </a:cubicBezTo>
                <a:cubicBezTo>
                  <a:pt x="47" y="409"/>
                  <a:pt x="57" y="380"/>
                  <a:pt x="76" y="331"/>
                </a:cubicBezTo>
                <a:cubicBezTo>
                  <a:pt x="95" y="280"/>
                  <a:pt x="106" y="250"/>
                  <a:pt x="109" y="240"/>
                </a:cubicBezTo>
                <a:cubicBezTo>
                  <a:pt x="112" y="230"/>
                  <a:pt x="114" y="220"/>
                  <a:pt x="115" y="211"/>
                </a:cubicBezTo>
                <a:cubicBezTo>
                  <a:pt x="115" y="199"/>
                  <a:pt x="110" y="193"/>
                  <a:pt x="102" y="193"/>
                </a:cubicBezTo>
                <a:lnTo>
                  <a:pt x="100" y="193"/>
                </a:lnTo>
                <a:cubicBezTo>
                  <a:pt x="85" y="193"/>
                  <a:pt x="72" y="201"/>
                  <a:pt x="59" y="217"/>
                </a:cubicBezTo>
                <a:cubicBezTo>
                  <a:pt x="47" y="234"/>
                  <a:pt x="36" y="255"/>
                  <a:pt x="30" y="280"/>
                </a:cubicBezTo>
                <a:cubicBezTo>
                  <a:pt x="29" y="281"/>
                  <a:pt x="29" y="282"/>
                  <a:pt x="28" y="283"/>
                </a:cubicBezTo>
                <a:cubicBezTo>
                  <a:pt x="28" y="284"/>
                  <a:pt x="27" y="284"/>
                  <a:pt x="27" y="285"/>
                </a:cubicBezTo>
                <a:cubicBezTo>
                  <a:pt x="27" y="285"/>
                  <a:pt x="27" y="286"/>
                  <a:pt x="26" y="286"/>
                </a:cubicBezTo>
                <a:cubicBezTo>
                  <a:pt x="25" y="287"/>
                  <a:pt x="24" y="287"/>
                  <a:pt x="24" y="287"/>
                </a:cubicBezTo>
                <a:cubicBezTo>
                  <a:pt x="23" y="287"/>
                  <a:pt x="22" y="287"/>
                  <a:pt x="21" y="287"/>
                </a:cubicBezTo>
                <a:cubicBezTo>
                  <a:pt x="19" y="287"/>
                  <a:pt x="17" y="287"/>
                  <a:pt x="15" y="287"/>
                </a:cubicBezTo>
                <a:lnTo>
                  <a:pt x="4" y="287"/>
                </a:lnTo>
                <a:cubicBezTo>
                  <a:pt x="1" y="284"/>
                  <a:pt x="0" y="282"/>
                  <a:pt x="0" y="280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135" name="フリーフォーム 134"/>
          <p:cNvSpPr/>
          <p:nvPr/>
        </p:nvSpPr>
        <p:spPr>
          <a:xfrm>
            <a:off x="5454540" y="2714580"/>
            <a:ext cx="68850" cy="286740"/>
          </a:xfrm>
          <a:custGeom>
            <a:avLst/>
            <a:gdLst/>
            <a:ahLst/>
            <a:cxnLst/>
            <a:rect l="0" t="0" r="r" b="b"/>
            <a:pathLst>
              <a:path w="255" h="1062">
                <a:moveTo>
                  <a:pt x="0" y="531"/>
                </a:moveTo>
                <a:cubicBezTo>
                  <a:pt x="0" y="482"/>
                  <a:pt x="4" y="436"/>
                  <a:pt x="11" y="392"/>
                </a:cubicBezTo>
                <a:cubicBezTo>
                  <a:pt x="18" y="348"/>
                  <a:pt x="26" y="310"/>
                  <a:pt x="35" y="279"/>
                </a:cubicBezTo>
                <a:cubicBezTo>
                  <a:pt x="45" y="247"/>
                  <a:pt x="58" y="216"/>
                  <a:pt x="75" y="185"/>
                </a:cubicBezTo>
                <a:cubicBezTo>
                  <a:pt x="92" y="155"/>
                  <a:pt x="105" y="131"/>
                  <a:pt x="115" y="114"/>
                </a:cubicBezTo>
                <a:cubicBezTo>
                  <a:pt x="125" y="97"/>
                  <a:pt x="140" y="79"/>
                  <a:pt x="160" y="59"/>
                </a:cubicBezTo>
                <a:cubicBezTo>
                  <a:pt x="180" y="39"/>
                  <a:pt x="192" y="27"/>
                  <a:pt x="196" y="23"/>
                </a:cubicBezTo>
                <a:cubicBezTo>
                  <a:pt x="199" y="19"/>
                  <a:pt x="208" y="10"/>
                  <a:pt x="222" y="0"/>
                </a:cubicBezTo>
                <a:lnTo>
                  <a:pt x="236" y="0"/>
                </a:lnTo>
                <a:lnTo>
                  <a:pt x="240" y="0"/>
                </a:lnTo>
                <a:cubicBezTo>
                  <a:pt x="250" y="0"/>
                  <a:pt x="255" y="3"/>
                  <a:pt x="255" y="9"/>
                </a:cubicBezTo>
                <a:cubicBezTo>
                  <a:pt x="255" y="12"/>
                  <a:pt x="249" y="20"/>
                  <a:pt x="237" y="32"/>
                </a:cubicBezTo>
                <a:cubicBezTo>
                  <a:pt x="225" y="45"/>
                  <a:pt x="210" y="64"/>
                  <a:pt x="193" y="89"/>
                </a:cubicBezTo>
                <a:cubicBezTo>
                  <a:pt x="176" y="113"/>
                  <a:pt x="158" y="144"/>
                  <a:pt x="140" y="180"/>
                </a:cubicBezTo>
                <a:cubicBezTo>
                  <a:pt x="123" y="216"/>
                  <a:pt x="108" y="265"/>
                  <a:pt x="96" y="326"/>
                </a:cubicBezTo>
                <a:cubicBezTo>
                  <a:pt x="84" y="388"/>
                  <a:pt x="78" y="456"/>
                  <a:pt x="78" y="531"/>
                </a:cubicBezTo>
                <a:cubicBezTo>
                  <a:pt x="78" y="606"/>
                  <a:pt x="84" y="674"/>
                  <a:pt x="96" y="735"/>
                </a:cubicBezTo>
                <a:cubicBezTo>
                  <a:pt x="108" y="796"/>
                  <a:pt x="122" y="845"/>
                  <a:pt x="139" y="882"/>
                </a:cubicBezTo>
                <a:cubicBezTo>
                  <a:pt x="156" y="920"/>
                  <a:pt x="175" y="950"/>
                  <a:pt x="192" y="974"/>
                </a:cubicBezTo>
                <a:cubicBezTo>
                  <a:pt x="210" y="997"/>
                  <a:pt x="225" y="1016"/>
                  <a:pt x="237" y="1030"/>
                </a:cubicBezTo>
                <a:cubicBezTo>
                  <a:pt x="249" y="1044"/>
                  <a:pt x="255" y="1051"/>
                  <a:pt x="255" y="1052"/>
                </a:cubicBezTo>
                <a:cubicBezTo>
                  <a:pt x="255" y="1058"/>
                  <a:pt x="250" y="1062"/>
                  <a:pt x="239" y="1062"/>
                </a:cubicBezTo>
                <a:lnTo>
                  <a:pt x="236" y="1062"/>
                </a:lnTo>
                <a:lnTo>
                  <a:pt x="222" y="1062"/>
                </a:lnTo>
                <a:lnTo>
                  <a:pt x="192" y="1036"/>
                </a:lnTo>
                <a:cubicBezTo>
                  <a:pt x="125" y="976"/>
                  <a:pt x="76" y="901"/>
                  <a:pt x="46" y="811"/>
                </a:cubicBezTo>
                <a:cubicBezTo>
                  <a:pt x="16" y="721"/>
                  <a:pt x="0" y="628"/>
                  <a:pt x="0" y="531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136" name="フリーフォーム 135"/>
          <p:cNvSpPr/>
          <p:nvPr/>
        </p:nvSpPr>
        <p:spPr>
          <a:xfrm>
            <a:off x="5544720" y="2749950"/>
            <a:ext cx="89370" cy="182790"/>
          </a:xfrm>
          <a:custGeom>
            <a:avLst/>
            <a:gdLst/>
            <a:ahLst/>
            <a:cxnLst/>
            <a:rect l="0" t="0" r="r" b="b"/>
            <a:pathLst>
              <a:path w="331" h="677">
                <a:moveTo>
                  <a:pt x="7" y="257"/>
                </a:moveTo>
                <a:cubicBezTo>
                  <a:pt x="2" y="252"/>
                  <a:pt x="0" y="248"/>
                  <a:pt x="0" y="246"/>
                </a:cubicBezTo>
                <a:cubicBezTo>
                  <a:pt x="0" y="243"/>
                  <a:pt x="1" y="238"/>
                  <a:pt x="3" y="229"/>
                </a:cubicBezTo>
                <a:cubicBezTo>
                  <a:pt x="5" y="221"/>
                  <a:pt x="7" y="216"/>
                  <a:pt x="8" y="214"/>
                </a:cubicBezTo>
                <a:cubicBezTo>
                  <a:pt x="9" y="211"/>
                  <a:pt x="13" y="209"/>
                  <a:pt x="18" y="209"/>
                </a:cubicBezTo>
                <a:cubicBezTo>
                  <a:pt x="23" y="209"/>
                  <a:pt x="42" y="209"/>
                  <a:pt x="73" y="208"/>
                </a:cubicBezTo>
                <a:lnTo>
                  <a:pt x="129" y="208"/>
                </a:lnTo>
                <a:lnTo>
                  <a:pt x="149" y="123"/>
                </a:lnTo>
                <a:cubicBezTo>
                  <a:pt x="151" y="115"/>
                  <a:pt x="154" y="105"/>
                  <a:pt x="157" y="92"/>
                </a:cubicBezTo>
                <a:cubicBezTo>
                  <a:pt x="159" y="80"/>
                  <a:pt x="162" y="70"/>
                  <a:pt x="164" y="64"/>
                </a:cubicBezTo>
                <a:cubicBezTo>
                  <a:pt x="166" y="58"/>
                  <a:pt x="168" y="51"/>
                  <a:pt x="170" y="43"/>
                </a:cubicBezTo>
                <a:cubicBezTo>
                  <a:pt x="172" y="34"/>
                  <a:pt x="175" y="28"/>
                  <a:pt x="179" y="25"/>
                </a:cubicBezTo>
                <a:cubicBezTo>
                  <a:pt x="182" y="21"/>
                  <a:pt x="186" y="17"/>
                  <a:pt x="189" y="12"/>
                </a:cubicBezTo>
                <a:cubicBezTo>
                  <a:pt x="193" y="7"/>
                  <a:pt x="198" y="4"/>
                  <a:pt x="204" y="2"/>
                </a:cubicBezTo>
                <a:cubicBezTo>
                  <a:pt x="211" y="1"/>
                  <a:pt x="217" y="0"/>
                  <a:pt x="223" y="0"/>
                </a:cubicBezTo>
                <a:cubicBezTo>
                  <a:pt x="236" y="1"/>
                  <a:pt x="245" y="5"/>
                  <a:pt x="250" y="12"/>
                </a:cubicBezTo>
                <a:cubicBezTo>
                  <a:pt x="255" y="19"/>
                  <a:pt x="257" y="26"/>
                  <a:pt x="257" y="32"/>
                </a:cubicBezTo>
                <a:cubicBezTo>
                  <a:pt x="257" y="37"/>
                  <a:pt x="254" y="54"/>
                  <a:pt x="248" y="83"/>
                </a:cubicBezTo>
                <a:cubicBezTo>
                  <a:pt x="241" y="111"/>
                  <a:pt x="234" y="139"/>
                  <a:pt x="227" y="167"/>
                </a:cubicBezTo>
                <a:lnTo>
                  <a:pt x="216" y="206"/>
                </a:lnTo>
                <a:cubicBezTo>
                  <a:pt x="216" y="207"/>
                  <a:pt x="234" y="208"/>
                  <a:pt x="269" y="208"/>
                </a:cubicBezTo>
                <a:lnTo>
                  <a:pt x="323" y="208"/>
                </a:lnTo>
                <a:cubicBezTo>
                  <a:pt x="328" y="213"/>
                  <a:pt x="331" y="217"/>
                  <a:pt x="331" y="220"/>
                </a:cubicBezTo>
                <a:cubicBezTo>
                  <a:pt x="331" y="235"/>
                  <a:pt x="326" y="248"/>
                  <a:pt x="317" y="257"/>
                </a:cubicBezTo>
                <a:lnTo>
                  <a:pt x="203" y="257"/>
                </a:lnTo>
                <a:lnTo>
                  <a:pt x="165" y="411"/>
                </a:lnTo>
                <a:cubicBezTo>
                  <a:pt x="137" y="524"/>
                  <a:pt x="124" y="585"/>
                  <a:pt x="124" y="593"/>
                </a:cubicBezTo>
                <a:cubicBezTo>
                  <a:pt x="124" y="623"/>
                  <a:pt x="133" y="638"/>
                  <a:pt x="152" y="638"/>
                </a:cubicBezTo>
                <a:cubicBezTo>
                  <a:pt x="177" y="638"/>
                  <a:pt x="201" y="626"/>
                  <a:pt x="224" y="602"/>
                </a:cubicBezTo>
                <a:cubicBezTo>
                  <a:pt x="248" y="578"/>
                  <a:pt x="267" y="548"/>
                  <a:pt x="281" y="513"/>
                </a:cubicBezTo>
                <a:cubicBezTo>
                  <a:pt x="282" y="508"/>
                  <a:pt x="284" y="506"/>
                  <a:pt x="286" y="505"/>
                </a:cubicBezTo>
                <a:cubicBezTo>
                  <a:pt x="288" y="504"/>
                  <a:pt x="293" y="504"/>
                  <a:pt x="302" y="503"/>
                </a:cubicBezTo>
                <a:lnTo>
                  <a:pt x="306" y="503"/>
                </a:lnTo>
                <a:cubicBezTo>
                  <a:pt x="317" y="503"/>
                  <a:pt x="322" y="506"/>
                  <a:pt x="322" y="512"/>
                </a:cubicBezTo>
                <a:cubicBezTo>
                  <a:pt x="322" y="514"/>
                  <a:pt x="321" y="518"/>
                  <a:pt x="319" y="524"/>
                </a:cubicBezTo>
                <a:cubicBezTo>
                  <a:pt x="315" y="536"/>
                  <a:pt x="309" y="549"/>
                  <a:pt x="300" y="565"/>
                </a:cubicBezTo>
                <a:cubicBezTo>
                  <a:pt x="291" y="580"/>
                  <a:pt x="279" y="597"/>
                  <a:pt x="264" y="614"/>
                </a:cubicBezTo>
                <a:cubicBezTo>
                  <a:pt x="249" y="632"/>
                  <a:pt x="231" y="647"/>
                  <a:pt x="210" y="659"/>
                </a:cubicBezTo>
                <a:cubicBezTo>
                  <a:pt x="188" y="671"/>
                  <a:pt x="167" y="677"/>
                  <a:pt x="145" y="677"/>
                </a:cubicBezTo>
                <a:cubicBezTo>
                  <a:pt x="124" y="677"/>
                  <a:pt x="103" y="672"/>
                  <a:pt x="84" y="661"/>
                </a:cubicBezTo>
                <a:cubicBezTo>
                  <a:pt x="65" y="651"/>
                  <a:pt x="51" y="632"/>
                  <a:pt x="43" y="606"/>
                </a:cubicBezTo>
                <a:cubicBezTo>
                  <a:pt x="42" y="600"/>
                  <a:pt x="41" y="591"/>
                  <a:pt x="41" y="577"/>
                </a:cubicBezTo>
                <a:lnTo>
                  <a:pt x="41" y="558"/>
                </a:lnTo>
                <a:lnTo>
                  <a:pt x="78" y="410"/>
                </a:lnTo>
                <a:cubicBezTo>
                  <a:pt x="103" y="310"/>
                  <a:pt x="115" y="260"/>
                  <a:pt x="116" y="259"/>
                </a:cubicBezTo>
                <a:cubicBezTo>
                  <a:pt x="116" y="258"/>
                  <a:pt x="98" y="257"/>
                  <a:pt x="62" y="257"/>
                </a:cubicBezTo>
                <a:lnTo>
                  <a:pt x="7" y="257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137" name="フリーフォーム 136"/>
          <p:cNvSpPr/>
          <p:nvPr/>
        </p:nvSpPr>
        <p:spPr>
          <a:xfrm>
            <a:off x="5658390" y="2714580"/>
            <a:ext cx="68580" cy="286740"/>
          </a:xfrm>
          <a:custGeom>
            <a:avLst/>
            <a:gdLst/>
            <a:ahLst/>
            <a:cxnLst/>
            <a:rect l="0" t="0" r="r" b="b"/>
            <a:pathLst>
              <a:path w="254" h="1062">
                <a:moveTo>
                  <a:pt x="5" y="1"/>
                </a:moveTo>
                <a:lnTo>
                  <a:pt x="9" y="0"/>
                </a:lnTo>
                <a:cubicBezTo>
                  <a:pt x="13" y="0"/>
                  <a:pt x="16" y="0"/>
                  <a:pt x="20" y="0"/>
                </a:cubicBezTo>
                <a:lnTo>
                  <a:pt x="33" y="0"/>
                </a:lnTo>
                <a:lnTo>
                  <a:pt x="62" y="26"/>
                </a:lnTo>
                <a:cubicBezTo>
                  <a:pt x="129" y="86"/>
                  <a:pt x="178" y="161"/>
                  <a:pt x="209" y="251"/>
                </a:cubicBezTo>
                <a:cubicBezTo>
                  <a:pt x="239" y="341"/>
                  <a:pt x="254" y="434"/>
                  <a:pt x="254" y="531"/>
                </a:cubicBezTo>
                <a:cubicBezTo>
                  <a:pt x="254" y="579"/>
                  <a:pt x="251" y="626"/>
                  <a:pt x="244" y="670"/>
                </a:cubicBezTo>
                <a:cubicBezTo>
                  <a:pt x="237" y="715"/>
                  <a:pt x="229" y="753"/>
                  <a:pt x="219" y="784"/>
                </a:cubicBezTo>
                <a:cubicBezTo>
                  <a:pt x="210" y="815"/>
                  <a:pt x="197" y="846"/>
                  <a:pt x="180" y="877"/>
                </a:cubicBezTo>
                <a:cubicBezTo>
                  <a:pt x="162" y="908"/>
                  <a:pt x="149" y="932"/>
                  <a:pt x="139" y="948"/>
                </a:cubicBezTo>
                <a:cubicBezTo>
                  <a:pt x="129" y="964"/>
                  <a:pt x="114" y="982"/>
                  <a:pt x="95" y="1002"/>
                </a:cubicBezTo>
                <a:cubicBezTo>
                  <a:pt x="76" y="1022"/>
                  <a:pt x="65" y="1034"/>
                  <a:pt x="61" y="1037"/>
                </a:cubicBezTo>
                <a:cubicBezTo>
                  <a:pt x="58" y="1041"/>
                  <a:pt x="50" y="1048"/>
                  <a:pt x="37" y="1057"/>
                </a:cubicBezTo>
                <a:cubicBezTo>
                  <a:pt x="35" y="1060"/>
                  <a:pt x="33" y="1061"/>
                  <a:pt x="33" y="1062"/>
                </a:cubicBezTo>
                <a:lnTo>
                  <a:pt x="20" y="1062"/>
                </a:lnTo>
                <a:cubicBezTo>
                  <a:pt x="14" y="1062"/>
                  <a:pt x="10" y="1062"/>
                  <a:pt x="8" y="1062"/>
                </a:cubicBezTo>
                <a:cubicBezTo>
                  <a:pt x="6" y="1062"/>
                  <a:pt x="4" y="1061"/>
                  <a:pt x="3" y="1058"/>
                </a:cubicBezTo>
                <a:cubicBezTo>
                  <a:pt x="2" y="1056"/>
                  <a:pt x="0" y="1053"/>
                  <a:pt x="0" y="1049"/>
                </a:cubicBezTo>
                <a:cubicBezTo>
                  <a:pt x="0" y="1048"/>
                  <a:pt x="4" y="1044"/>
                  <a:pt x="11" y="1035"/>
                </a:cubicBezTo>
                <a:cubicBezTo>
                  <a:pt x="121" y="921"/>
                  <a:pt x="177" y="753"/>
                  <a:pt x="177" y="531"/>
                </a:cubicBezTo>
                <a:cubicBezTo>
                  <a:pt x="177" y="309"/>
                  <a:pt x="121" y="141"/>
                  <a:pt x="11" y="27"/>
                </a:cubicBezTo>
                <a:cubicBezTo>
                  <a:pt x="4" y="19"/>
                  <a:pt x="0" y="14"/>
                  <a:pt x="0" y="13"/>
                </a:cubicBezTo>
                <a:cubicBezTo>
                  <a:pt x="0" y="7"/>
                  <a:pt x="2" y="3"/>
                  <a:pt x="5" y="1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138" name="フリーフォーム 137"/>
          <p:cNvSpPr/>
          <p:nvPr/>
        </p:nvSpPr>
        <p:spPr>
          <a:xfrm>
            <a:off x="5769630" y="2714580"/>
            <a:ext cx="68850" cy="286740"/>
          </a:xfrm>
          <a:custGeom>
            <a:avLst/>
            <a:gdLst/>
            <a:ahLst/>
            <a:cxnLst/>
            <a:rect l="0" t="0" r="r" b="b"/>
            <a:pathLst>
              <a:path w="255" h="1062">
                <a:moveTo>
                  <a:pt x="6" y="1"/>
                </a:moveTo>
                <a:lnTo>
                  <a:pt x="11" y="0"/>
                </a:lnTo>
                <a:cubicBezTo>
                  <a:pt x="15" y="0"/>
                  <a:pt x="18" y="0"/>
                  <a:pt x="22" y="0"/>
                </a:cubicBezTo>
                <a:lnTo>
                  <a:pt x="34" y="0"/>
                </a:lnTo>
                <a:lnTo>
                  <a:pt x="64" y="26"/>
                </a:lnTo>
                <a:cubicBezTo>
                  <a:pt x="131" y="86"/>
                  <a:pt x="179" y="161"/>
                  <a:pt x="209" y="251"/>
                </a:cubicBezTo>
                <a:cubicBezTo>
                  <a:pt x="240" y="341"/>
                  <a:pt x="255" y="434"/>
                  <a:pt x="255" y="531"/>
                </a:cubicBezTo>
                <a:cubicBezTo>
                  <a:pt x="255" y="579"/>
                  <a:pt x="252" y="626"/>
                  <a:pt x="244" y="670"/>
                </a:cubicBezTo>
                <a:cubicBezTo>
                  <a:pt x="237" y="715"/>
                  <a:pt x="229" y="753"/>
                  <a:pt x="220" y="784"/>
                </a:cubicBezTo>
                <a:cubicBezTo>
                  <a:pt x="211" y="815"/>
                  <a:pt x="198" y="846"/>
                  <a:pt x="181" y="877"/>
                </a:cubicBezTo>
                <a:cubicBezTo>
                  <a:pt x="164" y="908"/>
                  <a:pt x="150" y="932"/>
                  <a:pt x="140" y="948"/>
                </a:cubicBezTo>
                <a:cubicBezTo>
                  <a:pt x="131" y="964"/>
                  <a:pt x="116" y="982"/>
                  <a:pt x="97" y="1002"/>
                </a:cubicBezTo>
                <a:cubicBezTo>
                  <a:pt x="78" y="1022"/>
                  <a:pt x="67" y="1034"/>
                  <a:pt x="63" y="1037"/>
                </a:cubicBezTo>
                <a:cubicBezTo>
                  <a:pt x="59" y="1041"/>
                  <a:pt x="51" y="1048"/>
                  <a:pt x="39" y="1057"/>
                </a:cubicBezTo>
                <a:cubicBezTo>
                  <a:pt x="37" y="1060"/>
                  <a:pt x="35" y="1061"/>
                  <a:pt x="34" y="1062"/>
                </a:cubicBezTo>
                <a:lnTo>
                  <a:pt x="22" y="1062"/>
                </a:lnTo>
                <a:cubicBezTo>
                  <a:pt x="16" y="1062"/>
                  <a:pt x="12" y="1062"/>
                  <a:pt x="9" y="1062"/>
                </a:cubicBezTo>
                <a:cubicBezTo>
                  <a:pt x="7" y="1062"/>
                  <a:pt x="5" y="1061"/>
                  <a:pt x="4" y="1058"/>
                </a:cubicBezTo>
                <a:cubicBezTo>
                  <a:pt x="2" y="1056"/>
                  <a:pt x="1" y="1053"/>
                  <a:pt x="0" y="1049"/>
                </a:cubicBezTo>
                <a:cubicBezTo>
                  <a:pt x="1" y="1048"/>
                  <a:pt x="5" y="1044"/>
                  <a:pt x="13" y="1035"/>
                </a:cubicBezTo>
                <a:cubicBezTo>
                  <a:pt x="123" y="921"/>
                  <a:pt x="178" y="753"/>
                  <a:pt x="178" y="531"/>
                </a:cubicBezTo>
                <a:cubicBezTo>
                  <a:pt x="178" y="309"/>
                  <a:pt x="123" y="141"/>
                  <a:pt x="13" y="27"/>
                </a:cubicBezTo>
                <a:cubicBezTo>
                  <a:pt x="5" y="19"/>
                  <a:pt x="1" y="14"/>
                  <a:pt x="0" y="13"/>
                </a:cubicBezTo>
                <a:cubicBezTo>
                  <a:pt x="0" y="7"/>
                  <a:pt x="2" y="3"/>
                  <a:pt x="6" y="1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139" name="フリーフォーム 138"/>
          <p:cNvSpPr/>
          <p:nvPr/>
        </p:nvSpPr>
        <p:spPr>
          <a:xfrm>
            <a:off x="3497580" y="3027240"/>
            <a:ext cx="139050" cy="95850"/>
          </a:xfrm>
          <a:custGeom>
            <a:avLst/>
            <a:gdLst/>
            <a:ahLst/>
            <a:cxnLst/>
            <a:rect l="0" t="0" r="r" b="b"/>
            <a:pathLst>
              <a:path w="515" h="355">
                <a:moveTo>
                  <a:pt x="0" y="7"/>
                </a:moveTo>
                <a:lnTo>
                  <a:pt x="7" y="0"/>
                </a:lnTo>
                <a:lnTo>
                  <a:pt x="25" y="0"/>
                </a:lnTo>
                <a:cubicBezTo>
                  <a:pt x="33" y="0"/>
                  <a:pt x="39" y="0"/>
                  <a:pt x="42" y="0"/>
                </a:cubicBezTo>
                <a:cubicBezTo>
                  <a:pt x="45" y="0"/>
                  <a:pt x="47" y="2"/>
                  <a:pt x="49" y="5"/>
                </a:cubicBezTo>
                <a:cubicBezTo>
                  <a:pt x="51" y="7"/>
                  <a:pt x="53" y="10"/>
                  <a:pt x="55" y="12"/>
                </a:cubicBezTo>
                <a:cubicBezTo>
                  <a:pt x="56" y="14"/>
                  <a:pt x="59" y="19"/>
                  <a:pt x="63" y="27"/>
                </a:cubicBezTo>
                <a:cubicBezTo>
                  <a:pt x="67" y="35"/>
                  <a:pt x="74" y="43"/>
                  <a:pt x="83" y="52"/>
                </a:cubicBezTo>
                <a:cubicBezTo>
                  <a:pt x="126" y="110"/>
                  <a:pt x="188" y="153"/>
                  <a:pt x="266" y="182"/>
                </a:cubicBezTo>
                <a:cubicBezTo>
                  <a:pt x="343" y="211"/>
                  <a:pt x="420" y="226"/>
                  <a:pt x="495" y="226"/>
                </a:cubicBezTo>
                <a:cubicBezTo>
                  <a:pt x="504" y="226"/>
                  <a:pt x="510" y="227"/>
                  <a:pt x="512" y="229"/>
                </a:cubicBezTo>
                <a:cubicBezTo>
                  <a:pt x="514" y="232"/>
                  <a:pt x="515" y="239"/>
                  <a:pt x="515" y="253"/>
                </a:cubicBezTo>
                <a:lnTo>
                  <a:pt x="515" y="291"/>
                </a:lnTo>
                <a:lnTo>
                  <a:pt x="515" y="325"/>
                </a:lnTo>
                <a:cubicBezTo>
                  <a:pt x="515" y="339"/>
                  <a:pt x="514" y="348"/>
                  <a:pt x="512" y="350"/>
                </a:cubicBezTo>
                <a:cubicBezTo>
                  <a:pt x="510" y="353"/>
                  <a:pt x="504" y="355"/>
                  <a:pt x="496" y="355"/>
                </a:cubicBezTo>
                <a:cubicBezTo>
                  <a:pt x="434" y="355"/>
                  <a:pt x="370" y="342"/>
                  <a:pt x="303" y="316"/>
                </a:cubicBezTo>
                <a:cubicBezTo>
                  <a:pt x="172" y="257"/>
                  <a:pt x="73" y="172"/>
                  <a:pt x="9" y="59"/>
                </a:cubicBezTo>
                <a:lnTo>
                  <a:pt x="0" y="44"/>
                </a:lnTo>
                <a:lnTo>
                  <a:pt x="0" y="7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140" name="フリーフォーム 139"/>
          <p:cNvSpPr/>
          <p:nvPr/>
        </p:nvSpPr>
        <p:spPr>
          <a:xfrm>
            <a:off x="5733720" y="3027240"/>
            <a:ext cx="138780" cy="95850"/>
          </a:xfrm>
          <a:custGeom>
            <a:avLst/>
            <a:gdLst/>
            <a:ahLst/>
            <a:cxnLst/>
            <a:rect l="0" t="0" r="r" b="b"/>
            <a:pathLst>
              <a:path w="514" h="355">
                <a:moveTo>
                  <a:pt x="0" y="291"/>
                </a:moveTo>
                <a:lnTo>
                  <a:pt x="0" y="253"/>
                </a:lnTo>
                <a:cubicBezTo>
                  <a:pt x="0" y="240"/>
                  <a:pt x="1" y="233"/>
                  <a:pt x="3" y="231"/>
                </a:cubicBezTo>
                <a:cubicBezTo>
                  <a:pt x="5" y="228"/>
                  <a:pt x="11" y="227"/>
                  <a:pt x="20" y="226"/>
                </a:cubicBezTo>
                <a:cubicBezTo>
                  <a:pt x="121" y="226"/>
                  <a:pt x="207" y="208"/>
                  <a:pt x="277" y="172"/>
                </a:cubicBezTo>
                <a:cubicBezTo>
                  <a:pt x="347" y="136"/>
                  <a:pt x="398" y="96"/>
                  <a:pt x="432" y="52"/>
                </a:cubicBezTo>
                <a:cubicBezTo>
                  <a:pt x="437" y="46"/>
                  <a:pt x="443" y="38"/>
                  <a:pt x="449" y="30"/>
                </a:cubicBezTo>
                <a:cubicBezTo>
                  <a:pt x="454" y="21"/>
                  <a:pt x="458" y="15"/>
                  <a:pt x="461" y="10"/>
                </a:cubicBezTo>
                <a:cubicBezTo>
                  <a:pt x="464" y="5"/>
                  <a:pt x="467" y="2"/>
                  <a:pt x="469" y="2"/>
                </a:cubicBezTo>
                <a:cubicBezTo>
                  <a:pt x="470" y="1"/>
                  <a:pt x="477" y="0"/>
                  <a:pt x="490" y="0"/>
                </a:cubicBezTo>
                <a:lnTo>
                  <a:pt x="508" y="0"/>
                </a:lnTo>
                <a:lnTo>
                  <a:pt x="514" y="7"/>
                </a:lnTo>
                <a:lnTo>
                  <a:pt x="514" y="44"/>
                </a:lnTo>
                <a:lnTo>
                  <a:pt x="506" y="59"/>
                </a:lnTo>
                <a:cubicBezTo>
                  <a:pt x="441" y="172"/>
                  <a:pt x="344" y="257"/>
                  <a:pt x="213" y="316"/>
                </a:cubicBezTo>
                <a:cubicBezTo>
                  <a:pt x="146" y="342"/>
                  <a:pt x="81" y="355"/>
                  <a:pt x="19" y="355"/>
                </a:cubicBezTo>
                <a:cubicBezTo>
                  <a:pt x="10" y="355"/>
                  <a:pt x="4" y="354"/>
                  <a:pt x="3" y="351"/>
                </a:cubicBezTo>
                <a:cubicBezTo>
                  <a:pt x="2" y="349"/>
                  <a:pt x="1" y="342"/>
                  <a:pt x="0" y="329"/>
                </a:cubicBezTo>
                <a:lnTo>
                  <a:pt x="0" y="291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141" name="フリーフォーム 140"/>
          <p:cNvSpPr/>
          <p:nvPr/>
        </p:nvSpPr>
        <p:spPr>
          <a:xfrm>
            <a:off x="4553280" y="3088260"/>
            <a:ext cx="138780" cy="95850"/>
          </a:xfrm>
          <a:custGeom>
            <a:avLst/>
            <a:gdLst/>
            <a:ahLst/>
            <a:cxnLst/>
            <a:rect l="0" t="0" r="r" b="b"/>
            <a:pathLst>
              <a:path w="514" h="355">
                <a:moveTo>
                  <a:pt x="0" y="65"/>
                </a:moveTo>
                <a:cubicBezTo>
                  <a:pt x="0" y="34"/>
                  <a:pt x="0" y="15"/>
                  <a:pt x="0" y="10"/>
                </a:cubicBezTo>
                <a:cubicBezTo>
                  <a:pt x="0" y="5"/>
                  <a:pt x="2" y="2"/>
                  <a:pt x="5" y="2"/>
                </a:cubicBezTo>
                <a:cubicBezTo>
                  <a:pt x="8" y="1"/>
                  <a:pt x="13" y="0"/>
                  <a:pt x="21" y="0"/>
                </a:cubicBezTo>
                <a:cubicBezTo>
                  <a:pt x="82" y="0"/>
                  <a:pt x="146" y="13"/>
                  <a:pt x="212" y="39"/>
                </a:cubicBezTo>
                <a:cubicBezTo>
                  <a:pt x="344" y="97"/>
                  <a:pt x="442" y="183"/>
                  <a:pt x="506" y="296"/>
                </a:cubicBezTo>
                <a:lnTo>
                  <a:pt x="514" y="311"/>
                </a:lnTo>
                <a:lnTo>
                  <a:pt x="514" y="348"/>
                </a:lnTo>
                <a:lnTo>
                  <a:pt x="508" y="355"/>
                </a:lnTo>
                <a:lnTo>
                  <a:pt x="490" y="355"/>
                </a:lnTo>
                <a:lnTo>
                  <a:pt x="486" y="355"/>
                </a:lnTo>
                <a:cubicBezTo>
                  <a:pt x="479" y="355"/>
                  <a:pt x="474" y="355"/>
                  <a:pt x="472" y="355"/>
                </a:cubicBezTo>
                <a:cubicBezTo>
                  <a:pt x="470" y="355"/>
                  <a:pt x="468" y="353"/>
                  <a:pt x="466" y="350"/>
                </a:cubicBezTo>
                <a:cubicBezTo>
                  <a:pt x="463" y="348"/>
                  <a:pt x="462" y="345"/>
                  <a:pt x="460" y="343"/>
                </a:cubicBezTo>
                <a:cubicBezTo>
                  <a:pt x="459" y="341"/>
                  <a:pt x="456" y="335"/>
                  <a:pt x="451" y="327"/>
                </a:cubicBezTo>
                <a:cubicBezTo>
                  <a:pt x="446" y="319"/>
                  <a:pt x="439" y="310"/>
                  <a:pt x="432" y="302"/>
                </a:cubicBezTo>
                <a:cubicBezTo>
                  <a:pt x="386" y="244"/>
                  <a:pt x="325" y="201"/>
                  <a:pt x="248" y="172"/>
                </a:cubicBezTo>
                <a:cubicBezTo>
                  <a:pt x="172" y="143"/>
                  <a:pt x="96" y="129"/>
                  <a:pt x="20" y="129"/>
                </a:cubicBezTo>
                <a:cubicBezTo>
                  <a:pt x="11" y="129"/>
                  <a:pt x="5" y="128"/>
                  <a:pt x="3" y="125"/>
                </a:cubicBezTo>
                <a:cubicBezTo>
                  <a:pt x="1" y="123"/>
                  <a:pt x="0" y="115"/>
                  <a:pt x="0" y="102"/>
                </a:cubicBezTo>
                <a:lnTo>
                  <a:pt x="0" y="65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142" name="フリーフォーム 141"/>
          <p:cNvSpPr/>
          <p:nvPr/>
        </p:nvSpPr>
        <p:spPr>
          <a:xfrm>
            <a:off x="4678020" y="3088260"/>
            <a:ext cx="139050" cy="95850"/>
          </a:xfrm>
          <a:custGeom>
            <a:avLst/>
            <a:gdLst/>
            <a:ahLst/>
            <a:cxnLst/>
            <a:rect l="0" t="0" r="r" b="b"/>
            <a:pathLst>
              <a:path w="515" h="355">
                <a:moveTo>
                  <a:pt x="7" y="355"/>
                </a:moveTo>
                <a:lnTo>
                  <a:pt x="0" y="348"/>
                </a:lnTo>
                <a:lnTo>
                  <a:pt x="0" y="311"/>
                </a:lnTo>
                <a:lnTo>
                  <a:pt x="9" y="296"/>
                </a:lnTo>
                <a:cubicBezTo>
                  <a:pt x="73" y="183"/>
                  <a:pt x="171" y="97"/>
                  <a:pt x="302" y="39"/>
                </a:cubicBezTo>
                <a:cubicBezTo>
                  <a:pt x="354" y="18"/>
                  <a:pt x="410" y="6"/>
                  <a:pt x="467" y="1"/>
                </a:cubicBezTo>
                <a:cubicBezTo>
                  <a:pt x="469" y="1"/>
                  <a:pt x="474" y="1"/>
                  <a:pt x="480" y="1"/>
                </a:cubicBezTo>
                <a:cubicBezTo>
                  <a:pt x="486" y="1"/>
                  <a:pt x="491" y="1"/>
                  <a:pt x="494" y="0"/>
                </a:cubicBezTo>
                <a:cubicBezTo>
                  <a:pt x="504" y="0"/>
                  <a:pt x="510" y="1"/>
                  <a:pt x="512" y="3"/>
                </a:cubicBezTo>
                <a:cubicBezTo>
                  <a:pt x="514" y="6"/>
                  <a:pt x="515" y="12"/>
                  <a:pt x="515" y="24"/>
                </a:cubicBezTo>
                <a:lnTo>
                  <a:pt x="515" y="65"/>
                </a:lnTo>
                <a:lnTo>
                  <a:pt x="515" y="102"/>
                </a:lnTo>
                <a:cubicBezTo>
                  <a:pt x="515" y="115"/>
                  <a:pt x="514" y="122"/>
                  <a:pt x="512" y="124"/>
                </a:cubicBezTo>
                <a:cubicBezTo>
                  <a:pt x="510" y="126"/>
                  <a:pt x="504" y="128"/>
                  <a:pt x="495" y="129"/>
                </a:cubicBezTo>
                <a:cubicBezTo>
                  <a:pt x="401" y="129"/>
                  <a:pt x="312" y="148"/>
                  <a:pt x="231" y="187"/>
                </a:cubicBezTo>
                <a:cubicBezTo>
                  <a:pt x="149" y="226"/>
                  <a:pt x="90" y="279"/>
                  <a:pt x="52" y="346"/>
                </a:cubicBezTo>
                <a:cubicBezTo>
                  <a:pt x="50" y="350"/>
                  <a:pt x="47" y="353"/>
                  <a:pt x="45" y="354"/>
                </a:cubicBezTo>
                <a:cubicBezTo>
                  <a:pt x="43" y="354"/>
                  <a:pt x="36" y="355"/>
                  <a:pt x="25" y="355"/>
                </a:cubicBezTo>
                <a:lnTo>
                  <a:pt x="7" y="355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143" name="フリーフォーム 142"/>
          <p:cNvSpPr/>
          <p:nvPr/>
        </p:nvSpPr>
        <p:spPr>
          <a:xfrm>
            <a:off x="3604770" y="3088260"/>
            <a:ext cx="980370" cy="34830"/>
          </a:xfrm>
          <a:custGeom>
            <a:avLst/>
            <a:gdLst/>
            <a:ahLst/>
            <a:cxnLst/>
            <a:rect l="0" t="0" r="r" b="b"/>
            <a:pathLst>
              <a:path w="3631" h="129">
                <a:moveTo>
                  <a:pt x="0" y="0"/>
                </a:moveTo>
                <a:lnTo>
                  <a:pt x="3631" y="0"/>
                </a:lnTo>
                <a:lnTo>
                  <a:pt x="3631" y="129"/>
                </a:lnTo>
                <a:lnTo>
                  <a:pt x="0" y="12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144" name="フリーフォーム 143"/>
          <p:cNvSpPr/>
          <p:nvPr/>
        </p:nvSpPr>
        <p:spPr>
          <a:xfrm>
            <a:off x="4785210" y="3088260"/>
            <a:ext cx="980370" cy="34830"/>
          </a:xfrm>
          <a:custGeom>
            <a:avLst/>
            <a:gdLst/>
            <a:ahLst/>
            <a:cxnLst/>
            <a:rect l="0" t="0" r="r" b="b"/>
            <a:pathLst>
              <a:path w="3631" h="129">
                <a:moveTo>
                  <a:pt x="0" y="0"/>
                </a:moveTo>
                <a:lnTo>
                  <a:pt x="3631" y="0"/>
                </a:lnTo>
                <a:lnTo>
                  <a:pt x="3631" y="129"/>
                </a:lnTo>
                <a:lnTo>
                  <a:pt x="0" y="12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145" name="テキスト ボックス 144"/>
          <p:cNvSpPr txBox="1"/>
          <p:nvPr/>
        </p:nvSpPr>
        <p:spPr>
          <a:xfrm>
            <a:off x="2347650" y="3187080"/>
            <a:ext cx="543418" cy="21685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altLang="en-US" sz="1409">
                <a:solidFill>
                  <a:srgbClr val="455A64"/>
                </a:solidFill>
                <a:latin typeface="HiraMinProN-W3"/>
                <a:ea typeface="HiraMinProN-W3"/>
              </a:rPr>
              <a:t>慣性項</a:t>
            </a:r>
            <a:endParaRPr lang="en-US" sz="1409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146" name="フリーフォーム 145"/>
          <p:cNvSpPr/>
          <p:nvPr/>
        </p:nvSpPr>
        <p:spPr>
          <a:xfrm>
            <a:off x="5945130" y="2762370"/>
            <a:ext cx="191160" cy="190620"/>
          </a:xfrm>
          <a:custGeom>
            <a:avLst/>
            <a:gdLst/>
            <a:ahLst/>
            <a:cxnLst/>
            <a:rect l="0" t="0" r="r" b="b"/>
            <a:pathLst>
              <a:path w="708" h="706">
                <a:moveTo>
                  <a:pt x="0" y="368"/>
                </a:moveTo>
                <a:cubicBezTo>
                  <a:pt x="0" y="368"/>
                  <a:pt x="0" y="363"/>
                  <a:pt x="0" y="354"/>
                </a:cubicBezTo>
                <a:cubicBezTo>
                  <a:pt x="0" y="344"/>
                  <a:pt x="5" y="337"/>
                  <a:pt x="15" y="332"/>
                </a:cubicBezTo>
                <a:lnTo>
                  <a:pt x="333" y="332"/>
                </a:lnTo>
                <a:lnTo>
                  <a:pt x="333" y="173"/>
                </a:lnTo>
                <a:lnTo>
                  <a:pt x="334" y="14"/>
                </a:lnTo>
                <a:cubicBezTo>
                  <a:pt x="341" y="4"/>
                  <a:pt x="348" y="0"/>
                  <a:pt x="354" y="0"/>
                </a:cubicBezTo>
                <a:cubicBezTo>
                  <a:pt x="364" y="0"/>
                  <a:pt x="371" y="5"/>
                  <a:pt x="376" y="16"/>
                </a:cubicBezTo>
                <a:lnTo>
                  <a:pt x="376" y="332"/>
                </a:lnTo>
                <a:lnTo>
                  <a:pt x="692" y="332"/>
                </a:lnTo>
                <a:cubicBezTo>
                  <a:pt x="702" y="338"/>
                  <a:pt x="708" y="345"/>
                  <a:pt x="708" y="354"/>
                </a:cubicBezTo>
                <a:cubicBezTo>
                  <a:pt x="708" y="363"/>
                  <a:pt x="702" y="370"/>
                  <a:pt x="692" y="375"/>
                </a:cubicBezTo>
                <a:lnTo>
                  <a:pt x="376" y="375"/>
                </a:lnTo>
                <a:lnTo>
                  <a:pt x="376" y="692"/>
                </a:lnTo>
                <a:cubicBezTo>
                  <a:pt x="370" y="701"/>
                  <a:pt x="364" y="706"/>
                  <a:pt x="357" y="706"/>
                </a:cubicBezTo>
                <a:lnTo>
                  <a:pt x="354" y="706"/>
                </a:lnTo>
                <a:lnTo>
                  <a:pt x="352" y="706"/>
                </a:lnTo>
                <a:cubicBezTo>
                  <a:pt x="344" y="706"/>
                  <a:pt x="337" y="701"/>
                  <a:pt x="333" y="692"/>
                </a:cubicBezTo>
                <a:lnTo>
                  <a:pt x="333" y="375"/>
                </a:lnTo>
                <a:lnTo>
                  <a:pt x="15" y="375"/>
                </a:lnTo>
                <a:cubicBezTo>
                  <a:pt x="5" y="370"/>
                  <a:pt x="0" y="363"/>
                  <a:pt x="0" y="354"/>
                </a:cubicBezTo>
                <a:lnTo>
                  <a:pt x="0" y="368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147" name="フリーフォーム 146"/>
          <p:cNvSpPr/>
          <p:nvPr/>
        </p:nvSpPr>
        <p:spPr>
          <a:xfrm>
            <a:off x="6225390" y="2802600"/>
            <a:ext cx="113400" cy="130140"/>
          </a:xfrm>
          <a:custGeom>
            <a:avLst/>
            <a:gdLst/>
            <a:ahLst/>
            <a:cxnLst/>
            <a:rect l="0" t="0" r="r" b="b"/>
            <a:pathLst>
              <a:path w="420" h="482">
                <a:moveTo>
                  <a:pt x="0" y="302"/>
                </a:moveTo>
                <a:cubicBezTo>
                  <a:pt x="0" y="224"/>
                  <a:pt x="30" y="154"/>
                  <a:pt x="91" y="93"/>
                </a:cubicBezTo>
                <a:cubicBezTo>
                  <a:pt x="152" y="31"/>
                  <a:pt x="219" y="0"/>
                  <a:pt x="290" y="0"/>
                </a:cubicBezTo>
                <a:cubicBezTo>
                  <a:pt x="329" y="0"/>
                  <a:pt x="360" y="9"/>
                  <a:pt x="383" y="26"/>
                </a:cubicBezTo>
                <a:cubicBezTo>
                  <a:pt x="406" y="43"/>
                  <a:pt x="417" y="65"/>
                  <a:pt x="418" y="93"/>
                </a:cubicBezTo>
                <a:cubicBezTo>
                  <a:pt x="418" y="113"/>
                  <a:pt x="411" y="131"/>
                  <a:pt x="398" y="145"/>
                </a:cubicBezTo>
                <a:cubicBezTo>
                  <a:pt x="384" y="159"/>
                  <a:pt x="367" y="166"/>
                  <a:pt x="347" y="167"/>
                </a:cubicBezTo>
                <a:cubicBezTo>
                  <a:pt x="333" y="167"/>
                  <a:pt x="323" y="163"/>
                  <a:pt x="315" y="156"/>
                </a:cubicBezTo>
                <a:cubicBezTo>
                  <a:pt x="307" y="149"/>
                  <a:pt x="303" y="139"/>
                  <a:pt x="303" y="125"/>
                </a:cubicBezTo>
                <a:cubicBezTo>
                  <a:pt x="303" y="110"/>
                  <a:pt x="307" y="98"/>
                  <a:pt x="315" y="89"/>
                </a:cubicBezTo>
                <a:cubicBezTo>
                  <a:pt x="323" y="79"/>
                  <a:pt x="331" y="71"/>
                  <a:pt x="338" y="66"/>
                </a:cubicBezTo>
                <a:cubicBezTo>
                  <a:pt x="346" y="61"/>
                  <a:pt x="351" y="59"/>
                  <a:pt x="353" y="60"/>
                </a:cubicBezTo>
                <a:lnTo>
                  <a:pt x="354" y="60"/>
                </a:lnTo>
                <a:cubicBezTo>
                  <a:pt x="354" y="58"/>
                  <a:pt x="352" y="56"/>
                  <a:pt x="348" y="54"/>
                </a:cubicBezTo>
                <a:cubicBezTo>
                  <a:pt x="344" y="51"/>
                  <a:pt x="336" y="48"/>
                  <a:pt x="326" y="45"/>
                </a:cubicBezTo>
                <a:cubicBezTo>
                  <a:pt x="315" y="42"/>
                  <a:pt x="303" y="41"/>
                  <a:pt x="290" y="41"/>
                </a:cubicBezTo>
                <a:cubicBezTo>
                  <a:pt x="268" y="41"/>
                  <a:pt x="248" y="46"/>
                  <a:pt x="229" y="56"/>
                </a:cubicBezTo>
                <a:cubicBezTo>
                  <a:pt x="214" y="62"/>
                  <a:pt x="199" y="73"/>
                  <a:pt x="182" y="89"/>
                </a:cubicBezTo>
                <a:cubicBezTo>
                  <a:pt x="151" y="120"/>
                  <a:pt x="129" y="163"/>
                  <a:pt x="115" y="220"/>
                </a:cubicBezTo>
                <a:cubicBezTo>
                  <a:pt x="100" y="278"/>
                  <a:pt x="93" y="319"/>
                  <a:pt x="92" y="344"/>
                </a:cubicBezTo>
                <a:cubicBezTo>
                  <a:pt x="92" y="377"/>
                  <a:pt x="102" y="401"/>
                  <a:pt x="120" y="417"/>
                </a:cubicBezTo>
                <a:cubicBezTo>
                  <a:pt x="135" y="434"/>
                  <a:pt x="156" y="443"/>
                  <a:pt x="181" y="443"/>
                </a:cubicBezTo>
                <a:lnTo>
                  <a:pt x="186" y="443"/>
                </a:lnTo>
                <a:cubicBezTo>
                  <a:pt x="266" y="443"/>
                  <a:pt x="331" y="413"/>
                  <a:pt x="383" y="353"/>
                </a:cubicBezTo>
                <a:cubicBezTo>
                  <a:pt x="389" y="346"/>
                  <a:pt x="394" y="342"/>
                  <a:pt x="396" y="342"/>
                </a:cubicBezTo>
                <a:cubicBezTo>
                  <a:pt x="399" y="342"/>
                  <a:pt x="403" y="345"/>
                  <a:pt x="409" y="352"/>
                </a:cubicBezTo>
                <a:cubicBezTo>
                  <a:pt x="416" y="358"/>
                  <a:pt x="419" y="363"/>
                  <a:pt x="420" y="366"/>
                </a:cubicBezTo>
                <a:cubicBezTo>
                  <a:pt x="421" y="370"/>
                  <a:pt x="418" y="375"/>
                  <a:pt x="411" y="382"/>
                </a:cubicBezTo>
                <a:cubicBezTo>
                  <a:pt x="403" y="389"/>
                  <a:pt x="393" y="399"/>
                  <a:pt x="380" y="412"/>
                </a:cubicBezTo>
                <a:cubicBezTo>
                  <a:pt x="366" y="425"/>
                  <a:pt x="350" y="435"/>
                  <a:pt x="332" y="444"/>
                </a:cubicBezTo>
                <a:cubicBezTo>
                  <a:pt x="314" y="452"/>
                  <a:pt x="291" y="461"/>
                  <a:pt x="264" y="470"/>
                </a:cubicBezTo>
                <a:cubicBezTo>
                  <a:pt x="237" y="480"/>
                  <a:pt x="209" y="483"/>
                  <a:pt x="178" y="482"/>
                </a:cubicBezTo>
                <a:cubicBezTo>
                  <a:pt x="125" y="482"/>
                  <a:pt x="82" y="465"/>
                  <a:pt x="50" y="431"/>
                </a:cubicBezTo>
                <a:cubicBezTo>
                  <a:pt x="17" y="397"/>
                  <a:pt x="1" y="354"/>
                  <a:pt x="0" y="302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148" name="フリーフォーム 147"/>
          <p:cNvSpPr/>
          <p:nvPr/>
        </p:nvSpPr>
        <p:spPr>
          <a:xfrm>
            <a:off x="6359310" y="2837430"/>
            <a:ext cx="81000" cy="135270"/>
          </a:xfrm>
          <a:custGeom>
            <a:avLst/>
            <a:gdLst/>
            <a:ahLst/>
            <a:cxnLst/>
            <a:rect l="0" t="0" r="r" b="b"/>
            <a:pathLst>
              <a:path w="300" h="501">
                <a:moveTo>
                  <a:pt x="44" y="178"/>
                </a:moveTo>
                <a:cubicBezTo>
                  <a:pt x="31" y="178"/>
                  <a:pt x="20" y="173"/>
                  <a:pt x="12" y="164"/>
                </a:cubicBezTo>
                <a:cubicBezTo>
                  <a:pt x="4" y="155"/>
                  <a:pt x="0" y="144"/>
                  <a:pt x="0" y="131"/>
                </a:cubicBezTo>
                <a:cubicBezTo>
                  <a:pt x="0" y="96"/>
                  <a:pt x="13" y="65"/>
                  <a:pt x="40" y="39"/>
                </a:cubicBezTo>
                <a:cubicBezTo>
                  <a:pt x="66" y="13"/>
                  <a:pt x="99" y="0"/>
                  <a:pt x="139" y="0"/>
                </a:cubicBezTo>
                <a:cubicBezTo>
                  <a:pt x="184" y="0"/>
                  <a:pt x="223" y="14"/>
                  <a:pt x="254" y="42"/>
                </a:cubicBezTo>
                <a:cubicBezTo>
                  <a:pt x="284" y="70"/>
                  <a:pt x="300" y="106"/>
                  <a:pt x="300" y="151"/>
                </a:cubicBezTo>
                <a:cubicBezTo>
                  <a:pt x="300" y="172"/>
                  <a:pt x="295" y="193"/>
                  <a:pt x="285" y="212"/>
                </a:cubicBezTo>
                <a:cubicBezTo>
                  <a:pt x="275" y="232"/>
                  <a:pt x="263" y="249"/>
                  <a:pt x="249" y="263"/>
                </a:cubicBezTo>
                <a:cubicBezTo>
                  <a:pt x="235" y="278"/>
                  <a:pt x="214" y="296"/>
                  <a:pt x="188" y="319"/>
                </a:cubicBezTo>
                <a:cubicBezTo>
                  <a:pt x="170" y="334"/>
                  <a:pt x="145" y="357"/>
                  <a:pt x="113" y="388"/>
                </a:cubicBezTo>
                <a:lnTo>
                  <a:pt x="69" y="431"/>
                </a:lnTo>
                <a:lnTo>
                  <a:pt x="126" y="432"/>
                </a:lnTo>
                <a:cubicBezTo>
                  <a:pt x="204" y="432"/>
                  <a:pt x="247" y="430"/>
                  <a:pt x="252" y="428"/>
                </a:cubicBezTo>
                <a:cubicBezTo>
                  <a:pt x="256" y="427"/>
                  <a:pt x="262" y="405"/>
                  <a:pt x="270" y="360"/>
                </a:cubicBezTo>
                <a:lnTo>
                  <a:pt x="270" y="358"/>
                </a:lnTo>
                <a:lnTo>
                  <a:pt x="300" y="358"/>
                </a:lnTo>
                <a:lnTo>
                  <a:pt x="300" y="360"/>
                </a:lnTo>
                <a:cubicBezTo>
                  <a:pt x="300" y="362"/>
                  <a:pt x="296" y="384"/>
                  <a:pt x="290" y="429"/>
                </a:cubicBezTo>
                <a:cubicBezTo>
                  <a:pt x="284" y="473"/>
                  <a:pt x="281" y="496"/>
                  <a:pt x="279" y="498"/>
                </a:cubicBezTo>
                <a:lnTo>
                  <a:pt x="279" y="501"/>
                </a:lnTo>
                <a:lnTo>
                  <a:pt x="0" y="501"/>
                </a:lnTo>
                <a:lnTo>
                  <a:pt x="0" y="486"/>
                </a:lnTo>
                <a:lnTo>
                  <a:pt x="0" y="477"/>
                </a:lnTo>
                <a:cubicBezTo>
                  <a:pt x="0" y="474"/>
                  <a:pt x="1" y="470"/>
                  <a:pt x="4" y="466"/>
                </a:cubicBezTo>
                <a:cubicBezTo>
                  <a:pt x="7" y="462"/>
                  <a:pt x="15" y="453"/>
                  <a:pt x="27" y="440"/>
                </a:cubicBezTo>
                <a:cubicBezTo>
                  <a:pt x="41" y="424"/>
                  <a:pt x="54" y="410"/>
                  <a:pt x="64" y="397"/>
                </a:cubicBezTo>
                <a:cubicBezTo>
                  <a:pt x="69" y="392"/>
                  <a:pt x="77" y="383"/>
                  <a:pt x="90" y="369"/>
                </a:cubicBezTo>
                <a:cubicBezTo>
                  <a:pt x="102" y="356"/>
                  <a:pt x="111" y="346"/>
                  <a:pt x="115" y="341"/>
                </a:cubicBezTo>
                <a:cubicBezTo>
                  <a:pt x="120" y="336"/>
                  <a:pt x="127" y="328"/>
                  <a:pt x="137" y="317"/>
                </a:cubicBezTo>
                <a:cubicBezTo>
                  <a:pt x="147" y="305"/>
                  <a:pt x="154" y="297"/>
                  <a:pt x="158" y="291"/>
                </a:cubicBezTo>
                <a:cubicBezTo>
                  <a:pt x="162" y="286"/>
                  <a:pt x="168" y="278"/>
                  <a:pt x="175" y="269"/>
                </a:cubicBezTo>
                <a:cubicBezTo>
                  <a:pt x="183" y="259"/>
                  <a:pt x="188" y="251"/>
                  <a:pt x="191" y="245"/>
                </a:cubicBezTo>
                <a:cubicBezTo>
                  <a:pt x="194" y="238"/>
                  <a:pt x="198" y="231"/>
                  <a:pt x="202" y="223"/>
                </a:cubicBezTo>
                <a:cubicBezTo>
                  <a:pt x="207" y="215"/>
                  <a:pt x="210" y="207"/>
                  <a:pt x="212" y="199"/>
                </a:cubicBezTo>
                <a:cubicBezTo>
                  <a:pt x="214" y="191"/>
                  <a:pt x="216" y="183"/>
                  <a:pt x="217" y="176"/>
                </a:cubicBezTo>
                <a:cubicBezTo>
                  <a:pt x="220" y="169"/>
                  <a:pt x="221" y="161"/>
                  <a:pt x="221" y="152"/>
                </a:cubicBezTo>
                <a:cubicBezTo>
                  <a:pt x="221" y="120"/>
                  <a:pt x="211" y="93"/>
                  <a:pt x="194" y="70"/>
                </a:cubicBezTo>
                <a:cubicBezTo>
                  <a:pt x="177" y="47"/>
                  <a:pt x="153" y="35"/>
                  <a:pt x="121" y="35"/>
                </a:cubicBezTo>
                <a:cubicBezTo>
                  <a:pt x="105" y="35"/>
                  <a:pt x="90" y="39"/>
                  <a:pt x="78" y="48"/>
                </a:cubicBezTo>
                <a:cubicBezTo>
                  <a:pt x="65" y="56"/>
                  <a:pt x="57" y="65"/>
                  <a:pt x="52" y="73"/>
                </a:cubicBezTo>
                <a:cubicBezTo>
                  <a:pt x="47" y="81"/>
                  <a:pt x="44" y="85"/>
                  <a:pt x="44" y="87"/>
                </a:cubicBezTo>
                <a:cubicBezTo>
                  <a:pt x="44" y="87"/>
                  <a:pt x="45" y="88"/>
                  <a:pt x="48" y="88"/>
                </a:cubicBezTo>
                <a:cubicBezTo>
                  <a:pt x="57" y="88"/>
                  <a:pt x="66" y="91"/>
                  <a:pt x="76" y="98"/>
                </a:cubicBezTo>
                <a:cubicBezTo>
                  <a:pt x="85" y="105"/>
                  <a:pt x="90" y="117"/>
                  <a:pt x="90" y="133"/>
                </a:cubicBezTo>
                <a:cubicBezTo>
                  <a:pt x="90" y="145"/>
                  <a:pt x="86" y="156"/>
                  <a:pt x="78" y="164"/>
                </a:cubicBezTo>
                <a:cubicBezTo>
                  <a:pt x="70" y="173"/>
                  <a:pt x="59" y="177"/>
                  <a:pt x="44" y="178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149" name="フリーフォーム 148"/>
          <p:cNvSpPr/>
          <p:nvPr/>
        </p:nvSpPr>
        <p:spPr>
          <a:xfrm>
            <a:off x="6550740" y="2840670"/>
            <a:ext cx="34830" cy="34560"/>
          </a:xfrm>
          <a:custGeom>
            <a:avLst/>
            <a:gdLst/>
            <a:ahLst/>
            <a:cxnLst/>
            <a:rect l="0" t="0" r="r" b="b"/>
            <a:pathLst>
              <a:path w="129" h="128">
                <a:moveTo>
                  <a:pt x="0" y="63"/>
                </a:moveTo>
                <a:cubicBezTo>
                  <a:pt x="0" y="46"/>
                  <a:pt x="6" y="31"/>
                  <a:pt x="18" y="19"/>
                </a:cubicBezTo>
                <a:cubicBezTo>
                  <a:pt x="30" y="6"/>
                  <a:pt x="45" y="0"/>
                  <a:pt x="64" y="0"/>
                </a:cubicBezTo>
                <a:cubicBezTo>
                  <a:pt x="81" y="0"/>
                  <a:pt x="96" y="5"/>
                  <a:pt x="108" y="16"/>
                </a:cubicBezTo>
                <a:cubicBezTo>
                  <a:pt x="121" y="28"/>
                  <a:pt x="129" y="43"/>
                  <a:pt x="129" y="62"/>
                </a:cubicBezTo>
                <a:cubicBezTo>
                  <a:pt x="129" y="80"/>
                  <a:pt x="123" y="96"/>
                  <a:pt x="110" y="109"/>
                </a:cubicBezTo>
                <a:cubicBezTo>
                  <a:pt x="98" y="121"/>
                  <a:pt x="83" y="128"/>
                  <a:pt x="65" y="128"/>
                </a:cubicBezTo>
                <a:cubicBezTo>
                  <a:pt x="46" y="128"/>
                  <a:pt x="31" y="122"/>
                  <a:pt x="19" y="110"/>
                </a:cubicBezTo>
                <a:cubicBezTo>
                  <a:pt x="7" y="98"/>
                  <a:pt x="1" y="82"/>
                  <a:pt x="0" y="63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150" name="フリーフォーム 149"/>
          <p:cNvSpPr/>
          <p:nvPr/>
        </p:nvSpPr>
        <p:spPr>
          <a:xfrm>
            <a:off x="6677640" y="2802600"/>
            <a:ext cx="117450" cy="130140"/>
          </a:xfrm>
          <a:custGeom>
            <a:avLst/>
            <a:gdLst/>
            <a:ahLst/>
            <a:cxnLst/>
            <a:rect l="0" t="0" r="r" b="b"/>
            <a:pathLst>
              <a:path w="435" h="482">
                <a:moveTo>
                  <a:pt x="0" y="165"/>
                </a:moveTo>
                <a:cubicBezTo>
                  <a:pt x="1" y="163"/>
                  <a:pt x="2" y="160"/>
                  <a:pt x="2" y="156"/>
                </a:cubicBezTo>
                <a:cubicBezTo>
                  <a:pt x="3" y="153"/>
                  <a:pt x="5" y="145"/>
                  <a:pt x="8" y="133"/>
                </a:cubicBezTo>
                <a:cubicBezTo>
                  <a:pt x="11" y="121"/>
                  <a:pt x="14" y="110"/>
                  <a:pt x="18" y="100"/>
                </a:cubicBezTo>
                <a:cubicBezTo>
                  <a:pt x="23" y="90"/>
                  <a:pt x="28" y="79"/>
                  <a:pt x="34" y="65"/>
                </a:cubicBezTo>
                <a:cubicBezTo>
                  <a:pt x="41" y="52"/>
                  <a:pt x="48" y="41"/>
                  <a:pt x="55" y="33"/>
                </a:cubicBezTo>
                <a:cubicBezTo>
                  <a:pt x="63" y="26"/>
                  <a:pt x="72" y="18"/>
                  <a:pt x="83" y="10"/>
                </a:cubicBezTo>
                <a:cubicBezTo>
                  <a:pt x="94" y="2"/>
                  <a:pt x="105" y="-1"/>
                  <a:pt x="118" y="0"/>
                </a:cubicBezTo>
                <a:cubicBezTo>
                  <a:pt x="139" y="0"/>
                  <a:pt x="157" y="5"/>
                  <a:pt x="173" y="13"/>
                </a:cubicBezTo>
                <a:cubicBezTo>
                  <a:pt x="189" y="22"/>
                  <a:pt x="200" y="29"/>
                  <a:pt x="206" y="37"/>
                </a:cubicBezTo>
                <a:cubicBezTo>
                  <a:pt x="212" y="44"/>
                  <a:pt x="216" y="51"/>
                  <a:pt x="218" y="58"/>
                </a:cubicBezTo>
                <a:cubicBezTo>
                  <a:pt x="219" y="62"/>
                  <a:pt x="220" y="64"/>
                  <a:pt x="221" y="64"/>
                </a:cubicBezTo>
                <a:cubicBezTo>
                  <a:pt x="222" y="64"/>
                  <a:pt x="224" y="62"/>
                  <a:pt x="229" y="57"/>
                </a:cubicBezTo>
                <a:cubicBezTo>
                  <a:pt x="263" y="20"/>
                  <a:pt x="303" y="2"/>
                  <a:pt x="347" y="2"/>
                </a:cubicBezTo>
                <a:lnTo>
                  <a:pt x="350" y="2"/>
                </a:lnTo>
                <a:cubicBezTo>
                  <a:pt x="384" y="2"/>
                  <a:pt x="410" y="16"/>
                  <a:pt x="427" y="45"/>
                </a:cubicBezTo>
                <a:cubicBezTo>
                  <a:pt x="432" y="58"/>
                  <a:pt x="435" y="72"/>
                  <a:pt x="435" y="84"/>
                </a:cubicBezTo>
                <a:cubicBezTo>
                  <a:pt x="435" y="105"/>
                  <a:pt x="431" y="122"/>
                  <a:pt x="421" y="135"/>
                </a:cubicBezTo>
                <a:cubicBezTo>
                  <a:pt x="412" y="148"/>
                  <a:pt x="403" y="156"/>
                  <a:pt x="394" y="160"/>
                </a:cubicBezTo>
                <a:cubicBezTo>
                  <a:pt x="385" y="163"/>
                  <a:pt x="376" y="165"/>
                  <a:pt x="367" y="164"/>
                </a:cubicBezTo>
                <a:cubicBezTo>
                  <a:pt x="353" y="164"/>
                  <a:pt x="342" y="160"/>
                  <a:pt x="333" y="152"/>
                </a:cubicBezTo>
                <a:cubicBezTo>
                  <a:pt x="325" y="144"/>
                  <a:pt x="321" y="134"/>
                  <a:pt x="321" y="121"/>
                </a:cubicBezTo>
                <a:cubicBezTo>
                  <a:pt x="321" y="87"/>
                  <a:pt x="340" y="65"/>
                  <a:pt x="380" y="54"/>
                </a:cubicBezTo>
                <a:cubicBezTo>
                  <a:pt x="365" y="44"/>
                  <a:pt x="352" y="40"/>
                  <a:pt x="342" y="40"/>
                </a:cubicBezTo>
                <a:cubicBezTo>
                  <a:pt x="302" y="40"/>
                  <a:pt x="266" y="66"/>
                  <a:pt x="233" y="118"/>
                </a:cubicBezTo>
                <a:cubicBezTo>
                  <a:pt x="226" y="130"/>
                  <a:pt x="220" y="141"/>
                  <a:pt x="217" y="153"/>
                </a:cubicBezTo>
                <a:cubicBezTo>
                  <a:pt x="213" y="165"/>
                  <a:pt x="201" y="212"/>
                  <a:pt x="181" y="295"/>
                </a:cubicBezTo>
                <a:cubicBezTo>
                  <a:pt x="156" y="394"/>
                  <a:pt x="142" y="447"/>
                  <a:pt x="138" y="453"/>
                </a:cubicBezTo>
                <a:cubicBezTo>
                  <a:pt x="129" y="473"/>
                  <a:pt x="114" y="482"/>
                  <a:pt x="93" y="482"/>
                </a:cubicBezTo>
                <a:cubicBezTo>
                  <a:pt x="83" y="482"/>
                  <a:pt x="76" y="480"/>
                  <a:pt x="70" y="476"/>
                </a:cubicBezTo>
                <a:cubicBezTo>
                  <a:pt x="65" y="471"/>
                  <a:pt x="61" y="467"/>
                  <a:pt x="59" y="463"/>
                </a:cubicBezTo>
                <a:cubicBezTo>
                  <a:pt x="57" y="459"/>
                  <a:pt x="56" y="455"/>
                  <a:pt x="57" y="452"/>
                </a:cubicBezTo>
                <a:cubicBezTo>
                  <a:pt x="57" y="443"/>
                  <a:pt x="71" y="382"/>
                  <a:pt x="99" y="270"/>
                </a:cubicBezTo>
                <a:cubicBezTo>
                  <a:pt x="127" y="156"/>
                  <a:pt x="141" y="94"/>
                  <a:pt x="141" y="81"/>
                </a:cubicBezTo>
                <a:cubicBezTo>
                  <a:pt x="141" y="54"/>
                  <a:pt x="132" y="40"/>
                  <a:pt x="114" y="40"/>
                </a:cubicBezTo>
                <a:cubicBezTo>
                  <a:pt x="99" y="40"/>
                  <a:pt x="86" y="50"/>
                  <a:pt x="76" y="69"/>
                </a:cubicBezTo>
                <a:cubicBezTo>
                  <a:pt x="65" y="89"/>
                  <a:pt x="57" y="111"/>
                  <a:pt x="50" y="134"/>
                </a:cubicBezTo>
                <a:cubicBezTo>
                  <a:pt x="44" y="157"/>
                  <a:pt x="40" y="170"/>
                  <a:pt x="39" y="172"/>
                </a:cubicBezTo>
                <a:cubicBezTo>
                  <a:pt x="37" y="174"/>
                  <a:pt x="31" y="174"/>
                  <a:pt x="22" y="174"/>
                </a:cubicBezTo>
                <a:lnTo>
                  <a:pt x="7" y="174"/>
                </a:lnTo>
                <a:cubicBezTo>
                  <a:pt x="2" y="170"/>
                  <a:pt x="0" y="167"/>
                  <a:pt x="0" y="165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151" name="フリーフォーム 150"/>
          <p:cNvSpPr/>
          <p:nvPr/>
        </p:nvSpPr>
        <p:spPr>
          <a:xfrm>
            <a:off x="6820470" y="2837430"/>
            <a:ext cx="81000" cy="135270"/>
          </a:xfrm>
          <a:custGeom>
            <a:avLst/>
            <a:gdLst/>
            <a:ahLst/>
            <a:cxnLst/>
            <a:rect l="0" t="0" r="r" b="b"/>
            <a:pathLst>
              <a:path w="300" h="501">
                <a:moveTo>
                  <a:pt x="45" y="178"/>
                </a:moveTo>
                <a:cubicBezTo>
                  <a:pt x="32" y="178"/>
                  <a:pt x="21" y="173"/>
                  <a:pt x="13" y="164"/>
                </a:cubicBezTo>
                <a:cubicBezTo>
                  <a:pt x="4" y="155"/>
                  <a:pt x="0" y="144"/>
                  <a:pt x="0" y="131"/>
                </a:cubicBezTo>
                <a:cubicBezTo>
                  <a:pt x="0" y="96"/>
                  <a:pt x="14" y="65"/>
                  <a:pt x="41" y="39"/>
                </a:cubicBezTo>
                <a:cubicBezTo>
                  <a:pt x="67" y="13"/>
                  <a:pt x="100" y="0"/>
                  <a:pt x="140" y="0"/>
                </a:cubicBezTo>
                <a:cubicBezTo>
                  <a:pt x="185" y="0"/>
                  <a:pt x="223" y="14"/>
                  <a:pt x="254" y="42"/>
                </a:cubicBezTo>
                <a:cubicBezTo>
                  <a:pt x="284" y="70"/>
                  <a:pt x="300" y="106"/>
                  <a:pt x="300" y="151"/>
                </a:cubicBezTo>
                <a:cubicBezTo>
                  <a:pt x="300" y="172"/>
                  <a:pt x="295" y="193"/>
                  <a:pt x="285" y="212"/>
                </a:cubicBezTo>
                <a:cubicBezTo>
                  <a:pt x="275" y="232"/>
                  <a:pt x="263" y="249"/>
                  <a:pt x="249" y="263"/>
                </a:cubicBezTo>
                <a:cubicBezTo>
                  <a:pt x="235" y="278"/>
                  <a:pt x="215" y="296"/>
                  <a:pt x="189" y="319"/>
                </a:cubicBezTo>
                <a:cubicBezTo>
                  <a:pt x="171" y="334"/>
                  <a:pt x="146" y="357"/>
                  <a:pt x="114" y="388"/>
                </a:cubicBezTo>
                <a:lnTo>
                  <a:pt x="70" y="431"/>
                </a:lnTo>
                <a:lnTo>
                  <a:pt x="127" y="432"/>
                </a:lnTo>
                <a:cubicBezTo>
                  <a:pt x="206" y="432"/>
                  <a:pt x="247" y="430"/>
                  <a:pt x="252" y="428"/>
                </a:cubicBezTo>
                <a:cubicBezTo>
                  <a:pt x="256" y="427"/>
                  <a:pt x="262" y="405"/>
                  <a:pt x="270" y="360"/>
                </a:cubicBezTo>
                <a:lnTo>
                  <a:pt x="270" y="358"/>
                </a:lnTo>
                <a:lnTo>
                  <a:pt x="300" y="358"/>
                </a:lnTo>
                <a:lnTo>
                  <a:pt x="300" y="360"/>
                </a:lnTo>
                <a:cubicBezTo>
                  <a:pt x="300" y="362"/>
                  <a:pt x="297" y="384"/>
                  <a:pt x="291" y="429"/>
                </a:cubicBezTo>
                <a:cubicBezTo>
                  <a:pt x="285" y="473"/>
                  <a:pt x="281" y="496"/>
                  <a:pt x="279" y="498"/>
                </a:cubicBezTo>
                <a:lnTo>
                  <a:pt x="279" y="501"/>
                </a:lnTo>
                <a:lnTo>
                  <a:pt x="0" y="501"/>
                </a:lnTo>
                <a:lnTo>
                  <a:pt x="0" y="486"/>
                </a:lnTo>
                <a:lnTo>
                  <a:pt x="0" y="477"/>
                </a:lnTo>
                <a:cubicBezTo>
                  <a:pt x="0" y="474"/>
                  <a:pt x="2" y="470"/>
                  <a:pt x="6" y="466"/>
                </a:cubicBezTo>
                <a:cubicBezTo>
                  <a:pt x="9" y="462"/>
                  <a:pt x="16" y="453"/>
                  <a:pt x="28" y="440"/>
                </a:cubicBezTo>
                <a:cubicBezTo>
                  <a:pt x="43" y="424"/>
                  <a:pt x="55" y="410"/>
                  <a:pt x="66" y="397"/>
                </a:cubicBezTo>
                <a:cubicBezTo>
                  <a:pt x="70" y="392"/>
                  <a:pt x="79" y="383"/>
                  <a:pt x="91" y="369"/>
                </a:cubicBezTo>
                <a:cubicBezTo>
                  <a:pt x="104" y="356"/>
                  <a:pt x="112" y="346"/>
                  <a:pt x="117" y="341"/>
                </a:cubicBezTo>
                <a:cubicBezTo>
                  <a:pt x="121" y="336"/>
                  <a:pt x="128" y="328"/>
                  <a:pt x="138" y="317"/>
                </a:cubicBezTo>
                <a:cubicBezTo>
                  <a:pt x="148" y="305"/>
                  <a:pt x="155" y="297"/>
                  <a:pt x="159" y="291"/>
                </a:cubicBezTo>
                <a:cubicBezTo>
                  <a:pt x="163" y="286"/>
                  <a:pt x="169" y="278"/>
                  <a:pt x="177" y="269"/>
                </a:cubicBezTo>
                <a:cubicBezTo>
                  <a:pt x="184" y="259"/>
                  <a:pt x="189" y="251"/>
                  <a:pt x="192" y="245"/>
                </a:cubicBezTo>
                <a:cubicBezTo>
                  <a:pt x="195" y="238"/>
                  <a:pt x="199" y="231"/>
                  <a:pt x="204" y="223"/>
                </a:cubicBezTo>
                <a:cubicBezTo>
                  <a:pt x="208" y="215"/>
                  <a:pt x="211" y="207"/>
                  <a:pt x="213" y="199"/>
                </a:cubicBezTo>
                <a:cubicBezTo>
                  <a:pt x="215" y="191"/>
                  <a:pt x="217" y="183"/>
                  <a:pt x="219" y="176"/>
                </a:cubicBezTo>
                <a:cubicBezTo>
                  <a:pt x="220" y="169"/>
                  <a:pt x="221" y="161"/>
                  <a:pt x="221" y="152"/>
                </a:cubicBezTo>
                <a:cubicBezTo>
                  <a:pt x="221" y="120"/>
                  <a:pt x="212" y="93"/>
                  <a:pt x="195" y="70"/>
                </a:cubicBezTo>
                <a:cubicBezTo>
                  <a:pt x="178" y="47"/>
                  <a:pt x="154" y="35"/>
                  <a:pt x="123" y="35"/>
                </a:cubicBezTo>
                <a:cubicBezTo>
                  <a:pt x="106" y="35"/>
                  <a:pt x="92" y="39"/>
                  <a:pt x="79" y="48"/>
                </a:cubicBezTo>
                <a:cubicBezTo>
                  <a:pt x="67" y="56"/>
                  <a:pt x="58" y="65"/>
                  <a:pt x="53" y="73"/>
                </a:cubicBezTo>
                <a:cubicBezTo>
                  <a:pt x="48" y="81"/>
                  <a:pt x="45" y="85"/>
                  <a:pt x="45" y="87"/>
                </a:cubicBezTo>
                <a:cubicBezTo>
                  <a:pt x="45" y="87"/>
                  <a:pt x="47" y="88"/>
                  <a:pt x="49" y="88"/>
                </a:cubicBezTo>
                <a:cubicBezTo>
                  <a:pt x="58" y="88"/>
                  <a:pt x="67" y="91"/>
                  <a:pt x="77" y="98"/>
                </a:cubicBezTo>
                <a:cubicBezTo>
                  <a:pt x="86" y="105"/>
                  <a:pt x="91" y="117"/>
                  <a:pt x="91" y="133"/>
                </a:cubicBezTo>
                <a:cubicBezTo>
                  <a:pt x="91" y="145"/>
                  <a:pt x="87" y="156"/>
                  <a:pt x="79" y="164"/>
                </a:cubicBezTo>
                <a:cubicBezTo>
                  <a:pt x="71" y="173"/>
                  <a:pt x="60" y="177"/>
                  <a:pt x="45" y="178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152" name="フリーフォーム 151"/>
          <p:cNvSpPr/>
          <p:nvPr/>
        </p:nvSpPr>
        <p:spPr>
          <a:xfrm>
            <a:off x="7011900" y="2840670"/>
            <a:ext cx="35100" cy="34560"/>
          </a:xfrm>
          <a:custGeom>
            <a:avLst/>
            <a:gdLst/>
            <a:ahLst/>
            <a:cxnLst/>
            <a:rect l="0" t="0" r="r" b="b"/>
            <a:pathLst>
              <a:path w="130" h="128">
                <a:moveTo>
                  <a:pt x="0" y="63"/>
                </a:moveTo>
                <a:cubicBezTo>
                  <a:pt x="0" y="46"/>
                  <a:pt x="6" y="31"/>
                  <a:pt x="18" y="19"/>
                </a:cubicBezTo>
                <a:cubicBezTo>
                  <a:pt x="30" y="6"/>
                  <a:pt x="46" y="0"/>
                  <a:pt x="64" y="0"/>
                </a:cubicBezTo>
                <a:cubicBezTo>
                  <a:pt x="82" y="0"/>
                  <a:pt x="97" y="5"/>
                  <a:pt x="110" y="16"/>
                </a:cubicBezTo>
                <a:cubicBezTo>
                  <a:pt x="122" y="28"/>
                  <a:pt x="129" y="43"/>
                  <a:pt x="130" y="62"/>
                </a:cubicBezTo>
                <a:cubicBezTo>
                  <a:pt x="130" y="80"/>
                  <a:pt x="124" y="96"/>
                  <a:pt x="112" y="109"/>
                </a:cubicBezTo>
                <a:cubicBezTo>
                  <a:pt x="100" y="121"/>
                  <a:pt x="84" y="128"/>
                  <a:pt x="65" y="128"/>
                </a:cubicBezTo>
                <a:cubicBezTo>
                  <a:pt x="47" y="128"/>
                  <a:pt x="31" y="122"/>
                  <a:pt x="19" y="110"/>
                </a:cubicBezTo>
                <a:cubicBezTo>
                  <a:pt x="7" y="98"/>
                  <a:pt x="1" y="82"/>
                  <a:pt x="0" y="63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153" name="フリーフォーム 152"/>
          <p:cNvSpPr/>
          <p:nvPr/>
        </p:nvSpPr>
        <p:spPr>
          <a:xfrm>
            <a:off x="7159860" y="2714580"/>
            <a:ext cx="68850" cy="286740"/>
          </a:xfrm>
          <a:custGeom>
            <a:avLst/>
            <a:gdLst/>
            <a:ahLst/>
            <a:cxnLst/>
            <a:rect l="0" t="0" r="r" b="b"/>
            <a:pathLst>
              <a:path w="255" h="1062">
                <a:moveTo>
                  <a:pt x="0" y="531"/>
                </a:moveTo>
                <a:cubicBezTo>
                  <a:pt x="0" y="482"/>
                  <a:pt x="3" y="436"/>
                  <a:pt x="11" y="392"/>
                </a:cubicBezTo>
                <a:cubicBezTo>
                  <a:pt x="18" y="348"/>
                  <a:pt x="26" y="310"/>
                  <a:pt x="35" y="279"/>
                </a:cubicBezTo>
                <a:cubicBezTo>
                  <a:pt x="44" y="247"/>
                  <a:pt x="57" y="216"/>
                  <a:pt x="74" y="185"/>
                </a:cubicBezTo>
                <a:cubicBezTo>
                  <a:pt x="91" y="155"/>
                  <a:pt x="105" y="131"/>
                  <a:pt x="115" y="114"/>
                </a:cubicBezTo>
                <a:cubicBezTo>
                  <a:pt x="124" y="97"/>
                  <a:pt x="139" y="79"/>
                  <a:pt x="159" y="59"/>
                </a:cubicBezTo>
                <a:cubicBezTo>
                  <a:pt x="180" y="39"/>
                  <a:pt x="192" y="27"/>
                  <a:pt x="195" y="23"/>
                </a:cubicBezTo>
                <a:cubicBezTo>
                  <a:pt x="199" y="19"/>
                  <a:pt x="208" y="10"/>
                  <a:pt x="222" y="0"/>
                </a:cubicBezTo>
                <a:lnTo>
                  <a:pt x="235" y="0"/>
                </a:lnTo>
                <a:lnTo>
                  <a:pt x="240" y="0"/>
                </a:lnTo>
                <a:cubicBezTo>
                  <a:pt x="250" y="0"/>
                  <a:pt x="255" y="3"/>
                  <a:pt x="255" y="9"/>
                </a:cubicBezTo>
                <a:cubicBezTo>
                  <a:pt x="255" y="12"/>
                  <a:pt x="249" y="20"/>
                  <a:pt x="237" y="32"/>
                </a:cubicBezTo>
                <a:cubicBezTo>
                  <a:pt x="224" y="45"/>
                  <a:pt x="210" y="64"/>
                  <a:pt x="193" y="89"/>
                </a:cubicBezTo>
                <a:cubicBezTo>
                  <a:pt x="176" y="113"/>
                  <a:pt x="158" y="144"/>
                  <a:pt x="140" y="180"/>
                </a:cubicBezTo>
                <a:cubicBezTo>
                  <a:pt x="122" y="216"/>
                  <a:pt x="107" y="265"/>
                  <a:pt x="95" y="326"/>
                </a:cubicBezTo>
                <a:cubicBezTo>
                  <a:pt x="83" y="388"/>
                  <a:pt x="77" y="456"/>
                  <a:pt x="77" y="531"/>
                </a:cubicBezTo>
                <a:cubicBezTo>
                  <a:pt x="77" y="606"/>
                  <a:pt x="83" y="674"/>
                  <a:pt x="95" y="735"/>
                </a:cubicBezTo>
                <a:cubicBezTo>
                  <a:pt x="107" y="796"/>
                  <a:pt x="122" y="845"/>
                  <a:pt x="139" y="882"/>
                </a:cubicBezTo>
                <a:cubicBezTo>
                  <a:pt x="156" y="920"/>
                  <a:pt x="173" y="950"/>
                  <a:pt x="192" y="974"/>
                </a:cubicBezTo>
                <a:cubicBezTo>
                  <a:pt x="210" y="997"/>
                  <a:pt x="224" y="1016"/>
                  <a:pt x="237" y="1030"/>
                </a:cubicBezTo>
                <a:cubicBezTo>
                  <a:pt x="249" y="1044"/>
                  <a:pt x="255" y="1051"/>
                  <a:pt x="255" y="1052"/>
                </a:cubicBezTo>
                <a:cubicBezTo>
                  <a:pt x="255" y="1058"/>
                  <a:pt x="249" y="1062"/>
                  <a:pt x="239" y="1062"/>
                </a:cubicBezTo>
                <a:lnTo>
                  <a:pt x="235" y="1062"/>
                </a:lnTo>
                <a:lnTo>
                  <a:pt x="222" y="1062"/>
                </a:lnTo>
                <a:lnTo>
                  <a:pt x="192" y="1036"/>
                </a:lnTo>
                <a:cubicBezTo>
                  <a:pt x="124" y="976"/>
                  <a:pt x="76" y="901"/>
                  <a:pt x="46" y="811"/>
                </a:cubicBezTo>
                <a:cubicBezTo>
                  <a:pt x="15" y="721"/>
                  <a:pt x="0" y="628"/>
                  <a:pt x="0" y="531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154" name="フリーフォーム 153"/>
          <p:cNvSpPr/>
          <p:nvPr/>
        </p:nvSpPr>
        <p:spPr>
          <a:xfrm>
            <a:off x="7253010" y="2799090"/>
            <a:ext cx="151470" cy="188190"/>
          </a:xfrm>
          <a:custGeom>
            <a:avLst/>
            <a:gdLst/>
            <a:ahLst/>
            <a:cxnLst/>
            <a:rect l="0" t="0" r="r" b="b"/>
            <a:pathLst>
              <a:path w="561" h="697">
                <a:moveTo>
                  <a:pt x="21" y="165"/>
                </a:moveTo>
                <a:cubicBezTo>
                  <a:pt x="21" y="117"/>
                  <a:pt x="40" y="77"/>
                  <a:pt x="79" y="48"/>
                </a:cubicBezTo>
                <a:cubicBezTo>
                  <a:pt x="118" y="19"/>
                  <a:pt x="171" y="5"/>
                  <a:pt x="239" y="5"/>
                </a:cubicBezTo>
                <a:cubicBezTo>
                  <a:pt x="290" y="5"/>
                  <a:pt x="334" y="13"/>
                  <a:pt x="368" y="30"/>
                </a:cubicBezTo>
                <a:lnTo>
                  <a:pt x="381" y="37"/>
                </a:lnTo>
                <a:cubicBezTo>
                  <a:pt x="414" y="12"/>
                  <a:pt x="450" y="0"/>
                  <a:pt x="488" y="0"/>
                </a:cubicBezTo>
                <a:cubicBezTo>
                  <a:pt x="508" y="0"/>
                  <a:pt x="523" y="5"/>
                  <a:pt x="534" y="15"/>
                </a:cubicBezTo>
                <a:cubicBezTo>
                  <a:pt x="546" y="24"/>
                  <a:pt x="553" y="34"/>
                  <a:pt x="557" y="43"/>
                </a:cubicBezTo>
                <a:cubicBezTo>
                  <a:pt x="560" y="52"/>
                  <a:pt x="562" y="61"/>
                  <a:pt x="561" y="70"/>
                </a:cubicBezTo>
                <a:cubicBezTo>
                  <a:pt x="561" y="85"/>
                  <a:pt x="556" y="98"/>
                  <a:pt x="546" y="108"/>
                </a:cubicBezTo>
                <a:cubicBezTo>
                  <a:pt x="536" y="119"/>
                  <a:pt x="524" y="124"/>
                  <a:pt x="508" y="124"/>
                </a:cubicBezTo>
                <a:cubicBezTo>
                  <a:pt x="491" y="124"/>
                  <a:pt x="478" y="118"/>
                  <a:pt x="469" y="107"/>
                </a:cubicBezTo>
                <a:cubicBezTo>
                  <a:pt x="459" y="96"/>
                  <a:pt x="455" y="85"/>
                  <a:pt x="455" y="72"/>
                </a:cubicBezTo>
                <a:cubicBezTo>
                  <a:pt x="455" y="65"/>
                  <a:pt x="456" y="60"/>
                  <a:pt x="459" y="58"/>
                </a:cubicBezTo>
                <a:cubicBezTo>
                  <a:pt x="461" y="57"/>
                  <a:pt x="460" y="57"/>
                  <a:pt x="458" y="58"/>
                </a:cubicBezTo>
                <a:cubicBezTo>
                  <a:pt x="457" y="58"/>
                  <a:pt x="454" y="58"/>
                  <a:pt x="451" y="59"/>
                </a:cubicBezTo>
                <a:cubicBezTo>
                  <a:pt x="433" y="64"/>
                  <a:pt x="423" y="67"/>
                  <a:pt x="422" y="69"/>
                </a:cubicBezTo>
                <a:cubicBezTo>
                  <a:pt x="441" y="95"/>
                  <a:pt x="452" y="118"/>
                  <a:pt x="456" y="135"/>
                </a:cubicBezTo>
                <a:cubicBezTo>
                  <a:pt x="457" y="145"/>
                  <a:pt x="458" y="155"/>
                  <a:pt x="458" y="165"/>
                </a:cubicBezTo>
                <a:cubicBezTo>
                  <a:pt x="458" y="208"/>
                  <a:pt x="443" y="242"/>
                  <a:pt x="414" y="269"/>
                </a:cubicBezTo>
                <a:cubicBezTo>
                  <a:pt x="375" y="307"/>
                  <a:pt x="314" y="325"/>
                  <a:pt x="231" y="325"/>
                </a:cubicBezTo>
                <a:cubicBezTo>
                  <a:pt x="187" y="325"/>
                  <a:pt x="147" y="317"/>
                  <a:pt x="112" y="301"/>
                </a:cubicBezTo>
                <a:cubicBezTo>
                  <a:pt x="107" y="311"/>
                  <a:pt x="105" y="319"/>
                  <a:pt x="105" y="326"/>
                </a:cubicBezTo>
                <a:cubicBezTo>
                  <a:pt x="105" y="357"/>
                  <a:pt x="119" y="376"/>
                  <a:pt x="148" y="385"/>
                </a:cubicBezTo>
                <a:cubicBezTo>
                  <a:pt x="153" y="386"/>
                  <a:pt x="185" y="387"/>
                  <a:pt x="247" y="387"/>
                </a:cubicBezTo>
                <a:cubicBezTo>
                  <a:pt x="254" y="387"/>
                  <a:pt x="266" y="387"/>
                  <a:pt x="284" y="387"/>
                </a:cubicBezTo>
                <a:cubicBezTo>
                  <a:pt x="303" y="387"/>
                  <a:pt x="316" y="387"/>
                  <a:pt x="323" y="387"/>
                </a:cubicBezTo>
                <a:cubicBezTo>
                  <a:pt x="331" y="387"/>
                  <a:pt x="342" y="388"/>
                  <a:pt x="357" y="389"/>
                </a:cubicBezTo>
                <a:cubicBezTo>
                  <a:pt x="372" y="390"/>
                  <a:pt x="384" y="392"/>
                  <a:pt x="393" y="393"/>
                </a:cubicBezTo>
                <a:cubicBezTo>
                  <a:pt x="403" y="395"/>
                  <a:pt x="414" y="397"/>
                  <a:pt x="427" y="402"/>
                </a:cubicBezTo>
                <a:cubicBezTo>
                  <a:pt x="441" y="406"/>
                  <a:pt x="453" y="411"/>
                  <a:pt x="463" y="416"/>
                </a:cubicBezTo>
                <a:cubicBezTo>
                  <a:pt x="519" y="445"/>
                  <a:pt x="546" y="492"/>
                  <a:pt x="546" y="557"/>
                </a:cubicBezTo>
                <a:cubicBezTo>
                  <a:pt x="546" y="588"/>
                  <a:pt x="533" y="615"/>
                  <a:pt x="506" y="637"/>
                </a:cubicBezTo>
                <a:cubicBezTo>
                  <a:pt x="458" y="677"/>
                  <a:pt x="380" y="697"/>
                  <a:pt x="272" y="697"/>
                </a:cubicBezTo>
                <a:cubicBezTo>
                  <a:pt x="175" y="697"/>
                  <a:pt x="105" y="683"/>
                  <a:pt x="63" y="654"/>
                </a:cubicBezTo>
                <a:cubicBezTo>
                  <a:pt x="22" y="626"/>
                  <a:pt x="0" y="594"/>
                  <a:pt x="0" y="558"/>
                </a:cubicBezTo>
                <a:cubicBezTo>
                  <a:pt x="0" y="549"/>
                  <a:pt x="1" y="541"/>
                  <a:pt x="3" y="533"/>
                </a:cubicBezTo>
                <a:cubicBezTo>
                  <a:pt x="5" y="525"/>
                  <a:pt x="8" y="518"/>
                  <a:pt x="13" y="512"/>
                </a:cubicBezTo>
                <a:cubicBezTo>
                  <a:pt x="17" y="506"/>
                  <a:pt x="21" y="501"/>
                  <a:pt x="25" y="497"/>
                </a:cubicBezTo>
                <a:cubicBezTo>
                  <a:pt x="29" y="494"/>
                  <a:pt x="35" y="489"/>
                  <a:pt x="41" y="484"/>
                </a:cubicBezTo>
                <a:cubicBezTo>
                  <a:pt x="48" y="480"/>
                  <a:pt x="52" y="477"/>
                  <a:pt x="55" y="477"/>
                </a:cubicBezTo>
                <a:cubicBezTo>
                  <a:pt x="58" y="477"/>
                  <a:pt x="62" y="475"/>
                  <a:pt x="68" y="471"/>
                </a:cubicBezTo>
                <a:cubicBezTo>
                  <a:pt x="73" y="466"/>
                  <a:pt x="76" y="465"/>
                  <a:pt x="75" y="467"/>
                </a:cubicBezTo>
                <a:cubicBezTo>
                  <a:pt x="50" y="438"/>
                  <a:pt x="38" y="406"/>
                  <a:pt x="38" y="371"/>
                </a:cubicBezTo>
                <a:cubicBezTo>
                  <a:pt x="38" y="339"/>
                  <a:pt x="46" y="310"/>
                  <a:pt x="63" y="285"/>
                </a:cubicBezTo>
                <a:lnTo>
                  <a:pt x="71" y="274"/>
                </a:lnTo>
                <a:lnTo>
                  <a:pt x="62" y="267"/>
                </a:lnTo>
                <a:cubicBezTo>
                  <a:pt x="35" y="239"/>
                  <a:pt x="21" y="205"/>
                  <a:pt x="21" y="165"/>
                </a:cubicBezTo>
                <a:moveTo>
                  <a:pt x="484" y="55"/>
                </a:moveTo>
                <a:lnTo>
                  <a:pt x="491" y="55"/>
                </a:lnTo>
                <a:cubicBezTo>
                  <a:pt x="490" y="54"/>
                  <a:pt x="489" y="54"/>
                  <a:pt x="487" y="54"/>
                </a:cubicBezTo>
                <a:lnTo>
                  <a:pt x="484" y="55"/>
                </a:lnTo>
                <a:moveTo>
                  <a:pt x="239" y="271"/>
                </a:moveTo>
                <a:cubicBezTo>
                  <a:pt x="255" y="271"/>
                  <a:pt x="270" y="269"/>
                  <a:pt x="281" y="265"/>
                </a:cubicBezTo>
                <a:cubicBezTo>
                  <a:pt x="292" y="261"/>
                  <a:pt x="302" y="256"/>
                  <a:pt x="307" y="251"/>
                </a:cubicBezTo>
                <a:cubicBezTo>
                  <a:pt x="313" y="246"/>
                  <a:pt x="317" y="238"/>
                  <a:pt x="320" y="227"/>
                </a:cubicBezTo>
                <a:cubicBezTo>
                  <a:pt x="323" y="215"/>
                  <a:pt x="324" y="206"/>
                  <a:pt x="324" y="199"/>
                </a:cubicBezTo>
                <a:cubicBezTo>
                  <a:pt x="324" y="192"/>
                  <a:pt x="325" y="181"/>
                  <a:pt x="325" y="165"/>
                </a:cubicBezTo>
                <a:cubicBezTo>
                  <a:pt x="325" y="139"/>
                  <a:pt x="324" y="121"/>
                  <a:pt x="322" y="109"/>
                </a:cubicBezTo>
                <a:cubicBezTo>
                  <a:pt x="320" y="98"/>
                  <a:pt x="314" y="88"/>
                  <a:pt x="305" y="79"/>
                </a:cubicBezTo>
                <a:cubicBezTo>
                  <a:pt x="291" y="66"/>
                  <a:pt x="269" y="59"/>
                  <a:pt x="239" y="59"/>
                </a:cubicBezTo>
                <a:cubicBezTo>
                  <a:pt x="219" y="59"/>
                  <a:pt x="204" y="62"/>
                  <a:pt x="192" y="67"/>
                </a:cubicBezTo>
                <a:cubicBezTo>
                  <a:pt x="180" y="71"/>
                  <a:pt x="171" y="79"/>
                  <a:pt x="166" y="89"/>
                </a:cubicBezTo>
                <a:cubicBezTo>
                  <a:pt x="161" y="99"/>
                  <a:pt x="158" y="108"/>
                  <a:pt x="157" y="117"/>
                </a:cubicBezTo>
                <a:cubicBezTo>
                  <a:pt x="155" y="126"/>
                  <a:pt x="155" y="138"/>
                  <a:pt x="155" y="152"/>
                </a:cubicBezTo>
                <a:lnTo>
                  <a:pt x="155" y="165"/>
                </a:lnTo>
                <a:lnTo>
                  <a:pt x="155" y="177"/>
                </a:lnTo>
                <a:cubicBezTo>
                  <a:pt x="155" y="215"/>
                  <a:pt x="161" y="240"/>
                  <a:pt x="174" y="251"/>
                </a:cubicBezTo>
                <a:cubicBezTo>
                  <a:pt x="189" y="264"/>
                  <a:pt x="210" y="271"/>
                  <a:pt x="239" y="271"/>
                </a:cubicBezTo>
                <a:moveTo>
                  <a:pt x="272" y="643"/>
                </a:moveTo>
                <a:cubicBezTo>
                  <a:pt x="323" y="643"/>
                  <a:pt x="363" y="635"/>
                  <a:pt x="393" y="619"/>
                </a:cubicBezTo>
                <a:cubicBezTo>
                  <a:pt x="424" y="604"/>
                  <a:pt x="439" y="583"/>
                  <a:pt x="439" y="559"/>
                </a:cubicBezTo>
                <a:cubicBezTo>
                  <a:pt x="439" y="554"/>
                  <a:pt x="439" y="551"/>
                  <a:pt x="438" y="548"/>
                </a:cubicBezTo>
                <a:cubicBezTo>
                  <a:pt x="437" y="545"/>
                  <a:pt x="435" y="541"/>
                  <a:pt x="432" y="536"/>
                </a:cubicBezTo>
                <a:cubicBezTo>
                  <a:pt x="428" y="532"/>
                  <a:pt x="422" y="527"/>
                  <a:pt x="415" y="523"/>
                </a:cubicBezTo>
                <a:cubicBezTo>
                  <a:pt x="407" y="518"/>
                  <a:pt x="396" y="515"/>
                  <a:pt x="382" y="512"/>
                </a:cubicBezTo>
                <a:cubicBezTo>
                  <a:pt x="368" y="509"/>
                  <a:pt x="350" y="507"/>
                  <a:pt x="329" y="506"/>
                </a:cubicBezTo>
                <a:lnTo>
                  <a:pt x="295" y="505"/>
                </a:lnTo>
                <a:cubicBezTo>
                  <a:pt x="272" y="505"/>
                  <a:pt x="253" y="505"/>
                  <a:pt x="236" y="505"/>
                </a:cubicBezTo>
                <a:cubicBezTo>
                  <a:pt x="192" y="505"/>
                  <a:pt x="166" y="505"/>
                  <a:pt x="159" y="505"/>
                </a:cubicBezTo>
                <a:cubicBezTo>
                  <a:pt x="152" y="505"/>
                  <a:pt x="143" y="507"/>
                  <a:pt x="133" y="511"/>
                </a:cubicBezTo>
                <a:cubicBezTo>
                  <a:pt x="115" y="519"/>
                  <a:pt x="106" y="535"/>
                  <a:pt x="106" y="557"/>
                </a:cubicBezTo>
                <a:cubicBezTo>
                  <a:pt x="106" y="582"/>
                  <a:pt x="121" y="603"/>
                  <a:pt x="152" y="618"/>
                </a:cubicBezTo>
                <a:cubicBezTo>
                  <a:pt x="182" y="634"/>
                  <a:pt x="222" y="642"/>
                  <a:pt x="272" y="643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155" name="フリーフォーム 154"/>
          <p:cNvSpPr/>
          <p:nvPr/>
        </p:nvSpPr>
        <p:spPr>
          <a:xfrm>
            <a:off x="7496820" y="2852010"/>
            <a:ext cx="174960" cy="11610"/>
          </a:xfrm>
          <a:custGeom>
            <a:avLst/>
            <a:gdLst/>
            <a:ahLst/>
            <a:cxnLst/>
            <a:rect l="0" t="0" r="r" b="b"/>
            <a:pathLst>
              <a:path w="648" h="43">
                <a:moveTo>
                  <a:pt x="0" y="36"/>
                </a:moveTo>
                <a:cubicBezTo>
                  <a:pt x="0" y="36"/>
                  <a:pt x="0" y="31"/>
                  <a:pt x="0" y="21"/>
                </a:cubicBezTo>
                <a:cubicBezTo>
                  <a:pt x="0" y="12"/>
                  <a:pt x="5" y="5"/>
                  <a:pt x="15" y="0"/>
                </a:cubicBezTo>
                <a:lnTo>
                  <a:pt x="632" y="0"/>
                </a:lnTo>
                <a:cubicBezTo>
                  <a:pt x="643" y="6"/>
                  <a:pt x="648" y="13"/>
                  <a:pt x="648" y="21"/>
                </a:cubicBezTo>
                <a:cubicBezTo>
                  <a:pt x="648" y="31"/>
                  <a:pt x="643" y="38"/>
                  <a:pt x="632" y="43"/>
                </a:cubicBezTo>
                <a:lnTo>
                  <a:pt x="15" y="43"/>
                </a:lnTo>
                <a:cubicBezTo>
                  <a:pt x="5" y="38"/>
                  <a:pt x="0" y="31"/>
                  <a:pt x="0" y="21"/>
                </a:cubicBezTo>
                <a:lnTo>
                  <a:pt x="0" y="36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156" name="フリーフォーム 155"/>
          <p:cNvSpPr/>
          <p:nvPr/>
        </p:nvSpPr>
        <p:spPr>
          <a:xfrm>
            <a:off x="7765200" y="2802060"/>
            <a:ext cx="162270" cy="127440"/>
          </a:xfrm>
          <a:custGeom>
            <a:avLst/>
            <a:gdLst/>
            <a:ahLst/>
            <a:cxnLst/>
            <a:rect l="0" t="0" r="r" b="b"/>
            <a:pathLst>
              <a:path w="601" h="472">
                <a:moveTo>
                  <a:pt x="219" y="472"/>
                </a:moveTo>
                <a:cubicBezTo>
                  <a:pt x="208" y="470"/>
                  <a:pt x="171" y="469"/>
                  <a:pt x="106" y="469"/>
                </a:cubicBezTo>
                <a:cubicBezTo>
                  <a:pt x="49" y="469"/>
                  <a:pt x="16" y="470"/>
                  <a:pt x="8" y="472"/>
                </a:cubicBezTo>
                <a:lnTo>
                  <a:pt x="0" y="472"/>
                </a:lnTo>
                <a:lnTo>
                  <a:pt x="0" y="407"/>
                </a:lnTo>
                <a:lnTo>
                  <a:pt x="102" y="407"/>
                </a:lnTo>
                <a:lnTo>
                  <a:pt x="238" y="246"/>
                </a:lnTo>
                <a:lnTo>
                  <a:pt x="94" y="66"/>
                </a:lnTo>
                <a:lnTo>
                  <a:pt x="6" y="66"/>
                </a:lnTo>
                <a:lnTo>
                  <a:pt x="6" y="0"/>
                </a:lnTo>
                <a:lnTo>
                  <a:pt x="14" y="0"/>
                </a:lnTo>
                <a:cubicBezTo>
                  <a:pt x="25" y="2"/>
                  <a:pt x="63" y="4"/>
                  <a:pt x="130" y="4"/>
                </a:cubicBezTo>
                <a:cubicBezTo>
                  <a:pt x="203" y="4"/>
                  <a:pt x="246" y="2"/>
                  <a:pt x="259" y="0"/>
                </a:cubicBezTo>
                <a:lnTo>
                  <a:pt x="269" y="0"/>
                </a:lnTo>
                <a:lnTo>
                  <a:pt x="269" y="66"/>
                </a:lnTo>
                <a:lnTo>
                  <a:pt x="239" y="66"/>
                </a:lnTo>
                <a:lnTo>
                  <a:pt x="276" y="113"/>
                </a:lnTo>
                <a:cubicBezTo>
                  <a:pt x="301" y="142"/>
                  <a:pt x="314" y="157"/>
                  <a:pt x="314" y="157"/>
                </a:cubicBezTo>
                <a:cubicBezTo>
                  <a:pt x="317" y="157"/>
                  <a:pt x="331" y="142"/>
                  <a:pt x="355" y="111"/>
                </a:cubicBezTo>
                <a:lnTo>
                  <a:pt x="392" y="66"/>
                </a:lnTo>
                <a:lnTo>
                  <a:pt x="352" y="66"/>
                </a:lnTo>
                <a:lnTo>
                  <a:pt x="352" y="0"/>
                </a:lnTo>
                <a:lnTo>
                  <a:pt x="361" y="0"/>
                </a:lnTo>
                <a:cubicBezTo>
                  <a:pt x="372" y="2"/>
                  <a:pt x="409" y="4"/>
                  <a:pt x="473" y="4"/>
                </a:cubicBezTo>
                <a:cubicBezTo>
                  <a:pt x="531" y="4"/>
                  <a:pt x="564" y="2"/>
                  <a:pt x="572" y="0"/>
                </a:cubicBezTo>
                <a:lnTo>
                  <a:pt x="580" y="0"/>
                </a:lnTo>
                <a:lnTo>
                  <a:pt x="580" y="66"/>
                </a:lnTo>
                <a:lnTo>
                  <a:pt x="479" y="66"/>
                </a:lnTo>
                <a:lnTo>
                  <a:pt x="356" y="211"/>
                </a:lnTo>
                <a:lnTo>
                  <a:pt x="514" y="406"/>
                </a:lnTo>
                <a:lnTo>
                  <a:pt x="557" y="407"/>
                </a:lnTo>
                <a:lnTo>
                  <a:pt x="601" y="407"/>
                </a:lnTo>
                <a:lnTo>
                  <a:pt x="601" y="472"/>
                </a:lnTo>
                <a:lnTo>
                  <a:pt x="592" y="472"/>
                </a:lnTo>
                <a:cubicBezTo>
                  <a:pt x="582" y="470"/>
                  <a:pt x="543" y="469"/>
                  <a:pt x="477" y="469"/>
                </a:cubicBezTo>
                <a:cubicBezTo>
                  <a:pt x="403" y="469"/>
                  <a:pt x="360" y="470"/>
                  <a:pt x="347" y="472"/>
                </a:cubicBezTo>
                <a:lnTo>
                  <a:pt x="338" y="472"/>
                </a:lnTo>
                <a:lnTo>
                  <a:pt x="338" y="407"/>
                </a:lnTo>
                <a:lnTo>
                  <a:pt x="367" y="407"/>
                </a:lnTo>
                <a:cubicBezTo>
                  <a:pt x="367" y="406"/>
                  <a:pt x="353" y="388"/>
                  <a:pt x="325" y="354"/>
                </a:cubicBezTo>
                <a:cubicBezTo>
                  <a:pt x="297" y="319"/>
                  <a:pt x="281" y="301"/>
                  <a:pt x="280" y="299"/>
                </a:cubicBezTo>
                <a:lnTo>
                  <a:pt x="188" y="406"/>
                </a:lnTo>
                <a:lnTo>
                  <a:pt x="208" y="407"/>
                </a:lnTo>
                <a:lnTo>
                  <a:pt x="227" y="407"/>
                </a:lnTo>
                <a:lnTo>
                  <a:pt x="227" y="472"/>
                </a:lnTo>
                <a:lnTo>
                  <a:pt x="219" y="472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157" name="フリーフォーム 156"/>
          <p:cNvSpPr/>
          <p:nvPr/>
        </p:nvSpPr>
        <p:spPr>
          <a:xfrm>
            <a:off x="7946910" y="2838510"/>
            <a:ext cx="57240" cy="136350"/>
          </a:xfrm>
          <a:custGeom>
            <a:avLst/>
            <a:gdLst/>
            <a:ahLst/>
            <a:cxnLst/>
            <a:rect l="0" t="0" r="r" b="b"/>
            <a:pathLst>
              <a:path w="212" h="505">
                <a:moveTo>
                  <a:pt x="123" y="45"/>
                </a:moveTo>
                <a:cubicBezTo>
                  <a:pt x="123" y="33"/>
                  <a:pt x="128" y="23"/>
                  <a:pt x="137" y="14"/>
                </a:cubicBezTo>
                <a:cubicBezTo>
                  <a:pt x="147" y="5"/>
                  <a:pt x="158" y="0"/>
                  <a:pt x="170" y="0"/>
                </a:cubicBezTo>
                <a:cubicBezTo>
                  <a:pt x="179" y="0"/>
                  <a:pt x="187" y="3"/>
                  <a:pt x="193" y="9"/>
                </a:cubicBezTo>
                <a:cubicBezTo>
                  <a:pt x="199" y="15"/>
                  <a:pt x="202" y="22"/>
                  <a:pt x="203" y="31"/>
                </a:cubicBezTo>
                <a:cubicBezTo>
                  <a:pt x="203" y="43"/>
                  <a:pt x="198" y="53"/>
                  <a:pt x="188" y="63"/>
                </a:cubicBezTo>
                <a:cubicBezTo>
                  <a:pt x="178" y="72"/>
                  <a:pt x="167" y="77"/>
                  <a:pt x="155" y="78"/>
                </a:cubicBezTo>
                <a:cubicBezTo>
                  <a:pt x="147" y="78"/>
                  <a:pt x="140" y="75"/>
                  <a:pt x="134" y="70"/>
                </a:cubicBezTo>
                <a:cubicBezTo>
                  <a:pt x="127" y="65"/>
                  <a:pt x="124" y="57"/>
                  <a:pt x="123" y="45"/>
                </a:cubicBezTo>
                <a:moveTo>
                  <a:pt x="0" y="280"/>
                </a:moveTo>
                <a:cubicBezTo>
                  <a:pt x="0" y="276"/>
                  <a:pt x="2" y="269"/>
                  <a:pt x="7" y="257"/>
                </a:cubicBezTo>
                <a:cubicBezTo>
                  <a:pt x="11" y="246"/>
                  <a:pt x="17" y="233"/>
                  <a:pt x="25" y="219"/>
                </a:cubicBezTo>
                <a:cubicBezTo>
                  <a:pt x="32" y="205"/>
                  <a:pt x="43" y="192"/>
                  <a:pt x="58" y="181"/>
                </a:cubicBezTo>
                <a:cubicBezTo>
                  <a:pt x="73" y="169"/>
                  <a:pt x="88" y="164"/>
                  <a:pt x="104" y="164"/>
                </a:cubicBezTo>
                <a:cubicBezTo>
                  <a:pt x="123" y="164"/>
                  <a:pt x="139" y="170"/>
                  <a:pt x="152" y="181"/>
                </a:cubicBezTo>
                <a:cubicBezTo>
                  <a:pt x="165" y="193"/>
                  <a:pt x="172" y="208"/>
                  <a:pt x="173" y="228"/>
                </a:cubicBezTo>
                <a:cubicBezTo>
                  <a:pt x="173" y="236"/>
                  <a:pt x="169" y="250"/>
                  <a:pt x="162" y="270"/>
                </a:cubicBezTo>
                <a:cubicBezTo>
                  <a:pt x="155" y="289"/>
                  <a:pt x="145" y="316"/>
                  <a:pt x="132" y="349"/>
                </a:cubicBezTo>
                <a:cubicBezTo>
                  <a:pt x="119" y="382"/>
                  <a:pt x="109" y="410"/>
                  <a:pt x="101" y="433"/>
                </a:cubicBezTo>
                <a:cubicBezTo>
                  <a:pt x="98" y="444"/>
                  <a:pt x="97" y="452"/>
                  <a:pt x="97" y="457"/>
                </a:cubicBezTo>
                <a:cubicBezTo>
                  <a:pt x="97" y="470"/>
                  <a:pt x="101" y="477"/>
                  <a:pt x="110" y="477"/>
                </a:cubicBezTo>
                <a:cubicBezTo>
                  <a:pt x="114" y="477"/>
                  <a:pt x="119" y="476"/>
                  <a:pt x="124" y="475"/>
                </a:cubicBezTo>
                <a:cubicBezTo>
                  <a:pt x="129" y="472"/>
                  <a:pt x="135" y="469"/>
                  <a:pt x="141" y="463"/>
                </a:cubicBezTo>
                <a:cubicBezTo>
                  <a:pt x="148" y="458"/>
                  <a:pt x="154" y="449"/>
                  <a:pt x="161" y="437"/>
                </a:cubicBezTo>
                <a:cubicBezTo>
                  <a:pt x="168" y="425"/>
                  <a:pt x="175" y="410"/>
                  <a:pt x="180" y="393"/>
                </a:cubicBezTo>
                <a:cubicBezTo>
                  <a:pt x="182" y="387"/>
                  <a:pt x="183" y="383"/>
                  <a:pt x="184" y="382"/>
                </a:cubicBezTo>
                <a:cubicBezTo>
                  <a:pt x="185" y="381"/>
                  <a:pt x="189" y="381"/>
                  <a:pt x="197" y="381"/>
                </a:cubicBezTo>
                <a:cubicBezTo>
                  <a:pt x="207" y="381"/>
                  <a:pt x="212" y="383"/>
                  <a:pt x="212" y="388"/>
                </a:cubicBezTo>
                <a:cubicBezTo>
                  <a:pt x="212" y="392"/>
                  <a:pt x="209" y="400"/>
                  <a:pt x="205" y="412"/>
                </a:cubicBezTo>
                <a:cubicBezTo>
                  <a:pt x="200" y="423"/>
                  <a:pt x="194" y="436"/>
                  <a:pt x="186" y="450"/>
                </a:cubicBezTo>
                <a:cubicBezTo>
                  <a:pt x="178" y="464"/>
                  <a:pt x="167" y="477"/>
                  <a:pt x="152" y="488"/>
                </a:cubicBezTo>
                <a:cubicBezTo>
                  <a:pt x="138" y="499"/>
                  <a:pt x="122" y="505"/>
                  <a:pt x="106" y="505"/>
                </a:cubicBezTo>
                <a:cubicBezTo>
                  <a:pt x="90" y="505"/>
                  <a:pt x="75" y="500"/>
                  <a:pt x="61" y="489"/>
                </a:cubicBezTo>
                <a:cubicBezTo>
                  <a:pt x="47" y="479"/>
                  <a:pt x="40" y="462"/>
                  <a:pt x="40" y="440"/>
                </a:cubicBezTo>
                <a:cubicBezTo>
                  <a:pt x="40" y="432"/>
                  <a:pt x="41" y="424"/>
                  <a:pt x="43" y="416"/>
                </a:cubicBezTo>
                <a:cubicBezTo>
                  <a:pt x="46" y="409"/>
                  <a:pt x="57" y="380"/>
                  <a:pt x="77" y="331"/>
                </a:cubicBezTo>
                <a:cubicBezTo>
                  <a:pt x="96" y="280"/>
                  <a:pt x="107" y="250"/>
                  <a:pt x="110" y="240"/>
                </a:cubicBezTo>
                <a:cubicBezTo>
                  <a:pt x="113" y="230"/>
                  <a:pt x="114" y="220"/>
                  <a:pt x="115" y="211"/>
                </a:cubicBezTo>
                <a:cubicBezTo>
                  <a:pt x="115" y="199"/>
                  <a:pt x="111" y="193"/>
                  <a:pt x="102" y="193"/>
                </a:cubicBezTo>
                <a:lnTo>
                  <a:pt x="101" y="193"/>
                </a:lnTo>
                <a:cubicBezTo>
                  <a:pt x="86" y="193"/>
                  <a:pt x="71" y="201"/>
                  <a:pt x="58" y="217"/>
                </a:cubicBezTo>
                <a:cubicBezTo>
                  <a:pt x="46" y="234"/>
                  <a:pt x="36" y="255"/>
                  <a:pt x="30" y="280"/>
                </a:cubicBezTo>
                <a:cubicBezTo>
                  <a:pt x="29" y="281"/>
                  <a:pt x="29" y="282"/>
                  <a:pt x="28" y="283"/>
                </a:cubicBezTo>
                <a:cubicBezTo>
                  <a:pt x="28" y="284"/>
                  <a:pt x="28" y="284"/>
                  <a:pt x="28" y="285"/>
                </a:cubicBezTo>
                <a:cubicBezTo>
                  <a:pt x="28" y="285"/>
                  <a:pt x="27" y="286"/>
                  <a:pt x="26" y="286"/>
                </a:cubicBezTo>
                <a:cubicBezTo>
                  <a:pt x="25" y="287"/>
                  <a:pt x="24" y="287"/>
                  <a:pt x="24" y="287"/>
                </a:cubicBezTo>
                <a:cubicBezTo>
                  <a:pt x="23" y="287"/>
                  <a:pt x="22" y="287"/>
                  <a:pt x="21" y="287"/>
                </a:cubicBezTo>
                <a:cubicBezTo>
                  <a:pt x="19" y="287"/>
                  <a:pt x="17" y="287"/>
                  <a:pt x="15" y="287"/>
                </a:cubicBezTo>
                <a:lnTo>
                  <a:pt x="4" y="287"/>
                </a:lnTo>
                <a:cubicBezTo>
                  <a:pt x="1" y="284"/>
                  <a:pt x="0" y="282"/>
                  <a:pt x="0" y="280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158" name="フリーフォーム 157"/>
          <p:cNvSpPr/>
          <p:nvPr/>
        </p:nvSpPr>
        <p:spPr>
          <a:xfrm>
            <a:off x="8053830" y="2714580"/>
            <a:ext cx="68580" cy="286740"/>
          </a:xfrm>
          <a:custGeom>
            <a:avLst/>
            <a:gdLst/>
            <a:ahLst/>
            <a:cxnLst/>
            <a:rect l="0" t="0" r="r" b="b"/>
            <a:pathLst>
              <a:path w="254" h="1062">
                <a:moveTo>
                  <a:pt x="0" y="531"/>
                </a:moveTo>
                <a:cubicBezTo>
                  <a:pt x="0" y="482"/>
                  <a:pt x="3" y="436"/>
                  <a:pt x="10" y="392"/>
                </a:cubicBezTo>
                <a:cubicBezTo>
                  <a:pt x="17" y="348"/>
                  <a:pt x="26" y="310"/>
                  <a:pt x="35" y="279"/>
                </a:cubicBezTo>
                <a:cubicBezTo>
                  <a:pt x="44" y="247"/>
                  <a:pt x="57" y="216"/>
                  <a:pt x="74" y="185"/>
                </a:cubicBezTo>
                <a:cubicBezTo>
                  <a:pt x="91" y="155"/>
                  <a:pt x="104" y="131"/>
                  <a:pt x="114" y="114"/>
                </a:cubicBezTo>
                <a:cubicBezTo>
                  <a:pt x="124" y="97"/>
                  <a:pt x="139" y="79"/>
                  <a:pt x="160" y="59"/>
                </a:cubicBezTo>
                <a:cubicBezTo>
                  <a:pt x="180" y="39"/>
                  <a:pt x="191" y="27"/>
                  <a:pt x="195" y="23"/>
                </a:cubicBezTo>
                <a:cubicBezTo>
                  <a:pt x="198" y="19"/>
                  <a:pt x="207" y="10"/>
                  <a:pt x="221" y="0"/>
                </a:cubicBezTo>
                <a:lnTo>
                  <a:pt x="235" y="0"/>
                </a:lnTo>
                <a:lnTo>
                  <a:pt x="239" y="0"/>
                </a:lnTo>
                <a:cubicBezTo>
                  <a:pt x="249" y="0"/>
                  <a:pt x="254" y="3"/>
                  <a:pt x="254" y="9"/>
                </a:cubicBezTo>
                <a:cubicBezTo>
                  <a:pt x="254" y="12"/>
                  <a:pt x="248" y="20"/>
                  <a:pt x="236" y="32"/>
                </a:cubicBezTo>
                <a:cubicBezTo>
                  <a:pt x="224" y="45"/>
                  <a:pt x="210" y="64"/>
                  <a:pt x="193" y="89"/>
                </a:cubicBezTo>
                <a:cubicBezTo>
                  <a:pt x="176" y="113"/>
                  <a:pt x="158" y="144"/>
                  <a:pt x="140" y="180"/>
                </a:cubicBezTo>
                <a:cubicBezTo>
                  <a:pt x="122" y="216"/>
                  <a:pt x="107" y="265"/>
                  <a:pt x="95" y="326"/>
                </a:cubicBezTo>
                <a:cubicBezTo>
                  <a:pt x="83" y="388"/>
                  <a:pt x="77" y="456"/>
                  <a:pt x="77" y="531"/>
                </a:cubicBezTo>
                <a:cubicBezTo>
                  <a:pt x="77" y="606"/>
                  <a:pt x="83" y="674"/>
                  <a:pt x="95" y="735"/>
                </a:cubicBezTo>
                <a:cubicBezTo>
                  <a:pt x="107" y="796"/>
                  <a:pt x="122" y="845"/>
                  <a:pt x="139" y="882"/>
                </a:cubicBezTo>
                <a:cubicBezTo>
                  <a:pt x="157" y="920"/>
                  <a:pt x="174" y="950"/>
                  <a:pt x="192" y="974"/>
                </a:cubicBezTo>
                <a:cubicBezTo>
                  <a:pt x="209" y="997"/>
                  <a:pt x="224" y="1016"/>
                  <a:pt x="236" y="1030"/>
                </a:cubicBezTo>
                <a:cubicBezTo>
                  <a:pt x="248" y="1044"/>
                  <a:pt x="254" y="1051"/>
                  <a:pt x="254" y="1052"/>
                </a:cubicBezTo>
                <a:cubicBezTo>
                  <a:pt x="254" y="1058"/>
                  <a:pt x="249" y="1062"/>
                  <a:pt x="238" y="1062"/>
                </a:cubicBezTo>
                <a:lnTo>
                  <a:pt x="235" y="1062"/>
                </a:lnTo>
                <a:lnTo>
                  <a:pt x="221" y="1062"/>
                </a:lnTo>
                <a:lnTo>
                  <a:pt x="192" y="1036"/>
                </a:lnTo>
                <a:cubicBezTo>
                  <a:pt x="124" y="976"/>
                  <a:pt x="76" y="901"/>
                  <a:pt x="45" y="811"/>
                </a:cubicBezTo>
                <a:cubicBezTo>
                  <a:pt x="15" y="721"/>
                  <a:pt x="0" y="628"/>
                  <a:pt x="0" y="531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159" name="フリーフォーム 158"/>
          <p:cNvSpPr/>
          <p:nvPr/>
        </p:nvSpPr>
        <p:spPr>
          <a:xfrm>
            <a:off x="8143740" y="2749950"/>
            <a:ext cx="89370" cy="182790"/>
          </a:xfrm>
          <a:custGeom>
            <a:avLst/>
            <a:gdLst/>
            <a:ahLst/>
            <a:cxnLst/>
            <a:rect l="0" t="0" r="r" b="b"/>
            <a:pathLst>
              <a:path w="331" h="677">
                <a:moveTo>
                  <a:pt x="7" y="257"/>
                </a:moveTo>
                <a:cubicBezTo>
                  <a:pt x="2" y="252"/>
                  <a:pt x="0" y="248"/>
                  <a:pt x="0" y="246"/>
                </a:cubicBezTo>
                <a:cubicBezTo>
                  <a:pt x="0" y="243"/>
                  <a:pt x="1" y="238"/>
                  <a:pt x="3" y="229"/>
                </a:cubicBezTo>
                <a:cubicBezTo>
                  <a:pt x="5" y="221"/>
                  <a:pt x="7" y="216"/>
                  <a:pt x="8" y="214"/>
                </a:cubicBezTo>
                <a:cubicBezTo>
                  <a:pt x="10" y="211"/>
                  <a:pt x="13" y="209"/>
                  <a:pt x="18" y="209"/>
                </a:cubicBezTo>
                <a:cubicBezTo>
                  <a:pt x="23" y="209"/>
                  <a:pt x="41" y="209"/>
                  <a:pt x="72" y="208"/>
                </a:cubicBezTo>
                <a:lnTo>
                  <a:pt x="128" y="208"/>
                </a:lnTo>
                <a:lnTo>
                  <a:pt x="148" y="123"/>
                </a:lnTo>
                <a:cubicBezTo>
                  <a:pt x="151" y="115"/>
                  <a:pt x="153" y="105"/>
                  <a:pt x="156" y="92"/>
                </a:cubicBezTo>
                <a:cubicBezTo>
                  <a:pt x="159" y="80"/>
                  <a:pt x="161" y="70"/>
                  <a:pt x="163" y="64"/>
                </a:cubicBezTo>
                <a:cubicBezTo>
                  <a:pt x="165" y="58"/>
                  <a:pt x="167" y="51"/>
                  <a:pt x="170" y="43"/>
                </a:cubicBezTo>
                <a:cubicBezTo>
                  <a:pt x="172" y="34"/>
                  <a:pt x="175" y="28"/>
                  <a:pt x="178" y="25"/>
                </a:cubicBezTo>
                <a:cubicBezTo>
                  <a:pt x="182" y="21"/>
                  <a:pt x="185" y="17"/>
                  <a:pt x="189" y="12"/>
                </a:cubicBezTo>
                <a:cubicBezTo>
                  <a:pt x="192" y="7"/>
                  <a:pt x="197" y="4"/>
                  <a:pt x="204" y="2"/>
                </a:cubicBezTo>
                <a:cubicBezTo>
                  <a:pt x="210" y="1"/>
                  <a:pt x="216" y="0"/>
                  <a:pt x="223" y="0"/>
                </a:cubicBezTo>
                <a:cubicBezTo>
                  <a:pt x="235" y="1"/>
                  <a:pt x="244" y="5"/>
                  <a:pt x="249" y="12"/>
                </a:cubicBezTo>
                <a:cubicBezTo>
                  <a:pt x="254" y="19"/>
                  <a:pt x="257" y="26"/>
                  <a:pt x="257" y="32"/>
                </a:cubicBezTo>
                <a:cubicBezTo>
                  <a:pt x="257" y="37"/>
                  <a:pt x="253" y="54"/>
                  <a:pt x="247" y="83"/>
                </a:cubicBezTo>
                <a:cubicBezTo>
                  <a:pt x="241" y="111"/>
                  <a:pt x="234" y="139"/>
                  <a:pt x="226" y="167"/>
                </a:cubicBezTo>
                <a:lnTo>
                  <a:pt x="215" y="206"/>
                </a:lnTo>
                <a:cubicBezTo>
                  <a:pt x="215" y="207"/>
                  <a:pt x="233" y="208"/>
                  <a:pt x="268" y="208"/>
                </a:cubicBezTo>
                <a:lnTo>
                  <a:pt x="323" y="208"/>
                </a:lnTo>
                <a:cubicBezTo>
                  <a:pt x="328" y="213"/>
                  <a:pt x="331" y="217"/>
                  <a:pt x="331" y="220"/>
                </a:cubicBezTo>
                <a:cubicBezTo>
                  <a:pt x="331" y="235"/>
                  <a:pt x="326" y="248"/>
                  <a:pt x="317" y="257"/>
                </a:cubicBezTo>
                <a:lnTo>
                  <a:pt x="202" y="257"/>
                </a:lnTo>
                <a:lnTo>
                  <a:pt x="164" y="411"/>
                </a:lnTo>
                <a:cubicBezTo>
                  <a:pt x="137" y="524"/>
                  <a:pt x="123" y="585"/>
                  <a:pt x="123" y="593"/>
                </a:cubicBezTo>
                <a:cubicBezTo>
                  <a:pt x="123" y="623"/>
                  <a:pt x="132" y="638"/>
                  <a:pt x="152" y="638"/>
                </a:cubicBezTo>
                <a:cubicBezTo>
                  <a:pt x="176" y="638"/>
                  <a:pt x="200" y="626"/>
                  <a:pt x="224" y="602"/>
                </a:cubicBezTo>
                <a:cubicBezTo>
                  <a:pt x="247" y="578"/>
                  <a:pt x="266" y="548"/>
                  <a:pt x="281" y="513"/>
                </a:cubicBezTo>
                <a:cubicBezTo>
                  <a:pt x="282" y="508"/>
                  <a:pt x="284" y="506"/>
                  <a:pt x="286" y="505"/>
                </a:cubicBezTo>
                <a:cubicBezTo>
                  <a:pt x="288" y="504"/>
                  <a:pt x="294" y="504"/>
                  <a:pt x="302" y="503"/>
                </a:cubicBezTo>
                <a:lnTo>
                  <a:pt x="306" y="503"/>
                </a:lnTo>
                <a:cubicBezTo>
                  <a:pt x="317" y="503"/>
                  <a:pt x="322" y="506"/>
                  <a:pt x="322" y="512"/>
                </a:cubicBezTo>
                <a:cubicBezTo>
                  <a:pt x="322" y="514"/>
                  <a:pt x="321" y="518"/>
                  <a:pt x="319" y="524"/>
                </a:cubicBezTo>
                <a:cubicBezTo>
                  <a:pt x="316" y="536"/>
                  <a:pt x="309" y="549"/>
                  <a:pt x="300" y="565"/>
                </a:cubicBezTo>
                <a:cubicBezTo>
                  <a:pt x="291" y="580"/>
                  <a:pt x="279" y="597"/>
                  <a:pt x="263" y="614"/>
                </a:cubicBezTo>
                <a:cubicBezTo>
                  <a:pt x="248" y="632"/>
                  <a:pt x="230" y="647"/>
                  <a:pt x="209" y="659"/>
                </a:cubicBezTo>
                <a:cubicBezTo>
                  <a:pt x="188" y="671"/>
                  <a:pt x="166" y="677"/>
                  <a:pt x="144" y="677"/>
                </a:cubicBezTo>
                <a:cubicBezTo>
                  <a:pt x="123" y="677"/>
                  <a:pt x="103" y="672"/>
                  <a:pt x="84" y="661"/>
                </a:cubicBezTo>
                <a:cubicBezTo>
                  <a:pt x="65" y="651"/>
                  <a:pt x="51" y="632"/>
                  <a:pt x="42" y="606"/>
                </a:cubicBezTo>
                <a:cubicBezTo>
                  <a:pt x="41" y="600"/>
                  <a:pt x="40" y="591"/>
                  <a:pt x="40" y="577"/>
                </a:cubicBezTo>
                <a:lnTo>
                  <a:pt x="40" y="558"/>
                </a:lnTo>
                <a:lnTo>
                  <a:pt x="77" y="410"/>
                </a:lnTo>
                <a:cubicBezTo>
                  <a:pt x="102" y="310"/>
                  <a:pt x="115" y="260"/>
                  <a:pt x="115" y="259"/>
                </a:cubicBezTo>
                <a:cubicBezTo>
                  <a:pt x="115" y="258"/>
                  <a:pt x="97" y="257"/>
                  <a:pt x="61" y="257"/>
                </a:cubicBezTo>
                <a:lnTo>
                  <a:pt x="7" y="257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160" name="フリーフォーム 159"/>
          <p:cNvSpPr/>
          <p:nvPr/>
        </p:nvSpPr>
        <p:spPr>
          <a:xfrm>
            <a:off x="8257410" y="2714580"/>
            <a:ext cx="68850" cy="286740"/>
          </a:xfrm>
          <a:custGeom>
            <a:avLst/>
            <a:gdLst/>
            <a:ahLst/>
            <a:cxnLst/>
            <a:rect l="0" t="0" r="r" b="b"/>
            <a:pathLst>
              <a:path w="255" h="1062">
                <a:moveTo>
                  <a:pt x="5" y="1"/>
                </a:moveTo>
                <a:lnTo>
                  <a:pt x="10" y="0"/>
                </a:lnTo>
                <a:cubicBezTo>
                  <a:pt x="13" y="0"/>
                  <a:pt x="17" y="0"/>
                  <a:pt x="20" y="0"/>
                </a:cubicBezTo>
                <a:lnTo>
                  <a:pt x="33" y="0"/>
                </a:lnTo>
                <a:lnTo>
                  <a:pt x="63" y="26"/>
                </a:lnTo>
                <a:cubicBezTo>
                  <a:pt x="129" y="86"/>
                  <a:pt x="179" y="161"/>
                  <a:pt x="209" y="251"/>
                </a:cubicBezTo>
                <a:cubicBezTo>
                  <a:pt x="239" y="341"/>
                  <a:pt x="255" y="434"/>
                  <a:pt x="255" y="531"/>
                </a:cubicBezTo>
                <a:cubicBezTo>
                  <a:pt x="255" y="579"/>
                  <a:pt x="251" y="626"/>
                  <a:pt x="244" y="670"/>
                </a:cubicBezTo>
                <a:cubicBezTo>
                  <a:pt x="237" y="715"/>
                  <a:pt x="229" y="753"/>
                  <a:pt x="220" y="784"/>
                </a:cubicBezTo>
                <a:cubicBezTo>
                  <a:pt x="210" y="815"/>
                  <a:pt x="197" y="846"/>
                  <a:pt x="180" y="877"/>
                </a:cubicBezTo>
                <a:cubicBezTo>
                  <a:pt x="163" y="908"/>
                  <a:pt x="149" y="932"/>
                  <a:pt x="139" y="948"/>
                </a:cubicBezTo>
                <a:cubicBezTo>
                  <a:pt x="129" y="964"/>
                  <a:pt x="115" y="982"/>
                  <a:pt x="96" y="1002"/>
                </a:cubicBezTo>
                <a:cubicBezTo>
                  <a:pt x="76" y="1022"/>
                  <a:pt x="65" y="1034"/>
                  <a:pt x="62" y="1037"/>
                </a:cubicBezTo>
                <a:cubicBezTo>
                  <a:pt x="58" y="1041"/>
                  <a:pt x="50" y="1048"/>
                  <a:pt x="37" y="1057"/>
                </a:cubicBezTo>
                <a:cubicBezTo>
                  <a:pt x="35" y="1060"/>
                  <a:pt x="34" y="1061"/>
                  <a:pt x="33" y="1062"/>
                </a:cubicBezTo>
                <a:lnTo>
                  <a:pt x="20" y="1062"/>
                </a:lnTo>
                <a:cubicBezTo>
                  <a:pt x="15" y="1062"/>
                  <a:pt x="11" y="1062"/>
                  <a:pt x="9" y="1062"/>
                </a:cubicBezTo>
                <a:cubicBezTo>
                  <a:pt x="6" y="1062"/>
                  <a:pt x="5" y="1061"/>
                  <a:pt x="3" y="1058"/>
                </a:cubicBezTo>
                <a:cubicBezTo>
                  <a:pt x="2" y="1056"/>
                  <a:pt x="1" y="1053"/>
                  <a:pt x="0" y="1049"/>
                </a:cubicBezTo>
                <a:cubicBezTo>
                  <a:pt x="1" y="1048"/>
                  <a:pt x="5" y="1044"/>
                  <a:pt x="12" y="1035"/>
                </a:cubicBezTo>
                <a:cubicBezTo>
                  <a:pt x="121" y="921"/>
                  <a:pt x="177" y="753"/>
                  <a:pt x="177" y="531"/>
                </a:cubicBezTo>
                <a:cubicBezTo>
                  <a:pt x="177" y="309"/>
                  <a:pt x="121" y="141"/>
                  <a:pt x="12" y="27"/>
                </a:cubicBezTo>
                <a:cubicBezTo>
                  <a:pt x="5" y="19"/>
                  <a:pt x="1" y="14"/>
                  <a:pt x="0" y="13"/>
                </a:cubicBezTo>
                <a:cubicBezTo>
                  <a:pt x="0" y="7"/>
                  <a:pt x="2" y="3"/>
                  <a:pt x="5" y="1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161" name="フリーフォーム 160"/>
          <p:cNvSpPr/>
          <p:nvPr/>
        </p:nvSpPr>
        <p:spPr>
          <a:xfrm>
            <a:off x="8368920" y="2714580"/>
            <a:ext cx="68580" cy="286740"/>
          </a:xfrm>
          <a:custGeom>
            <a:avLst/>
            <a:gdLst/>
            <a:ahLst/>
            <a:cxnLst/>
            <a:rect l="0" t="0" r="r" b="b"/>
            <a:pathLst>
              <a:path w="254" h="1062">
                <a:moveTo>
                  <a:pt x="5" y="1"/>
                </a:moveTo>
                <a:lnTo>
                  <a:pt x="9" y="0"/>
                </a:lnTo>
                <a:cubicBezTo>
                  <a:pt x="13" y="0"/>
                  <a:pt x="16" y="0"/>
                  <a:pt x="20" y="0"/>
                </a:cubicBezTo>
                <a:lnTo>
                  <a:pt x="33" y="0"/>
                </a:lnTo>
                <a:lnTo>
                  <a:pt x="62" y="26"/>
                </a:lnTo>
                <a:cubicBezTo>
                  <a:pt x="129" y="86"/>
                  <a:pt x="177" y="161"/>
                  <a:pt x="208" y="251"/>
                </a:cubicBezTo>
                <a:cubicBezTo>
                  <a:pt x="238" y="341"/>
                  <a:pt x="254" y="434"/>
                  <a:pt x="254" y="531"/>
                </a:cubicBezTo>
                <a:cubicBezTo>
                  <a:pt x="254" y="579"/>
                  <a:pt x="251" y="626"/>
                  <a:pt x="243" y="670"/>
                </a:cubicBezTo>
                <a:cubicBezTo>
                  <a:pt x="236" y="715"/>
                  <a:pt x="228" y="753"/>
                  <a:pt x="218" y="784"/>
                </a:cubicBezTo>
                <a:cubicBezTo>
                  <a:pt x="209" y="815"/>
                  <a:pt x="196" y="846"/>
                  <a:pt x="179" y="877"/>
                </a:cubicBezTo>
                <a:cubicBezTo>
                  <a:pt x="162" y="908"/>
                  <a:pt x="149" y="932"/>
                  <a:pt x="139" y="948"/>
                </a:cubicBezTo>
                <a:cubicBezTo>
                  <a:pt x="129" y="964"/>
                  <a:pt x="114" y="982"/>
                  <a:pt x="95" y="1002"/>
                </a:cubicBezTo>
                <a:cubicBezTo>
                  <a:pt x="76" y="1022"/>
                  <a:pt x="65" y="1034"/>
                  <a:pt x="61" y="1037"/>
                </a:cubicBezTo>
                <a:cubicBezTo>
                  <a:pt x="58" y="1041"/>
                  <a:pt x="50" y="1048"/>
                  <a:pt x="37" y="1057"/>
                </a:cubicBezTo>
                <a:cubicBezTo>
                  <a:pt x="35" y="1060"/>
                  <a:pt x="33" y="1061"/>
                  <a:pt x="33" y="1062"/>
                </a:cubicBezTo>
                <a:lnTo>
                  <a:pt x="20" y="1062"/>
                </a:lnTo>
                <a:cubicBezTo>
                  <a:pt x="14" y="1062"/>
                  <a:pt x="10" y="1062"/>
                  <a:pt x="8" y="1062"/>
                </a:cubicBezTo>
                <a:cubicBezTo>
                  <a:pt x="6" y="1062"/>
                  <a:pt x="4" y="1061"/>
                  <a:pt x="3" y="1058"/>
                </a:cubicBezTo>
                <a:cubicBezTo>
                  <a:pt x="2" y="1056"/>
                  <a:pt x="0" y="1053"/>
                  <a:pt x="0" y="1049"/>
                </a:cubicBezTo>
                <a:cubicBezTo>
                  <a:pt x="0" y="1048"/>
                  <a:pt x="4" y="1044"/>
                  <a:pt x="11" y="1035"/>
                </a:cubicBezTo>
                <a:cubicBezTo>
                  <a:pt x="121" y="921"/>
                  <a:pt x="176" y="753"/>
                  <a:pt x="176" y="531"/>
                </a:cubicBezTo>
                <a:cubicBezTo>
                  <a:pt x="176" y="309"/>
                  <a:pt x="121" y="141"/>
                  <a:pt x="11" y="27"/>
                </a:cubicBezTo>
                <a:cubicBezTo>
                  <a:pt x="4" y="19"/>
                  <a:pt x="0" y="14"/>
                  <a:pt x="0" y="13"/>
                </a:cubicBezTo>
                <a:cubicBezTo>
                  <a:pt x="0" y="7"/>
                  <a:pt x="2" y="3"/>
                  <a:pt x="5" y="1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162" name="フリーフォーム 161"/>
          <p:cNvSpPr/>
          <p:nvPr/>
        </p:nvSpPr>
        <p:spPr>
          <a:xfrm>
            <a:off x="6208650" y="3027240"/>
            <a:ext cx="139050" cy="95850"/>
          </a:xfrm>
          <a:custGeom>
            <a:avLst/>
            <a:gdLst/>
            <a:ahLst/>
            <a:cxnLst/>
            <a:rect l="0" t="0" r="r" b="b"/>
            <a:pathLst>
              <a:path w="515" h="355">
                <a:moveTo>
                  <a:pt x="0" y="7"/>
                </a:moveTo>
                <a:lnTo>
                  <a:pt x="7" y="0"/>
                </a:lnTo>
                <a:lnTo>
                  <a:pt x="25" y="0"/>
                </a:lnTo>
                <a:cubicBezTo>
                  <a:pt x="33" y="0"/>
                  <a:pt x="39" y="0"/>
                  <a:pt x="42" y="0"/>
                </a:cubicBezTo>
                <a:cubicBezTo>
                  <a:pt x="45" y="0"/>
                  <a:pt x="47" y="2"/>
                  <a:pt x="49" y="5"/>
                </a:cubicBezTo>
                <a:cubicBezTo>
                  <a:pt x="51" y="7"/>
                  <a:pt x="53" y="10"/>
                  <a:pt x="55" y="12"/>
                </a:cubicBezTo>
                <a:cubicBezTo>
                  <a:pt x="56" y="14"/>
                  <a:pt x="59" y="19"/>
                  <a:pt x="63" y="27"/>
                </a:cubicBezTo>
                <a:cubicBezTo>
                  <a:pt x="67" y="35"/>
                  <a:pt x="74" y="43"/>
                  <a:pt x="83" y="52"/>
                </a:cubicBezTo>
                <a:cubicBezTo>
                  <a:pt x="126" y="110"/>
                  <a:pt x="187" y="153"/>
                  <a:pt x="265" y="182"/>
                </a:cubicBezTo>
                <a:cubicBezTo>
                  <a:pt x="342" y="211"/>
                  <a:pt x="420" y="226"/>
                  <a:pt x="495" y="226"/>
                </a:cubicBezTo>
                <a:cubicBezTo>
                  <a:pt x="504" y="226"/>
                  <a:pt x="510" y="227"/>
                  <a:pt x="512" y="229"/>
                </a:cubicBezTo>
                <a:cubicBezTo>
                  <a:pt x="514" y="232"/>
                  <a:pt x="515" y="239"/>
                  <a:pt x="515" y="253"/>
                </a:cubicBezTo>
                <a:lnTo>
                  <a:pt x="515" y="291"/>
                </a:lnTo>
                <a:lnTo>
                  <a:pt x="515" y="325"/>
                </a:lnTo>
                <a:cubicBezTo>
                  <a:pt x="515" y="339"/>
                  <a:pt x="514" y="348"/>
                  <a:pt x="512" y="350"/>
                </a:cubicBezTo>
                <a:cubicBezTo>
                  <a:pt x="510" y="353"/>
                  <a:pt x="504" y="355"/>
                  <a:pt x="496" y="355"/>
                </a:cubicBezTo>
                <a:cubicBezTo>
                  <a:pt x="434" y="355"/>
                  <a:pt x="370" y="342"/>
                  <a:pt x="302" y="316"/>
                </a:cubicBezTo>
                <a:cubicBezTo>
                  <a:pt x="171" y="257"/>
                  <a:pt x="73" y="172"/>
                  <a:pt x="9" y="59"/>
                </a:cubicBezTo>
                <a:lnTo>
                  <a:pt x="0" y="44"/>
                </a:lnTo>
                <a:lnTo>
                  <a:pt x="0" y="7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163" name="フリーフォーム 162"/>
          <p:cNvSpPr/>
          <p:nvPr/>
        </p:nvSpPr>
        <p:spPr>
          <a:xfrm>
            <a:off x="8332740" y="3027240"/>
            <a:ext cx="139050" cy="95850"/>
          </a:xfrm>
          <a:custGeom>
            <a:avLst/>
            <a:gdLst/>
            <a:ahLst/>
            <a:cxnLst/>
            <a:rect l="0" t="0" r="r" b="b"/>
            <a:pathLst>
              <a:path w="515" h="355">
                <a:moveTo>
                  <a:pt x="0" y="291"/>
                </a:moveTo>
                <a:lnTo>
                  <a:pt x="0" y="253"/>
                </a:lnTo>
                <a:cubicBezTo>
                  <a:pt x="0" y="240"/>
                  <a:pt x="1" y="233"/>
                  <a:pt x="3" y="231"/>
                </a:cubicBezTo>
                <a:cubicBezTo>
                  <a:pt x="5" y="228"/>
                  <a:pt x="11" y="227"/>
                  <a:pt x="20" y="226"/>
                </a:cubicBezTo>
                <a:cubicBezTo>
                  <a:pt x="121" y="226"/>
                  <a:pt x="207" y="208"/>
                  <a:pt x="277" y="172"/>
                </a:cubicBezTo>
                <a:cubicBezTo>
                  <a:pt x="347" y="136"/>
                  <a:pt x="399" y="96"/>
                  <a:pt x="432" y="52"/>
                </a:cubicBezTo>
                <a:cubicBezTo>
                  <a:pt x="438" y="46"/>
                  <a:pt x="443" y="38"/>
                  <a:pt x="449" y="30"/>
                </a:cubicBezTo>
                <a:cubicBezTo>
                  <a:pt x="454" y="21"/>
                  <a:pt x="459" y="15"/>
                  <a:pt x="462" y="10"/>
                </a:cubicBezTo>
                <a:cubicBezTo>
                  <a:pt x="464" y="5"/>
                  <a:pt x="467" y="2"/>
                  <a:pt x="469" y="2"/>
                </a:cubicBezTo>
                <a:cubicBezTo>
                  <a:pt x="470" y="1"/>
                  <a:pt x="477" y="0"/>
                  <a:pt x="490" y="0"/>
                </a:cubicBezTo>
                <a:lnTo>
                  <a:pt x="508" y="0"/>
                </a:lnTo>
                <a:lnTo>
                  <a:pt x="515" y="7"/>
                </a:lnTo>
                <a:lnTo>
                  <a:pt x="515" y="44"/>
                </a:lnTo>
                <a:lnTo>
                  <a:pt x="506" y="59"/>
                </a:lnTo>
                <a:cubicBezTo>
                  <a:pt x="442" y="172"/>
                  <a:pt x="344" y="257"/>
                  <a:pt x="213" y="316"/>
                </a:cubicBezTo>
                <a:cubicBezTo>
                  <a:pt x="145" y="342"/>
                  <a:pt x="81" y="355"/>
                  <a:pt x="19" y="355"/>
                </a:cubicBezTo>
                <a:cubicBezTo>
                  <a:pt x="10" y="355"/>
                  <a:pt x="5" y="354"/>
                  <a:pt x="3" y="351"/>
                </a:cubicBezTo>
                <a:cubicBezTo>
                  <a:pt x="2" y="349"/>
                  <a:pt x="1" y="342"/>
                  <a:pt x="0" y="329"/>
                </a:cubicBezTo>
                <a:lnTo>
                  <a:pt x="0" y="291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164" name="フリーフォーム 163"/>
          <p:cNvSpPr/>
          <p:nvPr/>
        </p:nvSpPr>
        <p:spPr>
          <a:xfrm>
            <a:off x="7208190" y="3088260"/>
            <a:ext cx="139050" cy="95850"/>
          </a:xfrm>
          <a:custGeom>
            <a:avLst/>
            <a:gdLst/>
            <a:ahLst/>
            <a:cxnLst/>
            <a:rect l="0" t="0" r="r" b="b"/>
            <a:pathLst>
              <a:path w="515" h="355">
                <a:moveTo>
                  <a:pt x="0" y="65"/>
                </a:moveTo>
                <a:cubicBezTo>
                  <a:pt x="0" y="34"/>
                  <a:pt x="0" y="15"/>
                  <a:pt x="0" y="10"/>
                </a:cubicBezTo>
                <a:cubicBezTo>
                  <a:pt x="0" y="5"/>
                  <a:pt x="2" y="2"/>
                  <a:pt x="6" y="2"/>
                </a:cubicBezTo>
                <a:cubicBezTo>
                  <a:pt x="9" y="1"/>
                  <a:pt x="14" y="0"/>
                  <a:pt x="22" y="0"/>
                </a:cubicBezTo>
                <a:cubicBezTo>
                  <a:pt x="83" y="0"/>
                  <a:pt x="146" y="13"/>
                  <a:pt x="213" y="39"/>
                </a:cubicBezTo>
                <a:cubicBezTo>
                  <a:pt x="345" y="97"/>
                  <a:pt x="442" y="183"/>
                  <a:pt x="507" y="296"/>
                </a:cubicBezTo>
                <a:lnTo>
                  <a:pt x="515" y="311"/>
                </a:lnTo>
                <a:lnTo>
                  <a:pt x="515" y="348"/>
                </a:lnTo>
                <a:lnTo>
                  <a:pt x="509" y="355"/>
                </a:lnTo>
                <a:lnTo>
                  <a:pt x="491" y="355"/>
                </a:lnTo>
                <a:lnTo>
                  <a:pt x="486" y="355"/>
                </a:lnTo>
                <a:cubicBezTo>
                  <a:pt x="479" y="355"/>
                  <a:pt x="475" y="355"/>
                  <a:pt x="473" y="355"/>
                </a:cubicBezTo>
                <a:cubicBezTo>
                  <a:pt x="470" y="355"/>
                  <a:pt x="468" y="353"/>
                  <a:pt x="466" y="350"/>
                </a:cubicBezTo>
                <a:cubicBezTo>
                  <a:pt x="464" y="348"/>
                  <a:pt x="462" y="345"/>
                  <a:pt x="461" y="343"/>
                </a:cubicBezTo>
                <a:cubicBezTo>
                  <a:pt x="459" y="341"/>
                  <a:pt x="456" y="335"/>
                  <a:pt x="451" y="327"/>
                </a:cubicBezTo>
                <a:cubicBezTo>
                  <a:pt x="446" y="319"/>
                  <a:pt x="440" y="310"/>
                  <a:pt x="432" y="302"/>
                </a:cubicBezTo>
                <a:cubicBezTo>
                  <a:pt x="386" y="244"/>
                  <a:pt x="325" y="201"/>
                  <a:pt x="250" y="172"/>
                </a:cubicBezTo>
                <a:cubicBezTo>
                  <a:pt x="173" y="143"/>
                  <a:pt x="97" y="129"/>
                  <a:pt x="21" y="129"/>
                </a:cubicBezTo>
                <a:cubicBezTo>
                  <a:pt x="11" y="129"/>
                  <a:pt x="6" y="128"/>
                  <a:pt x="4" y="125"/>
                </a:cubicBezTo>
                <a:cubicBezTo>
                  <a:pt x="2" y="123"/>
                  <a:pt x="0" y="115"/>
                  <a:pt x="0" y="102"/>
                </a:cubicBezTo>
                <a:lnTo>
                  <a:pt x="0" y="65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165" name="フリーフォーム 164"/>
          <p:cNvSpPr/>
          <p:nvPr/>
        </p:nvSpPr>
        <p:spPr>
          <a:xfrm>
            <a:off x="7333200" y="3088260"/>
            <a:ext cx="139050" cy="95850"/>
          </a:xfrm>
          <a:custGeom>
            <a:avLst/>
            <a:gdLst/>
            <a:ahLst/>
            <a:cxnLst/>
            <a:rect l="0" t="0" r="r" b="b"/>
            <a:pathLst>
              <a:path w="515" h="355">
                <a:moveTo>
                  <a:pt x="6" y="355"/>
                </a:moveTo>
                <a:lnTo>
                  <a:pt x="0" y="348"/>
                </a:lnTo>
                <a:lnTo>
                  <a:pt x="0" y="311"/>
                </a:lnTo>
                <a:lnTo>
                  <a:pt x="9" y="296"/>
                </a:lnTo>
                <a:cubicBezTo>
                  <a:pt x="73" y="183"/>
                  <a:pt x="171" y="97"/>
                  <a:pt x="302" y="39"/>
                </a:cubicBezTo>
                <a:cubicBezTo>
                  <a:pt x="355" y="18"/>
                  <a:pt x="410" y="6"/>
                  <a:pt x="467" y="1"/>
                </a:cubicBezTo>
                <a:cubicBezTo>
                  <a:pt x="469" y="1"/>
                  <a:pt x="473" y="1"/>
                  <a:pt x="480" y="1"/>
                </a:cubicBezTo>
                <a:cubicBezTo>
                  <a:pt x="486" y="1"/>
                  <a:pt x="491" y="1"/>
                  <a:pt x="493" y="0"/>
                </a:cubicBezTo>
                <a:cubicBezTo>
                  <a:pt x="503" y="0"/>
                  <a:pt x="509" y="1"/>
                  <a:pt x="511" y="3"/>
                </a:cubicBezTo>
                <a:cubicBezTo>
                  <a:pt x="514" y="6"/>
                  <a:pt x="515" y="12"/>
                  <a:pt x="515" y="24"/>
                </a:cubicBezTo>
                <a:lnTo>
                  <a:pt x="515" y="65"/>
                </a:lnTo>
                <a:lnTo>
                  <a:pt x="515" y="102"/>
                </a:lnTo>
                <a:cubicBezTo>
                  <a:pt x="515" y="115"/>
                  <a:pt x="514" y="122"/>
                  <a:pt x="511" y="124"/>
                </a:cubicBezTo>
                <a:cubicBezTo>
                  <a:pt x="509" y="126"/>
                  <a:pt x="504" y="128"/>
                  <a:pt x="494" y="129"/>
                </a:cubicBezTo>
                <a:cubicBezTo>
                  <a:pt x="400" y="129"/>
                  <a:pt x="313" y="148"/>
                  <a:pt x="230" y="187"/>
                </a:cubicBezTo>
                <a:cubicBezTo>
                  <a:pt x="149" y="226"/>
                  <a:pt x="90" y="279"/>
                  <a:pt x="52" y="346"/>
                </a:cubicBezTo>
                <a:cubicBezTo>
                  <a:pt x="49" y="350"/>
                  <a:pt x="47" y="353"/>
                  <a:pt x="45" y="354"/>
                </a:cubicBezTo>
                <a:cubicBezTo>
                  <a:pt x="43" y="354"/>
                  <a:pt x="36" y="355"/>
                  <a:pt x="24" y="355"/>
                </a:cubicBezTo>
                <a:lnTo>
                  <a:pt x="6" y="355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166" name="フリーフォーム 165"/>
          <p:cNvSpPr/>
          <p:nvPr/>
        </p:nvSpPr>
        <p:spPr>
          <a:xfrm>
            <a:off x="6315840" y="3088260"/>
            <a:ext cx="924210" cy="34830"/>
          </a:xfrm>
          <a:custGeom>
            <a:avLst/>
            <a:gdLst/>
            <a:ahLst/>
            <a:cxnLst/>
            <a:rect l="0" t="0" r="r" b="b"/>
            <a:pathLst>
              <a:path w="3423" h="129">
                <a:moveTo>
                  <a:pt x="0" y="0"/>
                </a:moveTo>
                <a:lnTo>
                  <a:pt x="3423" y="0"/>
                </a:lnTo>
                <a:lnTo>
                  <a:pt x="3423" y="129"/>
                </a:lnTo>
                <a:lnTo>
                  <a:pt x="0" y="12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167" name="フリーフォーム 166"/>
          <p:cNvSpPr/>
          <p:nvPr/>
        </p:nvSpPr>
        <p:spPr>
          <a:xfrm>
            <a:off x="7440390" y="3088260"/>
            <a:ext cx="924210" cy="34830"/>
          </a:xfrm>
          <a:custGeom>
            <a:avLst/>
            <a:gdLst/>
            <a:ahLst/>
            <a:cxnLst/>
            <a:rect l="0" t="0" r="r" b="b"/>
            <a:pathLst>
              <a:path w="3423" h="129">
                <a:moveTo>
                  <a:pt x="0" y="0"/>
                </a:moveTo>
                <a:lnTo>
                  <a:pt x="3423" y="0"/>
                </a:lnTo>
                <a:lnTo>
                  <a:pt x="3423" y="129"/>
                </a:lnTo>
                <a:lnTo>
                  <a:pt x="0" y="12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168" name="テキスト ボックス 167"/>
          <p:cNvSpPr txBox="1"/>
          <p:nvPr/>
        </p:nvSpPr>
        <p:spPr>
          <a:xfrm>
            <a:off x="4280040" y="3187080"/>
            <a:ext cx="724557" cy="21685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altLang="en-US" sz="1409">
                <a:solidFill>
                  <a:srgbClr val="455A64"/>
                </a:solidFill>
                <a:latin typeface="HiraMinProN-W3"/>
                <a:ea typeface="HiraMinProN-W3"/>
              </a:rPr>
              <a:t>認知成分</a:t>
            </a:r>
            <a:endParaRPr lang="en-US" sz="1409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169" name="テキスト ボックス 168"/>
          <p:cNvSpPr txBox="1"/>
          <p:nvPr/>
        </p:nvSpPr>
        <p:spPr>
          <a:xfrm>
            <a:off x="6935220" y="3187080"/>
            <a:ext cx="724557" cy="21685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altLang="en-US" sz="1409">
                <a:solidFill>
                  <a:srgbClr val="455A64"/>
                </a:solidFill>
                <a:latin typeface="HiraMinProN-W3"/>
                <a:ea typeface="HiraMinProN-W3"/>
              </a:rPr>
              <a:t>社会成分</a:t>
            </a:r>
            <a:endParaRPr lang="en-US" sz="1409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170" name="フリーフォーム 169"/>
          <p:cNvSpPr/>
          <p:nvPr/>
        </p:nvSpPr>
        <p:spPr>
          <a:xfrm>
            <a:off x="571320" y="4443390"/>
            <a:ext cx="86130" cy="85860"/>
          </a:xfrm>
          <a:custGeom>
            <a:avLst/>
            <a:gdLst/>
            <a:ahLst/>
            <a:cxnLst/>
            <a:rect l="0" t="0" r="r" b="b"/>
            <a:pathLst>
              <a:path w="319" h="318">
                <a:moveTo>
                  <a:pt x="319" y="158"/>
                </a:moveTo>
                <a:cubicBezTo>
                  <a:pt x="319" y="169"/>
                  <a:pt x="318" y="179"/>
                  <a:pt x="316" y="189"/>
                </a:cubicBezTo>
                <a:cubicBezTo>
                  <a:pt x="314" y="201"/>
                  <a:pt x="311" y="210"/>
                  <a:pt x="307" y="220"/>
                </a:cubicBezTo>
                <a:cubicBezTo>
                  <a:pt x="303" y="230"/>
                  <a:pt x="298" y="239"/>
                  <a:pt x="292" y="248"/>
                </a:cubicBezTo>
                <a:cubicBezTo>
                  <a:pt x="286" y="256"/>
                  <a:pt x="280" y="264"/>
                  <a:pt x="272" y="272"/>
                </a:cubicBezTo>
                <a:cubicBezTo>
                  <a:pt x="265" y="279"/>
                  <a:pt x="256" y="286"/>
                  <a:pt x="247" y="291"/>
                </a:cubicBezTo>
                <a:cubicBezTo>
                  <a:pt x="238" y="297"/>
                  <a:pt x="229" y="302"/>
                  <a:pt x="220" y="306"/>
                </a:cubicBezTo>
                <a:cubicBezTo>
                  <a:pt x="210" y="310"/>
                  <a:pt x="200" y="313"/>
                  <a:pt x="190" y="315"/>
                </a:cubicBezTo>
                <a:cubicBezTo>
                  <a:pt x="180" y="317"/>
                  <a:pt x="169" y="318"/>
                  <a:pt x="159" y="318"/>
                </a:cubicBezTo>
                <a:cubicBezTo>
                  <a:pt x="148" y="318"/>
                  <a:pt x="138" y="317"/>
                  <a:pt x="128" y="315"/>
                </a:cubicBezTo>
                <a:cubicBezTo>
                  <a:pt x="118" y="313"/>
                  <a:pt x="108" y="310"/>
                  <a:pt x="98" y="306"/>
                </a:cubicBezTo>
                <a:cubicBezTo>
                  <a:pt x="89" y="302"/>
                  <a:pt x="79" y="297"/>
                  <a:pt x="71" y="291"/>
                </a:cubicBezTo>
                <a:cubicBezTo>
                  <a:pt x="62" y="286"/>
                  <a:pt x="54" y="279"/>
                  <a:pt x="47" y="272"/>
                </a:cubicBezTo>
                <a:cubicBezTo>
                  <a:pt x="39" y="264"/>
                  <a:pt x="33" y="256"/>
                  <a:pt x="27" y="248"/>
                </a:cubicBezTo>
                <a:cubicBezTo>
                  <a:pt x="21" y="239"/>
                  <a:pt x="16" y="230"/>
                  <a:pt x="12" y="220"/>
                </a:cubicBezTo>
                <a:cubicBezTo>
                  <a:pt x="8" y="210"/>
                  <a:pt x="5" y="201"/>
                  <a:pt x="3" y="189"/>
                </a:cubicBezTo>
                <a:cubicBezTo>
                  <a:pt x="1" y="179"/>
                  <a:pt x="0" y="169"/>
                  <a:pt x="0" y="158"/>
                </a:cubicBez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1"/>
                  <a:pt x="39" y="53"/>
                  <a:pt x="47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79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cubicBezTo>
                  <a:pt x="169" y="0"/>
                  <a:pt x="180" y="1"/>
                  <a:pt x="190" y="3"/>
                </a:cubicBezTo>
                <a:cubicBezTo>
                  <a:pt x="200" y="5"/>
                  <a:pt x="210" y="8"/>
                  <a:pt x="220" y="12"/>
                </a:cubicBezTo>
                <a:cubicBezTo>
                  <a:pt x="229" y="16"/>
                  <a:pt x="238" y="21"/>
                  <a:pt x="247" y="26"/>
                </a:cubicBezTo>
                <a:cubicBezTo>
                  <a:pt x="256" y="32"/>
                  <a:pt x="265" y="39"/>
                  <a:pt x="272" y="46"/>
                </a:cubicBezTo>
                <a:cubicBezTo>
                  <a:pt x="280" y="53"/>
                  <a:pt x="286" y="61"/>
                  <a:pt x="292" y="70"/>
                </a:cubicBezTo>
                <a:cubicBezTo>
                  <a:pt x="298" y="79"/>
                  <a:pt x="303" y="88"/>
                  <a:pt x="307" y="98"/>
                </a:cubicBezTo>
                <a:cubicBezTo>
                  <a:pt x="311" y="107"/>
                  <a:pt x="314" y="117"/>
                  <a:pt x="316" y="127"/>
                </a:cubicBezTo>
                <a:cubicBezTo>
                  <a:pt x="318" y="138"/>
                  <a:pt x="319" y="148"/>
                  <a:pt x="319" y="158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171" name="テキスト ボックス 170"/>
          <p:cNvSpPr txBox="1"/>
          <p:nvPr/>
        </p:nvSpPr>
        <p:spPr>
          <a:xfrm>
            <a:off x="500040" y="3603151"/>
            <a:ext cx="1971694" cy="39472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altLang="en-US" sz="2565" b="1">
                <a:solidFill>
                  <a:srgbClr val="455A64"/>
                </a:solidFill>
                <a:latin typeface="HiraKakuProN-W6"/>
                <a:ea typeface="HiraKakuProN-W6"/>
              </a:rPr>
              <a:t>各成分の役割</a:t>
            </a:r>
            <a:endParaRPr lang="en-US" sz="2565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172" name="フリーフォーム 171"/>
          <p:cNvSpPr/>
          <p:nvPr/>
        </p:nvSpPr>
        <p:spPr>
          <a:xfrm>
            <a:off x="571320" y="4857570"/>
            <a:ext cx="86130" cy="86130"/>
          </a:xfrm>
          <a:custGeom>
            <a:avLst/>
            <a:gdLst/>
            <a:ahLst/>
            <a:cxnLst/>
            <a:rect l="0" t="0" r="r" b="b"/>
            <a:pathLst>
              <a:path w="319" h="319">
                <a:moveTo>
                  <a:pt x="319" y="159"/>
                </a:moveTo>
                <a:cubicBezTo>
                  <a:pt x="319" y="169"/>
                  <a:pt x="318" y="180"/>
                  <a:pt x="316" y="190"/>
                </a:cubicBezTo>
                <a:cubicBezTo>
                  <a:pt x="314" y="200"/>
                  <a:pt x="311" y="210"/>
                  <a:pt x="307" y="220"/>
                </a:cubicBezTo>
                <a:cubicBezTo>
                  <a:pt x="303" y="229"/>
                  <a:pt x="298" y="238"/>
                  <a:pt x="292" y="248"/>
                </a:cubicBezTo>
                <a:cubicBezTo>
                  <a:pt x="286" y="257"/>
                  <a:pt x="280" y="265"/>
                  <a:pt x="272" y="272"/>
                </a:cubicBezTo>
                <a:cubicBezTo>
                  <a:pt x="265" y="280"/>
                  <a:pt x="256" y="286"/>
                  <a:pt x="247" y="292"/>
                </a:cubicBezTo>
                <a:cubicBezTo>
                  <a:pt x="238" y="298"/>
                  <a:pt x="229" y="303"/>
                  <a:pt x="220" y="307"/>
                </a:cubicBezTo>
                <a:cubicBezTo>
                  <a:pt x="210" y="311"/>
                  <a:pt x="200" y="314"/>
                  <a:pt x="190" y="316"/>
                </a:cubicBezTo>
                <a:cubicBezTo>
                  <a:pt x="180" y="318"/>
                  <a:pt x="169" y="319"/>
                  <a:pt x="159" y="319"/>
                </a:cubicBezTo>
                <a:cubicBezTo>
                  <a:pt x="148" y="319"/>
                  <a:pt x="138" y="318"/>
                  <a:pt x="128" y="316"/>
                </a:cubicBezTo>
                <a:cubicBezTo>
                  <a:pt x="118" y="314"/>
                  <a:pt x="108" y="311"/>
                  <a:pt x="98" y="307"/>
                </a:cubicBezTo>
                <a:cubicBezTo>
                  <a:pt x="89" y="303"/>
                  <a:pt x="79" y="298"/>
                  <a:pt x="71" y="292"/>
                </a:cubicBezTo>
                <a:cubicBezTo>
                  <a:pt x="62" y="286"/>
                  <a:pt x="54" y="280"/>
                  <a:pt x="47" y="272"/>
                </a:cubicBezTo>
                <a:cubicBezTo>
                  <a:pt x="39" y="265"/>
                  <a:pt x="33" y="257"/>
                  <a:pt x="27" y="248"/>
                </a:cubicBezTo>
                <a:cubicBezTo>
                  <a:pt x="21" y="238"/>
                  <a:pt x="16" y="229"/>
                  <a:pt x="12" y="220"/>
                </a:cubicBezTo>
                <a:cubicBezTo>
                  <a:pt x="8" y="210"/>
                  <a:pt x="5" y="200"/>
                  <a:pt x="3" y="190"/>
                </a:cubicBezTo>
                <a:cubicBezTo>
                  <a:pt x="1" y="180"/>
                  <a:pt x="0" y="169"/>
                  <a:pt x="0" y="159"/>
                </a:cubicBez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79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cubicBezTo>
                  <a:pt x="169" y="0"/>
                  <a:pt x="180" y="1"/>
                  <a:pt x="190" y="3"/>
                </a:cubicBezTo>
                <a:cubicBezTo>
                  <a:pt x="200" y="5"/>
                  <a:pt x="210" y="8"/>
                  <a:pt x="220" y="12"/>
                </a:cubicBezTo>
                <a:cubicBezTo>
                  <a:pt x="229" y="16"/>
                  <a:pt x="238" y="21"/>
                  <a:pt x="247" y="27"/>
                </a:cubicBezTo>
                <a:cubicBezTo>
                  <a:pt x="256" y="33"/>
                  <a:pt x="265" y="39"/>
                  <a:pt x="272" y="47"/>
                </a:cubicBezTo>
                <a:cubicBezTo>
                  <a:pt x="280" y="54"/>
                  <a:pt x="286" y="62"/>
                  <a:pt x="292" y="71"/>
                </a:cubicBezTo>
                <a:cubicBezTo>
                  <a:pt x="298" y="79"/>
                  <a:pt x="303" y="89"/>
                  <a:pt x="307" y="98"/>
                </a:cubicBezTo>
                <a:cubicBezTo>
                  <a:pt x="311" y="108"/>
                  <a:pt x="314" y="118"/>
                  <a:pt x="316" y="128"/>
                </a:cubicBezTo>
                <a:cubicBezTo>
                  <a:pt x="318" y="138"/>
                  <a:pt x="319" y="148"/>
                  <a:pt x="319" y="159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173" name="テキスト ボックス 172"/>
          <p:cNvSpPr txBox="1"/>
          <p:nvPr/>
        </p:nvSpPr>
        <p:spPr>
          <a:xfrm>
            <a:off x="785700" y="4297590"/>
            <a:ext cx="4405052" cy="3023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altLang="en-US" sz="1965" b="1">
                <a:solidFill>
                  <a:srgbClr val="455A64"/>
                </a:solidFill>
                <a:latin typeface="HiraKakuProN-W6"/>
                <a:ea typeface="HiraKakuProN-W6"/>
              </a:rPr>
              <a:t>慣性項</a:t>
            </a:r>
            <a:r>
              <a:rPr lang="en-US" sz="1965">
                <a:solidFill>
                  <a:srgbClr val="455A64"/>
                </a:solidFill>
                <a:latin typeface="Lato"/>
                <a:ea typeface="Lato"/>
              </a:rPr>
              <a:t>: </a:t>
            </a:r>
            <a:r>
              <a:rPr lang="ja-JP" altLang="en-US" sz="1965">
                <a:solidFill>
                  <a:srgbClr val="455A64"/>
                </a:solidFill>
                <a:latin typeface="HiraKakuProN-W3"/>
                <a:ea typeface="HiraKakuProN-W3"/>
              </a:rPr>
              <a:t>現在の速度を維持（探索能⼒）</a:t>
            </a:r>
            <a:endParaRPr lang="en-US" sz="1965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174" name="フリーフォーム 173"/>
          <p:cNvSpPr/>
          <p:nvPr/>
        </p:nvSpPr>
        <p:spPr>
          <a:xfrm>
            <a:off x="571320" y="5264730"/>
            <a:ext cx="86130" cy="86130"/>
          </a:xfrm>
          <a:custGeom>
            <a:avLst/>
            <a:gdLst/>
            <a:ahLst/>
            <a:cxnLst/>
            <a:rect l="0" t="0" r="r" b="b"/>
            <a:pathLst>
              <a:path w="319" h="319">
                <a:moveTo>
                  <a:pt x="319" y="160"/>
                </a:moveTo>
                <a:cubicBezTo>
                  <a:pt x="319" y="170"/>
                  <a:pt x="318" y="181"/>
                  <a:pt x="316" y="191"/>
                </a:cubicBezTo>
                <a:cubicBezTo>
                  <a:pt x="314" y="201"/>
                  <a:pt x="311" y="211"/>
                  <a:pt x="307" y="221"/>
                </a:cubicBezTo>
                <a:cubicBezTo>
                  <a:pt x="303" y="230"/>
                  <a:pt x="298" y="240"/>
                  <a:pt x="292" y="248"/>
                </a:cubicBezTo>
                <a:cubicBezTo>
                  <a:pt x="286" y="257"/>
                  <a:pt x="280" y="265"/>
                  <a:pt x="272" y="272"/>
                </a:cubicBezTo>
                <a:cubicBezTo>
                  <a:pt x="265" y="280"/>
                  <a:pt x="256" y="286"/>
                  <a:pt x="247" y="292"/>
                </a:cubicBezTo>
                <a:cubicBezTo>
                  <a:pt x="238" y="298"/>
                  <a:pt x="229" y="303"/>
                  <a:pt x="220" y="307"/>
                </a:cubicBezTo>
                <a:cubicBezTo>
                  <a:pt x="210" y="311"/>
                  <a:pt x="200" y="314"/>
                  <a:pt x="190" y="316"/>
                </a:cubicBezTo>
                <a:cubicBezTo>
                  <a:pt x="180" y="318"/>
                  <a:pt x="169" y="319"/>
                  <a:pt x="159" y="319"/>
                </a:cubicBezTo>
                <a:cubicBezTo>
                  <a:pt x="148" y="319"/>
                  <a:pt x="138" y="318"/>
                  <a:pt x="128" y="316"/>
                </a:cubicBezTo>
                <a:cubicBezTo>
                  <a:pt x="118" y="314"/>
                  <a:pt x="108" y="311"/>
                  <a:pt x="98" y="307"/>
                </a:cubicBezTo>
                <a:cubicBezTo>
                  <a:pt x="89" y="303"/>
                  <a:pt x="79" y="298"/>
                  <a:pt x="71" y="292"/>
                </a:cubicBezTo>
                <a:cubicBezTo>
                  <a:pt x="62" y="286"/>
                  <a:pt x="54" y="280"/>
                  <a:pt x="47" y="272"/>
                </a:cubicBezTo>
                <a:cubicBezTo>
                  <a:pt x="39" y="265"/>
                  <a:pt x="33" y="257"/>
                  <a:pt x="27" y="248"/>
                </a:cubicBezTo>
                <a:cubicBezTo>
                  <a:pt x="21" y="240"/>
                  <a:pt x="16" y="230"/>
                  <a:pt x="12" y="221"/>
                </a:cubicBezTo>
                <a:cubicBezTo>
                  <a:pt x="8" y="211"/>
                  <a:pt x="5" y="201"/>
                  <a:pt x="3" y="191"/>
                </a:cubicBezTo>
                <a:cubicBezTo>
                  <a:pt x="1" y="181"/>
                  <a:pt x="0" y="170"/>
                  <a:pt x="0" y="160"/>
                </a:cubicBezTo>
                <a:cubicBezTo>
                  <a:pt x="0" y="150"/>
                  <a:pt x="1" y="139"/>
                  <a:pt x="3" y="129"/>
                </a:cubicBezTo>
                <a:cubicBezTo>
                  <a:pt x="5" y="119"/>
                  <a:pt x="8" y="109"/>
                  <a:pt x="12" y="99"/>
                </a:cubicBezTo>
                <a:cubicBezTo>
                  <a:pt x="16" y="90"/>
                  <a:pt x="21" y="81"/>
                  <a:pt x="27" y="72"/>
                </a:cubicBezTo>
                <a:cubicBezTo>
                  <a:pt x="33" y="63"/>
                  <a:pt x="39" y="55"/>
                  <a:pt x="47" y="48"/>
                </a:cubicBezTo>
                <a:cubicBezTo>
                  <a:pt x="54" y="40"/>
                  <a:pt x="62" y="34"/>
                  <a:pt x="71" y="28"/>
                </a:cubicBezTo>
                <a:cubicBezTo>
                  <a:pt x="79" y="22"/>
                  <a:pt x="89" y="17"/>
                  <a:pt x="98" y="13"/>
                </a:cubicBezTo>
                <a:cubicBezTo>
                  <a:pt x="108" y="9"/>
                  <a:pt x="118" y="6"/>
                  <a:pt x="128" y="4"/>
                </a:cubicBezTo>
                <a:cubicBezTo>
                  <a:pt x="138" y="1"/>
                  <a:pt x="148" y="0"/>
                  <a:pt x="159" y="0"/>
                </a:cubicBezTo>
                <a:cubicBezTo>
                  <a:pt x="169" y="0"/>
                  <a:pt x="180" y="1"/>
                  <a:pt x="190" y="4"/>
                </a:cubicBezTo>
                <a:cubicBezTo>
                  <a:pt x="200" y="6"/>
                  <a:pt x="210" y="9"/>
                  <a:pt x="220" y="13"/>
                </a:cubicBezTo>
                <a:cubicBezTo>
                  <a:pt x="229" y="17"/>
                  <a:pt x="238" y="22"/>
                  <a:pt x="247" y="28"/>
                </a:cubicBezTo>
                <a:cubicBezTo>
                  <a:pt x="256" y="34"/>
                  <a:pt x="265" y="40"/>
                  <a:pt x="272" y="48"/>
                </a:cubicBezTo>
                <a:cubicBezTo>
                  <a:pt x="280" y="55"/>
                  <a:pt x="286" y="63"/>
                  <a:pt x="292" y="72"/>
                </a:cubicBezTo>
                <a:cubicBezTo>
                  <a:pt x="298" y="81"/>
                  <a:pt x="303" y="90"/>
                  <a:pt x="307" y="99"/>
                </a:cubicBezTo>
                <a:cubicBezTo>
                  <a:pt x="311" y="109"/>
                  <a:pt x="314" y="119"/>
                  <a:pt x="316" y="129"/>
                </a:cubicBezTo>
                <a:cubicBezTo>
                  <a:pt x="318" y="139"/>
                  <a:pt x="319" y="150"/>
                  <a:pt x="319" y="160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>
              <a:solidFill>
                <a:srgbClr val="FFFFFF"/>
              </a:solidFill>
              <a:latin typeface="ヒラギノ明朝 ProN"/>
            </a:endParaRPr>
          </a:p>
        </p:txBody>
      </p:sp>
      <p:sp>
        <p:nvSpPr>
          <p:cNvPr id="175" name="テキスト ボックス 174"/>
          <p:cNvSpPr txBox="1"/>
          <p:nvPr/>
        </p:nvSpPr>
        <p:spPr>
          <a:xfrm>
            <a:off x="785701" y="4712040"/>
            <a:ext cx="4908395" cy="3023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altLang="en-US" sz="1965" b="1">
                <a:solidFill>
                  <a:srgbClr val="455A64"/>
                </a:solidFill>
                <a:latin typeface="HiraKakuProN-W6"/>
                <a:ea typeface="HiraKakuProN-W6"/>
              </a:rPr>
              <a:t>認知成分</a:t>
            </a:r>
            <a:r>
              <a:rPr lang="en-US" sz="1965">
                <a:solidFill>
                  <a:srgbClr val="455A64"/>
                </a:solidFill>
                <a:latin typeface="Lato"/>
                <a:ea typeface="Lato"/>
              </a:rPr>
              <a:t>: </a:t>
            </a:r>
            <a:r>
              <a:rPr lang="ja-JP" altLang="en-US" sz="1965">
                <a:solidFill>
                  <a:srgbClr val="455A64"/>
                </a:solidFill>
                <a:latin typeface="HiraKakuProN-W3"/>
                <a:ea typeface="HiraKakuProN-W3"/>
              </a:rPr>
              <a:t>個体の経験への回帰（利⽤能⼒）</a:t>
            </a:r>
            <a:endParaRPr lang="en-US" sz="1965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176" name="テキスト ボックス 175"/>
          <p:cNvSpPr txBox="1"/>
          <p:nvPr/>
        </p:nvSpPr>
        <p:spPr>
          <a:xfrm>
            <a:off x="785700" y="5119200"/>
            <a:ext cx="4405052" cy="3023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altLang="en-US" sz="1965" b="1">
                <a:solidFill>
                  <a:srgbClr val="455A64"/>
                </a:solidFill>
                <a:latin typeface="HiraKakuProN-W6"/>
                <a:ea typeface="HiraKakuProN-W6"/>
              </a:rPr>
              <a:t>社会成分</a:t>
            </a:r>
            <a:r>
              <a:rPr lang="en-US" sz="1965">
                <a:solidFill>
                  <a:srgbClr val="455A64"/>
                </a:solidFill>
                <a:latin typeface="Lato"/>
                <a:ea typeface="Lato"/>
              </a:rPr>
              <a:t>: </a:t>
            </a:r>
            <a:r>
              <a:rPr lang="ja-JP" altLang="en-US" sz="1965">
                <a:solidFill>
                  <a:srgbClr val="455A64"/>
                </a:solidFill>
                <a:latin typeface="HiraKakuProN-W3"/>
                <a:ea typeface="HiraKakuProN-W3"/>
              </a:rPr>
              <a:t>群れの成功への追従（協調）</a:t>
            </a:r>
            <a:endParaRPr lang="en-US" sz="1965">
              <a:solidFill>
                <a:srgbClr val="000000"/>
              </a:solidFill>
              <a:latin typeface="ヒラギノ明朝 ProN"/>
            </a:endParaRPr>
          </a:p>
        </p:txBody>
      </p:sp>
      <p:sp>
        <p:nvSpPr>
          <p:cNvPr id="177" name="テキスト ボックス 176"/>
          <p:cNvSpPr txBox="1"/>
          <p:nvPr/>
        </p:nvSpPr>
        <p:spPr>
          <a:xfrm>
            <a:off x="8840340" y="5615460"/>
            <a:ext cx="117020" cy="24237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75">
                <a:solidFill>
                  <a:srgbClr val="455A64"/>
                </a:solidFill>
                <a:latin typeface="Lato"/>
                <a:ea typeface="Lato"/>
              </a:rPr>
              <a:t>6</a:t>
            </a:r>
            <a:endParaRPr lang="en-US" sz="1575">
              <a:solidFill>
                <a:srgbClr val="000000"/>
              </a:solidFill>
              <a:latin typeface="ヒラギノ明朝 Pro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idx="4294967295"/>
          </p:nvPr>
        </p:nvSpPr>
        <p:spPr>
          <a:xfrm>
            <a:off x="457200" y="274638"/>
            <a:ext cx="8229600" cy="490066"/>
          </a:xfrm>
        </p:spPr>
        <p:txBody>
          <a:bodyPr>
            <a:normAutofit fontScale="90000"/>
          </a:bodyPr>
          <a:lstStyle/>
          <a:p>
            <a:r>
              <a:rPr kumimoji="1" lang="ja-JP" altLang="en-US" dirty="0"/>
              <a:t>粒子の位置の更新 </a:t>
            </a:r>
            <a:r>
              <a:rPr kumimoji="1" lang="en-US" altLang="ja-JP" dirty="0"/>
              <a:t>1/2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テキスト ボックス 3"/>
              <p:cNvSpPr txBox="1"/>
              <p:nvPr/>
            </p:nvSpPr>
            <p:spPr>
              <a:xfrm>
                <a:off x="611560" y="1889781"/>
                <a:ext cx="7638053" cy="531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sz="2400" i="1" dirty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altLang="ja-JP" sz="2400" i="1">
                            <a:latin typeface="Cambria Math"/>
                          </a:rPr>
                          <m:t>𝑖𝑗</m:t>
                        </m:r>
                      </m:sub>
                      <m:sup>
                        <m:r>
                          <a:rPr lang="en-US" altLang="ja-JP" sz="2400" b="0" i="1" smtClean="0">
                            <a:latin typeface="Cambria Math"/>
                          </a:rPr>
                          <m:t>𝑡</m:t>
                        </m:r>
                        <m:r>
                          <a:rPr lang="en-US" altLang="ja-JP" sz="2400" b="0" i="1" smtClean="0">
                            <a:latin typeface="Cambria Math"/>
                          </a:rPr>
                          <m:t>+1</m:t>
                        </m:r>
                      </m:sup>
                    </m:sSubSup>
                  </m:oMath>
                </a14:m>
                <a:r>
                  <a:rPr kumimoji="1" lang="en-US" altLang="ja-JP" sz="2400" b="0" dirty="0"/>
                  <a:t>=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solidFill>
                          <a:srgbClr val="7030A0"/>
                        </a:solidFill>
                        <a:latin typeface="Cambria Math"/>
                      </a:rPr>
                      <m:t>𝑤</m:t>
                    </m:r>
                    <m:sSubSup>
                      <m:sSubSup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ja-JP" sz="2400" b="0" i="1" dirty="0" smtClean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kumimoji="1" lang="en-US" altLang="ja-JP" sz="2400" b="0" i="1" smtClean="0">
                            <a:latin typeface="Cambria Math"/>
                          </a:rPr>
                          <m:t>𝑖𝑗</m:t>
                        </m:r>
                      </m:sub>
                      <m:sup>
                        <m:r>
                          <a:rPr kumimoji="1" lang="en-US" altLang="ja-JP" sz="2400" b="0" i="1" smtClean="0">
                            <a:latin typeface="Cambria Math"/>
                          </a:rPr>
                          <m:t>𝑡</m:t>
                        </m:r>
                      </m:sup>
                    </m:sSubSup>
                    <m:r>
                      <a:rPr kumimoji="1" lang="en-US" altLang="ja-JP" sz="2400" b="0" i="1" smtClean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kumimoji="1" lang="en-US" altLang="ja-JP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400" b="0" i="1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kumimoji="1" lang="en-US" altLang="ja-JP" sz="2400" b="0" i="1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kumimoji="1" lang="en-US" altLang="ja-JP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𝑟𝑎𝑛𝑑</m:t>
                        </m:r>
                      </m:e>
                      <m:sub>
                        <m:r>
                          <a:rPr kumimoji="1" lang="en-US" altLang="ja-JP" sz="24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1</m:t>
                        </m:r>
                        <m:r>
                          <a:rPr kumimoji="1" lang="en-US" altLang="ja-JP" sz="24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𝑖𝑗</m:t>
                        </m:r>
                      </m:sub>
                    </m:sSub>
                    <m:d>
                      <m:d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kumimoji="1" lang="en-US" altLang="ja-JP" sz="2400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ja-JP" sz="2400" b="0" i="1" smtClean="0">
                                <a:latin typeface="Cambria Math"/>
                              </a:rPr>
                              <m:t>𝑖𝑗</m:t>
                            </m:r>
                          </m:sub>
                          <m:sup>
                            <m:r>
                              <a:rPr kumimoji="1" lang="en-US" altLang="ja-JP" sz="2400" b="0" i="1" smtClean="0">
                                <a:latin typeface="Cambria Math"/>
                              </a:rPr>
                              <m:t>∗</m:t>
                            </m:r>
                          </m:sup>
                        </m:sSubSup>
                        <m:r>
                          <a:rPr kumimoji="1" lang="en-US" altLang="ja-JP" sz="2400" b="0" i="1" smtClean="0">
                            <a:latin typeface="Cambria Math"/>
                          </a:rPr>
                          <m:t>−</m:t>
                        </m:r>
                        <m:sSubSup>
                          <m:sSubSupPr>
                            <m:ctrlP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kumimoji="1" lang="en-US" altLang="ja-JP" sz="2400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ja-JP" sz="2400" b="0" i="1" smtClean="0">
                                <a:latin typeface="Cambria Math"/>
                              </a:rPr>
                              <m:t>𝑖𝑗</m:t>
                            </m:r>
                          </m:sub>
                          <m:sup>
                            <m:r>
                              <a:rPr kumimoji="1" lang="en-US" altLang="ja-JP" sz="2400" b="0" i="1" smtClean="0">
                                <a:latin typeface="Cambria Math"/>
                              </a:rPr>
                              <m:t>𝑡</m:t>
                            </m:r>
                          </m:sup>
                        </m:sSubSup>
                      </m:e>
                    </m:d>
                    <m:r>
                      <a:rPr kumimoji="1" lang="en-US" altLang="ja-JP" sz="2400" b="0" i="1" smtClean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altLang="ja-JP" sz="24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solidFill>
                              <a:srgbClr val="7030A0"/>
                            </a:solidFill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altLang="ja-JP" sz="2400" b="0" i="1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ja-JP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𝑟𝑎𝑛𝑑</m:t>
                        </m:r>
                      </m:e>
                      <m:sub>
                        <m:r>
                          <a:rPr lang="en-US" altLang="ja-JP" sz="24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2</m:t>
                        </m:r>
                        <m:r>
                          <a:rPr lang="en-US" altLang="ja-JP" sz="24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𝑖𝑗</m:t>
                        </m:r>
                      </m:sub>
                    </m:sSub>
                    <m:d>
                      <m:d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400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/>
                              </a:rPr>
                              <m:t>𝐺</m:t>
                            </m:r>
                            <m:r>
                              <a:rPr lang="en-US" altLang="ja-JP" sz="2400" i="1">
                                <a:latin typeface="Cambria Math"/>
                              </a:rPr>
                              <m:t>𝑗</m:t>
                            </m:r>
                          </m:sub>
                          <m:sup>
                            <m:r>
                              <a:rPr lang="en-US" altLang="ja-JP" sz="2400" i="1">
                                <a:latin typeface="Cambria Math"/>
                              </a:rPr>
                              <m:t>∗</m:t>
                            </m:r>
                          </m:sup>
                        </m:sSubSup>
                        <m:r>
                          <a:rPr lang="en-US" altLang="ja-JP" sz="2400" i="1">
                            <a:latin typeface="Cambria Math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400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/>
                              </a:rPr>
                              <m:t>𝑖𝑗</m:t>
                            </m:r>
                          </m:sub>
                          <m:sup>
                            <m:r>
                              <a:rPr lang="en-US" altLang="ja-JP" sz="2400" b="0" i="1" smtClean="0">
                                <a:latin typeface="Cambria Math"/>
                              </a:rPr>
                              <m:t>𝑡</m:t>
                            </m:r>
                          </m:sup>
                        </m:sSubSup>
                      </m:e>
                    </m:d>
                  </m:oMath>
                </a14:m>
                <a:endParaRPr kumimoji="1" lang="ja-JP" altLang="en-US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4" name="テキスト ボックス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1889781"/>
                <a:ext cx="7638053" cy="531107"/>
              </a:xfrm>
              <a:prstGeom prst="rect">
                <a:avLst/>
              </a:prstGeom>
              <a:blipFill>
                <a:blip r:embed="rId3"/>
                <a:stretch>
                  <a:fillRect t="-3448" b="-1839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正方形/長方形 4"/>
              <p:cNvSpPr/>
              <p:nvPr/>
            </p:nvSpPr>
            <p:spPr>
              <a:xfrm>
                <a:off x="251520" y="3571441"/>
                <a:ext cx="8892480" cy="73257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𝑟𝑎𝑛𝑑</m:t>
                        </m:r>
                      </m:e>
                      <m:sub>
                        <m:r>
                          <a:rPr lang="en-US" altLang="ja-JP" sz="2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1</m:t>
                        </m:r>
                        <m:r>
                          <a:rPr lang="en-US" altLang="ja-JP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altLang="ja-JP" sz="2000" b="0" i="1" dirty="0">
                    <a:latin typeface="+mj-lt"/>
                  </a:rPr>
                  <a:t> </a:t>
                </a:r>
                <a:r>
                  <a:rPr lang="ja-JP" altLang="en-US" sz="2000" dirty="0">
                    <a:latin typeface="+mj-lt"/>
                  </a:rPr>
                  <a:t>と</a:t>
                </a:r>
                <a:r>
                  <a:rPr lang="ja-JP" altLang="en-US" sz="2000" i="1" dirty="0">
                    <a:latin typeface="+mj-lt"/>
                  </a:rPr>
                  <a:t>　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𝑟𝑎𝑛𝑑</m:t>
                        </m:r>
                      </m:e>
                      <m:sub>
                        <m:r>
                          <a:rPr lang="en-US" altLang="ja-JP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2</m:t>
                        </m:r>
                        <m:r>
                          <a:rPr lang="en-US" altLang="ja-JP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altLang="ja-JP" sz="2000" b="0" i="1" dirty="0">
                    <a:latin typeface="+mj-lt"/>
                  </a:rPr>
                  <a:t> :</a:t>
                </a:r>
                <a:r>
                  <a:rPr lang="en-US" altLang="ja-JP" sz="2000" dirty="0"/>
                  <a:t> </a:t>
                </a:r>
                <a:r>
                  <a:rPr lang="ja-JP" altLang="en-US" sz="2000" dirty="0"/>
                  <a:t>各粒子の</a:t>
                </a:r>
                <a:r>
                  <a:rPr lang="ja-JP" altLang="en-US" sz="2000" u="sng" dirty="0"/>
                  <a:t>次元毎</a:t>
                </a:r>
                <a:r>
                  <a:rPr lang="ja-JP" altLang="en-US" sz="2000" dirty="0"/>
                  <a:t>に生成される</a:t>
                </a:r>
                <a:r>
                  <a:rPr lang="en-US" altLang="ja-JP" sz="2000" dirty="0"/>
                  <a:t>[0,1]</a:t>
                </a:r>
                <a:r>
                  <a:rPr lang="ja-JP" altLang="en-US" sz="2000" dirty="0"/>
                  <a:t>の一様乱数</a:t>
                </a:r>
                <a:endParaRPr lang="en-US" altLang="ja-JP" sz="2000" dirty="0"/>
              </a:p>
              <a:p>
                <a:pPr marL="342900" indent="-342900">
                  <a:buFont typeface="Arial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ja-JP" sz="2000" i="1" smtClean="0">
                        <a:solidFill>
                          <a:srgbClr val="7030A0"/>
                        </a:solidFill>
                        <a:latin typeface="Cambria Math"/>
                      </a:rPr>
                      <m:t>𝑤</m:t>
                    </m:r>
                    <m:r>
                      <a:rPr lang="en-US" altLang="ja-JP" sz="2000" i="1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ja-JP" altLang="ja-JP" sz="20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i="1">
                            <a:solidFill>
                              <a:srgbClr val="7030A0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US" altLang="ja-JP" sz="2000" i="1">
                            <a:solidFill>
                              <a:srgbClr val="7030A0"/>
                            </a:solidFill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altLang="ja-JP" sz="2000" i="1">
                            <a:solidFill>
                              <a:srgbClr val="7030A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ja-JP" sz="2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ja-JP" sz="20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i="1">
                            <a:solidFill>
                              <a:srgbClr val="7030A0"/>
                            </a:solidFill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altLang="ja-JP" sz="2000" i="1">
                            <a:solidFill>
                              <a:srgbClr val="7030A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ja-JP" altLang="ja-JP" sz="2000" dirty="0"/>
                  <a:t>は慣性係数，認知パラメータ，社会パラメータ</a:t>
                </a:r>
                <a:endParaRPr lang="en-US" altLang="ja-JP" sz="2000" dirty="0"/>
              </a:p>
            </p:txBody>
          </p:sp>
        </mc:Choice>
        <mc:Fallback xmlns="">
          <p:sp>
            <p:nvSpPr>
              <p:cNvPr id="5" name="正方形/長方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3571441"/>
                <a:ext cx="8892480" cy="732573"/>
              </a:xfrm>
              <a:prstGeom prst="rect">
                <a:avLst/>
              </a:prstGeom>
              <a:blipFill>
                <a:blip r:embed="rId4"/>
                <a:stretch>
                  <a:fillRect l="-617" t="-7500" b="-1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正方形/長方形 6"/>
              <p:cNvSpPr/>
              <p:nvPr/>
            </p:nvSpPr>
            <p:spPr>
              <a:xfrm>
                <a:off x="611560" y="2760353"/>
                <a:ext cx="2258054" cy="5246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sz="2400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altLang="ja-JP" sz="2400" i="1">
                            <a:latin typeface="Cambria Math"/>
                          </a:rPr>
                          <m:t>𝑖𝑗</m:t>
                        </m:r>
                      </m:sub>
                      <m:sup>
                        <m:r>
                          <a:rPr lang="en-US" altLang="ja-JP" sz="2400" b="0" i="1" smtClean="0">
                            <a:latin typeface="Cambria Math"/>
                          </a:rPr>
                          <m:t>𝑡</m:t>
                        </m:r>
                        <m:r>
                          <a:rPr lang="en-US" altLang="ja-JP" sz="2400" i="1">
                            <a:latin typeface="Cambria Math"/>
                          </a:rPr>
                          <m:t>+1</m:t>
                        </m:r>
                      </m:sup>
                    </m:sSubSup>
                  </m:oMath>
                </a14:m>
                <a:r>
                  <a:rPr lang="en-US" altLang="ja-JP" sz="2400" dirty="0"/>
                  <a:t>=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sz="2400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altLang="ja-JP" sz="2400" i="1">
                            <a:latin typeface="Cambria Math"/>
                          </a:rPr>
                          <m:t>𝑖𝑗</m:t>
                        </m:r>
                      </m:sub>
                      <m:sup>
                        <m:r>
                          <a:rPr lang="en-US" altLang="ja-JP" sz="2400" b="0" i="1" smtClean="0">
                            <a:latin typeface="Cambria Math"/>
                          </a:rPr>
                          <m:t>𝑡</m:t>
                        </m:r>
                      </m:sup>
                    </m:sSubSup>
                    <m:r>
                      <a:rPr lang="en-US" altLang="ja-JP" sz="2400" b="0" i="1" smtClean="0">
                        <a:latin typeface="Cambria Math"/>
                      </a:rPr>
                      <m:t>+</m:t>
                    </m:r>
                    <m:sSubSup>
                      <m:sSub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sz="2400" i="1" dirty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altLang="ja-JP" sz="2400" i="1">
                            <a:latin typeface="Cambria Math"/>
                          </a:rPr>
                          <m:t>𝑖𝑗</m:t>
                        </m:r>
                      </m:sub>
                      <m:sup>
                        <m:r>
                          <a:rPr lang="en-US" altLang="ja-JP" sz="2400" b="0" i="1" smtClean="0">
                            <a:latin typeface="Cambria Math"/>
                          </a:rPr>
                          <m:t>𝑡</m:t>
                        </m:r>
                        <m:r>
                          <a:rPr lang="en-US" altLang="ja-JP" sz="2400" i="1">
                            <a:latin typeface="Cambria Math"/>
                          </a:rPr>
                          <m:t>+1</m:t>
                        </m:r>
                      </m:sup>
                    </m:sSubSup>
                  </m:oMath>
                </a14:m>
                <a:endParaRPr lang="ja-JP" altLang="en-US" sz="2400" dirty="0"/>
              </a:p>
            </p:txBody>
          </p:sp>
        </mc:Choice>
        <mc:Fallback xmlns="">
          <p:sp>
            <p:nvSpPr>
              <p:cNvPr id="7" name="正方形/長方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2760353"/>
                <a:ext cx="2258054" cy="524631"/>
              </a:xfrm>
              <a:prstGeom prst="rect">
                <a:avLst/>
              </a:prstGeom>
              <a:blipFill rotWithShape="1">
                <a:blip r:embed="rId5"/>
                <a:stretch>
                  <a:fillRect t="-4651" b="-1860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正方形/長方形 10"/>
              <p:cNvSpPr/>
              <p:nvPr/>
            </p:nvSpPr>
            <p:spPr>
              <a:xfrm>
                <a:off x="251520" y="1196752"/>
                <a:ext cx="8064896" cy="4678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/>
                      </a:rPr>
                      <m:t>𝑡</m:t>
                    </m:r>
                    <m:r>
                      <a:rPr lang="ja-JP" altLang="en-US" sz="2400" i="1">
                        <a:latin typeface="Cambria Math"/>
                      </a:rPr>
                      <m:t>ステップ</m:t>
                    </m:r>
                    <m:r>
                      <a:rPr lang="ja-JP" altLang="en-US" sz="2400" i="1" smtClean="0">
                        <a:latin typeface="Cambria Math"/>
                      </a:rPr>
                      <m:t>での</m:t>
                    </m:r>
                  </m:oMath>
                </a14:m>
                <a:r>
                  <a:rPr lang="en-US" altLang="ja-JP" sz="2400" dirty="0"/>
                  <a:t>,  </a:t>
                </a:r>
                <a:r>
                  <a:rPr lang="ja-JP" altLang="en-US" sz="2400" dirty="0"/>
                  <a:t>粒子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/>
                      </a:rPr>
                      <m:t>𝑖</m:t>
                    </m:r>
                  </m:oMath>
                </a14:m>
                <a:r>
                  <a:rPr lang="ja-JP" altLang="en-US" sz="2400" dirty="0"/>
                  <a:t>の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/>
                      </a:rPr>
                      <m:t>𝑗</m:t>
                    </m:r>
                  </m:oMath>
                </a14:m>
                <a:r>
                  <a:rPr lang="ja-JP" altLang="en-US" sz="2400" dirty="0"/>
                  <a:t>次元の成分の更新</a:t>
                </a:r>
              </a:p>
            </p:txBody>
          </p:sp>
        </mc:Choice>
        <mc:Fallback xmlns="">
          <p:sp>
            <p:nvSpPr>
              <p:cNvPr id="11" name="正方形/長方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1196752"/>
                <a:ext cx="8064896" cy="467885"/>
              </a:xfrm>
              <a:prstGeom prst="rect">
                <a:avLst/>
              </a:prstGeom>
              <a:blipFill rotWithShape="1">
                <a:blip r:embed="rId6"/>
                <a:stretch>
                  <a:fillRect t="-14286" b="-2987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テキスト ボックス 5"/>
          <p:cNvSpPr txBox="1"/>
          <p:nvPr/>
        </p:nvSpPr>
        <p:spPr>
          <a:xfrm>
            <a:off x="3131840" y="2564904"/>
            <a:ext cx="26436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ja-JP" dirty="0">
                <a:solidFill>
                  <a:srgbClr val="0070C0"/>
                </a:solidFill>
              </a:rPr>
              <a:t>自己の最良位置</a:t>
            </a:r>
            <a:r>
              <a:rPr lang="ja-JP" altLang="en-US" dirty="0">
                <a:solidFill>
                  <a:srgbClr val="0070C0"/>
                </a:solidFill>
              </a:rPr>
              <a:t>に向かう</a:t>
            </a:r>
            <a:endParaRPr lang="en-US" altLang="ja-JP" dirty="0">
              <a:solidFill>
                <a:srgbClr val="0070C0"/>
              </a:solidFill>
            </a:endParaRPr>
          </a:p>
          <a:p>
            <a:r>
              <a:rPr kumimoji="1" lang="ja-JP" altLang="en-US" dirty="0">
                <a:solidFill>
                  <a:srgbClr val="0070C0"/>
                </a:solidFill>
              </a:rPr>
              <a:t>ベクトル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6125588" y="2566645"/>
            <a:ext cx="264367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ja-JP" dirty="0">
                <a:solidFill>
                  <a:srgbClr val="FF0000"/>
                </a:solidFill>
              </a:rPr>
              <a:t>群れの最良位置に向か</a:t>
            </a:r>
            <a:r>
              <a:rPr lang="ja-JP" altLang="en-US" dirty="0">
                <a:solidFill>
                  <a:srgbClr val="FF0000"/>
                </a:solidFill>
              </a:rPr>
              <a:t>う</a:t>
            </a:r>
            <a:endParaRPr lang="en-US" altLang="ja-JP" dirty="0">
              <a:solidFill>
                <a:srgbClr val="FF0000"/>
              </a:solidFill>
            </a:endParaRPr>
          </a:p>
          <a:p>
            <a:r>
              <a:rPr lang="ja-JP" altLang="ja-JP" dirty="0">
                <a:solidFill>
                  <a:srgbClr val="FF0000"/>
                </a:solidFill>
              </a:rPr>
              <a:t>ベクトル</a:t>
            </a:r>
            <a:endParaRPr lang="ja-JP" altLang="en-US" dirty="0">
              <a:solidFill>
                <a:srgbClr val="FF0000"/>
              </a:solidFill>
            </a:endParaRPr>
          </a:p>
        </p:txBody>
      </p:sp>
      <p:cxnSp>
        <p:nvCxnSpPr>
          <p:cNvPr id="22" name="直線コネクタ 21"/>
          <p:cNvCxnSpPr/>
          <p:nvPr/>
        </p:nvCxnSpPr>
        <p:spPr>
          <a:xfrm>
            <a:off x="3635896" y="2492896"/>
            <a:ext cx="1224136" cy="0"/>
          </a:xfrm>
          <a:prstGeom prst="line">
            <a:avLst/>
          </a:prstGeom>
          <a:ln w="2222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/>
          <p:cNvCxnSpPr/>
          <p:nvPr/>
        </p:nvCxnSpPr>
        <p:spPr>
          <a:xfrm>
            <a:off x="6715568" y="2492896"/>
            <a:ext cx="1224136" cy="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グループ化 30"/>
          <p:cNvGrpSpPr/>
          <p:nvPr/>
        </p:nvGrpSpPr>
        <p:grpSpPr>
          <a:xfrm>
            <a:off x="3699625" y="4385181"/>
            <a:ext cx="3034524" cy="2293797"/>
            <a:chOff x="2382741" y="2483604"/>
            <a:chExt cx="5069579" cy="3832094"/>
          </a:xfrm>
        </p:grpSpPr>
        <p:cxnSp>
          <p:nvCxnSpPr>
            <p:cNvPr id="24" name="直線矢印コネクタ 23"/>
            <p:cNvCxnSpPr/>
            <p:nvPr/>
          </p:nvCxnSpPr>
          <p:spPr>
            <a:xfrm flipV="1">
              <a:off x="2890240" y="2483604"/>
              <a:ext cx="432048" cy="3168352"/>
            </a:xfrm>
            <a:prstGeom prst="straightConnector1">
              <a:avLst/>
            </a:prstGeom>
            <a:ln w="25400">
              <a:solidFill>
                <a:srgbClr val="00B0F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矢印コネクタ 24"/>
            <p:cNvCxnSpPr/>
            <p:nvPr/>
          </p:nvCxnSpPr>
          <p:spPr>
            <a:xfrm>
              <a:off x="2890240" y="5669656"/>
              <a:ext cx="2448272" cy="48635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矢印コネクタ 25"/>
            <p:cNvCxnSpPr/>
            <p:nvPr/>
          </p:nvCxnSpPr>
          <p:spPr>
            <a:xfrm flipV="1">
              <a:off x="2890240" y="4499828"/>
              <a:ext cx="3888432" cy="1169828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正方形/長方形 26"/>
                <p:cNvSpPr/>
                <p:nvPr/>
              </p:nvSpPr>
              <p:spPr>
                <a:xfrm>
                  <a:off x="2382741" y="5484380"/>
                  <a:ext cx="530530" cy="46198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ja-JP" sz="24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400" b="1" i="1">
                                <a:latin typeface="Cambria Math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/>
                              </a:rPr>
                              <m:t>𝑖</m:t>
                            </m:r>
                          </m:sub>
                          <m:sup/>
                        </m:sSubSup>
                      </m:oMath>
                    </m:oMathPara>
                  </a14:m>
                  <a:endParaRPr lang="ja-JP" altLang="en-US" dirty="0"/>
                </a:p>
              </p:txBody>
            </p:sp>
          </mc:Choice>
          <mc:Fallback xmlns="">
            <p:sp>
              <p:nvSpPr>
                <p:cNvPr id="27" name="正方形/長方形 2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82741" y="5484380"/>
                  <a:ext cx="530530" cy="461986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r="-34615" b="-75556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正方形/長方形 27"/>
                <p:cNvSpPr/>
                <p:nvPr/>
              </p:nvSpPr>
              <p:spPr>
                <a:xfrm>
                  <a:off x="2444775" y="2589637"/>
                  <a:ext cx="553292" cy="4619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ja-JP" sz="24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400" b="1" i="1">
                                <a:latin typeface="Cambria Math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ja-JP" sz="2400" i="1">
                                <a:latin typeface="Cambria Math"/>
                              </a:rPr>
                              <m:t>∗</m:t>
                            </m:r>
                          </m:sup>
                        </m:sSubSup>
                      </m:oMath>
                    </m:oMathPara>
                  </a14:m>
                  <a:endParaRPr lang="ja-JP" altLang="en-US" sz="2400" dirty="0"/>
                </a:p>
              </p:txBody>
            </p:sp>
          </mc:Choice>
          <mc:Fallback xmlns="">
            <p:sp>
              <p:nvSpPr>
                <p:cNvPr id="28" name="正方形/長方形 2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44775" y="2589637"/>
                  <a:ext cx="553292" cy="461920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r="-31481" b="-75556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正方形/長方形 28"/>
                <p:cNvSpPr/>
                <p:nvPr/>
              </p:nvSpPr>
              <p:spPr>
                <a:xfrm>
                  <a:off x="6850680" y="4211796"/>
                  <a:ext cx="601640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ja-JP" sz="24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400" b="1" i="1">
                                <a:latin typeface="Cambria Math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/>
                              </a:rPr>
                              <m:t>𝐺</m:t>
                            </m:r>
                          </m:sub>
                          <m:sup>
                            <m:r>
                              <a:rPr lang="en-US" altLang="ja-JP" sz="2400" i="1">
                                <a:latin typeface="Cambria Math"/>
                              </a:rPr>
                              <m:t>∗</m:t>
                            </m:r>
                          </m:sup>
                        </m:sSubSup>
                      </m:oMath>
                    </m:oMathPara>
                  </a14:m>
                  <a:endParaRPr lang="ja-JP" altLang="en-US" sz="2400" dirty="0"/>
                </a:p>
              </p:txBody>
            </p:sp>
          </mc:Choice>
          <mc:Fallback xmlns="">
            <p:sp>
              <p:nvSpPr>
                <p:cNvPr id="29" name="正方形/長方形 2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50680" y="4211796"/>
                  <a:ext cx="601640" cy="461665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r="-35593" b="-7333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正方形/長方形 29"/>
                <p:cNvSpPr/>
                <p:nvPr/>
              </p:nvSpPr>
              <p:spPr>
                <a:xfrm>
                  <a:off x="5292080" y="5946045"/>
                  <a:ext cx="450059" cy="36965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ja-JP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b="1" i="1" smtClean="0">
                                <a:latin typeface="Cambria Math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ja-JP" b="0" i="1" smtClean="0">
                                <a:latin typeface="Cambria Math"/>
                              </a:rPr>
                              <m:t>𝑖</m:t>
                            </m:r>
                          </m:sub>
                          <m:sup/>
                        </m:sSubSup>
                      </m:oMath>
                    </m:oMathPara>
                  </a14:m>
                  <a:endParaRPr lang="ja-JP" altLang="en-US" dirty="0"/>
                </a:p>
              </p:txBody>
            </p:sp>
          </mc:Choice>
          <mc:Fallback xmlns="">
            <p:sp>
              <p:nvSpPr>
                <p:cNvPr id="30" name="正方形/長方形 2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2080" y="5946045"/>
                  <a:ext cx="450059" cy="369653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r="-31818" b="-7027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正方形/長方形 2"/>
              <p:cNvSpPr/>
              <p:nvPr/>
            </p:nvSpPr>
            <p:spPr>
              <a:xfrm>
                <a:off x="2836958" y="4540478"/>
                <a:ext cx="8924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i="1" dirty="0">
                          <a:latin typeface="Cambria Math"/>
                        </a:rPr>
                        <m:t>𝑝𝑏𝑒𝑠𝑡</m:t>
                      </m:r>
                      <m:r>
                        <a:rPr lang="en-US" altLang="ja-JP" i="1" baseline="-25000" dirty="0" err="1">
                          <a:latin typeface="Cambria Math"/>
                        </a:rPr>
                        <m:t>𝑖</m:t>
                      </m:r>
                      <m:r>
                        <a:rPr lang="en-US" altLang="ja-JP" i="1" baseline="-25000" dirty="0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ja-JP" altLang="en-US" dirty="0"/>
              </a:p>
            </p:txBody>
          </p:sp>
        </mc:Choice>
        <mc:Fallback xmlns="">
          <p:sp>
            <p:nvSpPr>
              <p:cNvPr id="3" name="正方形/長方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6958" y="4540478"/>
                <a:ext cx="892487" cy="369332"/>
              </a:xfrm>
              <a:prstGeom prst="rect">
                <a:avLst/>
              </a:prstGeom>
              <a:blipFill rotWithShape="1">
                <a:blip r:embed="rId11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正方形/長方形 8"/>
              <p:cNvSpPr/>
              <p:nvPr/>
            </p:nvSpPr>
            <p:spPr>
              <a:xfrm>
                <a:off x="6881392" y="5757492"/>
                <a:ext cx="82189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b="0" i="1" dirty="0" smtClean="0">
                          <a:latin typeface="Cambria Math"/>
                        </a:rPr>
                        <m:t>𝑔𝑏𝑒𝑠𝑡</m:t>
                      </m:r>
                    </m:oMath>
                  </m:oMathPara>
                </a14:m>
                <a:endParaRPr lang="ja-JP" altLang="en-US" dirty="0"/>
              </a:p>
            </p:txBody>
          </p:sp>
        </mc:Choice>
        <mc:Fallback xmlns="">
          <p:sp>
            <p:nvSpPr>
              <p:cNvPr id="9" name="正方形/長方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1392" y="5757492"/>
                <a:ext cx="821892" cy="369332"/>
              </a:xfrm>
              <a:prstGeom prst="rect">
                <a:avLst/>
              </a:prstGeom>
              <a:blipFill rotWithShape="1">
                <a:blip r:embed="rId12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スライド番号プレースホルダー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D5F38-347F-4466-AB9F-04B1B3000A8E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7257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線矢印コネクタ 2"/>
          <p:cNvCxnSpPr/>
          <p:nvPr/>
        </p:nvCxnSpPr>
        <p:spPr>
          <a:xfrm flipV="1">
            <a:off x="2723723" y="2483604"/>
            <a:ext cx="432048" cy="3168352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線矢印コネクタ 3"/>
          <p:cNvCxnSpPr/>
          <p:nvPr/>
        </p:nvCxnSpPr>
        <p:spPr>
          <a:xfrm>
            <a:off x="2723723" y="5669656"/>
            <a:ext cx="2448272" cy="486356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矢印コネクタ 6"/>
          <p:cNvCxnSpPr/>
          <p:nvPr/>
        </p:nvCxnSpPr>
        <p:spPr>
          <a:xfrm flipV="1">
            <a:off x="2723723" y="4499828"/>
            <a:ext cx="3888432" cy="116982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正方形/長方形 9"/>
              <p:cNvSpPr/>
              <p:nvPr/>
            </p:nvSpPr>
            <p:spPr>
              <a:xfrm>
                <a:off x="2216224" y="5484380"/>
                <a:ext cx="530530" cy="4619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ja-JP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sz="2400" b="1" i="1">
                              <a:latin typeface="Cambria Math"/>
                            </a:rPr>
                            <m:t>𝒙</m:t>
                          </m:r>
                        </m:e>
                        <m:sub>
                          <m:r>
                            <a:rPr lang="en-US" altLang="ja-JP" sz="2400" b="0" i="1" smtClean="0">
                              <a:latin typeface="Cambria Math"/>
                            </a:rPr>
                            <m:t>𝑖</m:t>
                          </m:r>
                        </m:sub>
                        <m:sup/>
                      </m:sSubSup>
                    </m:oMath>
                  </m:oMathPara>
                </a14:m>
                <a:endParaRPr lang="ja-JP" altLang="en-US" dirty="0"/>
              </a:p>
            </p:txBody>
          </p:sp>
        </mc:Choice>
        <mc:Fallback xmlns="">
          <p:sp>
            <p:nvSpPr>
              <p:cNvPr id="10" name="正方形/長方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6224" y="5484380"/>
                <a:ext cx="530530" cy="46198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正方形/長方形 11"/>
              <p:cNvSpPr/>
              <p:nvPr/>
            </p:nvSpPr>
            <p:spPr>
              <a:xfrm>
                <a:off x="2544263" y="2298938"/>
                <a:ext cx="553293" cy="4619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ja-JP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sz="2400" b="1" i="1">
                              <a:latin typeface="Cambria Math"/>
                            </a:rPr>
                            <m:t>𝒙</m:t>
                          </m:r>
                        </m:e>
                        <m:sub>
                          <m:r>
                            <a:rPr lang="en-US" altLang="ja-JP" sz="2400" b="0" i="1" smtClean="0">
                              <a:latin typeface="Cambria Math"/>
                            </a:rPr>
                            <m:t>𝑖</m:t>
                          </m:r>
                        </m:sub>
                        <m:sup>
                          <m:r>
                            <a:rPr lang="en-US" altLang="ja-JP" sz="2400" i="1">
                              <a:latin typeface="Cambria Math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ja-JP" altLang="en-US" sz="2400" dirty="0"/>
              </a:p>
            </p:txBody>
          </p:sp>
        </mc:Choice>
        <mc:Fallback xmlns="">
          <p:sp>
            <p:nvSpPr>
              <p:cNvPr id="12" name="正方形/長方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4263" y="2298938"/>
                <a:ext cx="553293" cy="461921"/>
              </a:xfrm>
              <a:prstGeom prst="rect">
                <a:avLst/>
              </a:prstGeom>
              <a:blipFill rotWithShape="0">
                <a:blip r:embed="rId4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正方形/長方形 12"/>
              <p:cNvSpPr/>
              <p:nvPr/>
            </p:nvSpPr>
            <p:spPr>
              <a:xfrm>
                <a:off x="6684163" y="4211796"/>
                <a:ext cx="60164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ja-JP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sz="2400" b="1" i="1">
                              <a:latin typeface="Cambria Math"/>
                            </a:rPr>
                            <m:t>𝒙</m:t>
                          </m:r>
                        </m:e>
                        <m:sub>
                          <m:r>
                            <a:rPr lang="en-US" altLang="ja-JP" sz="2400" b="0" i="1" smtClean="0">
                              <a:latin typeface="Cambria Math"/>
                            </a:rPr>
                            <m:t>𝐺</m:t>
                          </m:r>
                        </m:sub>
                        <m:sup>
                          <m:r>
                            <a:rPr lang="en-US" altLang="ja-JP" sz="2400" i="1">
                              <a:latin typeface="Cambria Math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ja-JP" altLang="en-US" sz="2400" dirty="0"/>
              </a:p>
            </p:txBody>
          </p:sp>
        </mc:Choice>
        <mc:Fallback xmlns="">
          <p:sp>
            <p:nvSpPr>
              <p:cNvPr id="13" name="正方形/長方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4163" y="4211796"/>
                <a:ext cx="601640" cy="461665"/>
              </a:xfrm>
              <a:prstGeom prst="rect">
                <a:avLst/>
              </a:prstGeom>
              <a:blipFill rotWithShape="0">
                <a:blip r:embed="rId5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直線矢印コネクタ 15"/>
          <p:cNvCxnSpPr/>
          <p:nvPr/>
        </p:nvCxnSpPr>
        <p:spPr>
          <a:xfrm>
            <a:off x="2723723" y="5669656"/>
            <a:ext cx="1723309" cy="342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矢印コネクタ 22"/>
          <p:cNvCxnSpPr/>
          <p:nvPr/>
        </p:nvCxnSpPr>
        <p:spPr>
          <a:xfrm flipV="1">
            <a:off x="1021107" y="1763524"/>
            <a:ext cx="0" cy="489654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/>
          <p:cNvCxnSpPr/>
          <p:nvPr/>
        </p:nvCxnSpPr>
        <p:spPr>
          <a:xfrm>
            <a:off x="706808" y="6300028"/>
            <a:ext cx="7480448" cy="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テキスト ボックス 25"/>
              <p:cNvSpPr txBox="1"/>
              <p:nvPr/>
            </p:nvSpPr>
            <p:spPr>
              <a:xfrm>
                <a:off x="7771157" y="6372036"/>
                <a:ext cx="52982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i="1" dirty="0" smtClean="0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kumimoji="1" lang="en-US" altLang="ja-JP" i="1" dirty="0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kumimoji="1" lang="en-US" altLang="ja-JP" i="1" dirty="0" smtClean="0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26" name="テキスト ボックス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1157" y="6372036"/>
                <a:ext cx="529825" cy="36933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正方形/長方形 26"/>
              <p:cNvSpPr/>
              <p:nvPr/>
            </p:nvSpPr>
            <p:spPr>
              <a:xfrm>
                <a:off x="467544" y="1898248"/>
                <a:ext cx="48385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 dirty="0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lang="en-US" altLang="ja-JP" b="0" i="1" dirty="0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ja-JP" altLang="en-US" dirty="0"/>
              </a:p>
            </p:txBody>
          </p:sp>
        </mc:Choice>
        <mc:Fallback xmlns="">
          <p:sp>
            <p:nvSpPr>
              <p:cNvPr id="27" name="正方形/長方形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1898248"/>
                <a:ext cx="483850" cy="36933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タイトル 28"/>
          <p:cNvSpPr>
            <a:spLocks noGrp="1"/>
          </p:cNvSpPr>
          <p:nvPr>
            <p:ph type="title" idx="4294967295"/>
          </p:nvPr>
        </p:nvSpPr>
        <p:spPr>
          <a:xfrm>
            <a:off x="457200" y="274638"/>
            <a:ext cx="8229600" cy="274042"/>
          </a:xfrm>
        </p:spPr>
        <p:txBody>
          <a:bodyPr>
            <a:noAutofit/>
          </a:bodyPr>
          <a:lstStyle/>
          <a:p>
            <a:r>
              <a:rPr lang="ja-JP" altLang="en-US" sz="3200" dirty="0"/>
              <a:t>粒子の位置の更新  </a:t>
            </a:r>
            <a:r>
              <a:rPr lang="en-US" altLang="ja-JP" sz="3200" dirty="0"/>
              <a:t>2/2</a:t>
            </a:r>
            <a:endParaRPr kumimoji="1" lang="ja-JP" altLang="en-US" sz="3200" dirty="0"/>
          </a:p>
        </p:txBody>
      </p:sp>
      <p:grpSp>
        <p:nvGrpSpPr>
          <p:cNvPr id="8" name="グループ化 7"/>
          <p:cNvGrpSpPr/>
          <p:nvPr/>
        </p:nvGrpSpPr>
        <p:grpSpPr>
          <a:xfrm>
            <a:off x="2522539" y="2198147"/>
            <a:ext cx="2649456" cy="3453809"/>
            <a:chOff x="2689056" y="2198147"/>
            <a:chExt cx="2649456" cy="3453809"/>
          </a:xfrm>
        </p:grpSpPr>
        <p:cxnSp>
          <p:nvCxnSpPr>
            <p:cNvPr id="30" name="直線矢印コネクタ 29"/>
            <p:cNvCxnSpPr/>
            <p:nvPr/>
          </p:nvCxnSpPr>
          <p:spPr>
            <a:xfrm flipH="1" flipV="1">
              <a:off x="5199142" y="2198147"/>
              <a:ext cx="139370" cy="2260096"/>
            </a:xfrm>
            <a:prstGeom prst="straightConnector1">
              <a:avLst/>
            </a:prstGeom>
            <a:ln w="19050">
              <a:solidFill>
                <a:srgbClr val="00B0F0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矢印コネクタ 33"/>
            <p:cNvCxnSpPr/>
            <p:nvPr/>
          </p:nvCxnSpPr>
          <p:spPr>
            <a:xfrm flipV="1">
              <a:off x="2689056" y="2202275"/>
              <a:ext cx="2483144" cy="1212191"/>
            </a:xfrm>
            <a:prstGeom prst="straightConnector1">
              <a:avLst/>
            </a:prstGeom>
            <a:ln w="19050">
              <a:solidFill>
                <a:srgbClr val="00B0F0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矢印コネクタ 34"/>
            <p:cNvCxnSpPr/>
            <p:nvPr/>
          </p:nvCxnSpPr>
          <p:spPr>
            <a:xfrm flipV="1">
              <a:off x="2851751" y="2198147"/>
              <a:ext cx="2320449" cy="3453809"/>
            </a:xfrm>
            <a:prstGeom prst="straightConnector1">
              <a:avLst/>
            </a:prstGeom>
            <a:ln w="28575">
              <a:solidFill>
                <a:srgbClr val="00B0F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グループ化 5"/>
          <p:cNvGrpSpPr/>
          <p:nvPr/>
        </p:nvGrpSpPr>
        <p:grpSpPr>
          <a:xfrm>
            <a:off x="2499731" y="979218"/>
            <a:ext cx="6320741" cy="4672738"/>
            <a:chOff x="2666248" y="979218"/>
            <a:chExt cx="6320741" cy="4672738"/>
          </a:xfrm>
        </p:grpSpPr>
        <p:cxnSp>
          <p:nvCxnSpPr>
            <p:cNvPr id="19" name="直線矢印コネクタ 18"/>
            <p:cNvCxnSpPr/>
            <p:nvPr/>
          </p:nvCxnSpPr>
          <p:spPr>
            <a:xfrm flipH="1" flipV="1">
              <a:off x="2666248" y="3391860"/>
              <a:ext cx="185503" cy="2260096"/>
            </a:xfrm>
            <a:prstGeom prst="straightConnector1">
              <a:avLst/>
            </a:prstGeom>
            <a:ln w="28575">
              <a:solidFill>
                <a:srgbClr val="00B0F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線矢印コネクタ 30"/>
            <p:cNvCxnSpPr/>
            <p:nvPr/>
          </p:nvCxnSpPr>
          <p:spPr>
            <a:xfrm flipV="1">
              <a:off x="2851751" y="4439765"/>
              <a:ext cx="2483144" cy="1212191"/>
            </a:xfrm>
            <a:prstGeom prst="straightConnector1">
              <a:avLst/>
            </a:prstGeom>
            <a:ln w="28575">
              <a:solidFill>
                <a:srgbClr val="00B0F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テキスト ボックス 37"/>
                <p:cNvSpPr txBox="1"/>
                <p:nvPr/>
              </p:nvSpPr>
              <p:spPr>
                <a:xfrm>
                  <a:off x="5376064" y="979218"/>
                  <a:ext cx="3610925" cy="1062278"/>
                </a:xfrm>
                <a:prstGeom prst="rect">
                  <a:avLst/>
                </a:prstGeom>
                <a:noFill/>
                <a:ln>
                  <a:solidFill>
                    <a:srgbClr val="00B0F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ja-JP" sz="2000" dirty="0">
                      <a:solidFill>
                        <a:srgbClr val="00B0F0"/>
                      </a:solidFill>
                    </a:rPr>
                    <a:t>p</a:t>
                  </a:r>
                  <a:r>
                    <a:rPr kumimoji="1" lang="en-US" altLang="ja-JP" sz="2000" dirty="0" err="1">
                      <a:solidFill>
                        <a:srgbClr val="00B0F0"/>
                      </a:solidFill>
                    </a:rPr>
                    <a:t>best</a:t>
                  </a:r>
                  <a:r>
                    <a:rPr kumimoji="1" lang="ja-JP" altLang="en-US" sz="2000" dirty="0">
                      <a:solidFill>
                        <a:srgbClr val="00B0F0"/>
                      </a:solidFill>
                    </a:rPr>
                    <a:t>と</a:t>
                  </a:r>
                  <a:r>
                    <a:rPr kumimoji="1" lang="en-US" altLang="ja-JP" sz="2000" dirty="0" err="1">
                      <a:solidFill>
                        <a:srgbClr val="00B0F0"/>
                      </a:solidFill>
                    </a:rPr>
                    <a:t>gbest</a:t>
                  </a:r>
                  <a:r>
                    <a:rPr kumimoji="1" lang="ja-JP" altLang="en-US" sz="2000" dirty="0">
                      <a:solidFill>
                        <a:srgbClr val="00B0F0"/>
                      </a:solidFill>
                    </a:rPr>
                    <a:t>へ向かうベクトルは</a:t>
                  </a:r>
                  <a:endParaRPr kumimoji="1" lang="en-US" altLang="ja-JP" sz="2000" dirty="0">
                    <a:solidFill>
                      <a:srgbClr val="00B0F0"/>
                    </a:solidFill>
                  </a:endParaRPr>
                </a:p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ja-JP" sz="200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000" b="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d>
                            <m:dPr>
                              <m:begChr m:val="{"/>
                              <m:endChr m:val="}"/>
                              <m:ctrlPr>
                                <a:rPr lang="en-US" altLang="ja-JP" sz="2000" i="1" dirty="0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sz="2000" i="1" dirty="0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1,2</m:t>
                              </m:r>
                            </m:e>
                          </m:d>
                        </m:sub>
                      </m:sSub>
                    </m:oMath>
                  </a14:m>
                  <a:r>
                    <a:rPr kumimoji="1" lang="ja-JP" altLang="en-US" sz="2000" dirty="0">
                      <a:solidFill>
                        <a:srgbClr val="00B0F0"/>
                      </a:solidFill>
                      <a:latin typeface="Cambria Math"/>
                    </a:rPr>
                    <a:t>倍</a:t>
                  </a:r>
                  <a:r>
                    <a:rPr kumimoji="1" lang="ja-JP" altLang="en-US" sz="2000" i="1" dirty="0">
                      <a:solidFill>
                        <a:srgbClr val="00B0F0"/>
                      </a:solidFill>
                      <a:latin typeface="Cambria Math"/>
                    </a:rPr>
                    <a:t>されて</a:t>
                  </a:r>
                  <a:r>
                    <a:rPr kumimoji="1" lang="en-US" altLang="ja-JP" sz="2000" i="1" dirty="0">
                      <a:solidFill>
                        <a:srgbClr val="00B0F0"/>
                      </a:solidFill>
                      <a:latin typeface="Cambria Math"/>
                    </a:rPr>
                    <a:t> </a:t>
                  </a:r>
                </a:p>
                <a:p>
                  <a14:m>
                    <m:oMath xmlns:m="http://schemas.openxmlformats.org/officeDocument/2006/math">
                      <m:r>
                        <a:rPr kumimoji="1" lang="en-US" altLang="ja-JP" sz="2000" i="1" dirty="0" smtClean="0">
                          <a:solidFill>
                            <a:srgbClr val="00B0F0"/>
                          </a:solidFill>
                          <a:latin typeface="Cambria Math"/>
                        </a:rPr>
                        <m:t>𝑟𝑎𝑛</m:t>
                      </m:r>
                      <m:sSub>
                        <m:sSubPr>
                          <m:ctrlPr>
                            <a:rPr kumimoji="1" lang="en-US" altLang="ja-JP" sz="2000" b="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000" i="1" dirty="0" smtClean="0">
                              <a:solidFill>
                                <a:srgbClr val="00B0F0"/>
                              </a:solidFill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sz="2000" b="0" i="1" dirty="0" smtClean="0">
                              <a:solidFill>
                                <a:srgbClr val="00B0F0"/>
                              </a:solidFill>
                              <a:latin typeface="Cambria Math"/>
                            </a:rPr>
                            <m:t>𝑖𝑗</m:t>
                          </m:r>
                        </m:sub>
                      </m:sSub>
                    </m:oMath>
                  </a14:m>
                  <a:r>
                    <a:rPr kumimoji="1" lang="ja-JP" altLang="en-US" sz="2000" dirty="0">
                      <a:solidFill>
                        <a:srgbClr val="00B0F0"/>
                      </a:solidFill>
                    </a:rPr>
                    <a:t>により摂動が加えられる</a:t>
                  </a:r>
                </a:p>
              </p:txBody>
            </p:sp>
          </mc:Choice>
          <mc:Fallback xmlns="">
            <p:sp>
              <p:nvSpPr>
                <p:cNvPr id="38" name="テキスト ボックス 3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76064" y="979218"/>
                  <a:ext cx="3610925" cy="1062278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 l="-1684" t="-4545" r="-1178" b="-5114"/>
                  </a:stretch>
                </a:blipFill>
                <a:ln>
                  <a:solidFill>
                    <a:srgbClr val="00B0F0"/>
                  </a:solidFill>
                </a:ln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正方形/長方形 50"/>
              <p:cNvSpPr/>
              <p:nvPr/>
            </p:nvSpPr>
            <p:spPr>
              <a:xfrm>
                <a:off x="235791" y="836712"/>
                <a:ext cx="4572000" cy="750462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ja-JP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i="1" dirty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altLang="ja-JP" i="1">
                            <a:latin typeface="Cambria Math"/>
                          </a:rPr>
                          <m:t>𝑖𝑗</m:t>
                        </m:r>
                      </m:sub>
                      <m:sup>
                        <m:r>
                          <a:rPr lang="en-US" altLang="ja-JP" i="1">
                            <a:latin typeface="Cambria Math"/>
                          </a:rPr>
                          <m:t>𝑡</m:t>
                        </m:r>
                        <m:r>
                          <a:rPr lang="en-US" altLang="ja-JP" i="1">
                            <a:latin typeface="Cambria Math"/>
                          </a:rPr>
                          <m:t>+1</m:t>
                        </m:r>
                      </m:sup>
                    </m:sSubSup>
                  </m:oMath>
                </a14:m>
                <a:r>
                  <a:rPr lang="en-US" altLang="ja-JP" dirty="0"/>
                  <a:t>=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/>
                      </a:rPr>
                      <m:t>𝑤</m:t>
                    </m:r>
                    <m:sSubSup>
                      <m:sSub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i="1" dirty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altLang="ja-JP" i="1">
                            <a:latin typeface="Cambria Math"/>
                          </a:rPr>
                          <m:t>𝑖𝑗</m:t>
                        </m:r>
                      </m:sub>
                      <m:sup>
                        <m:r>
                          <a:rPr lang="en-US" altLang="ja-JP" i="1">
                            <a:latin typeface="Cambria Math"/>
                          </a:rPr>
                          <m:t>𝑡</m:t>
                        </m:r>
                      </m:sup>
                    </m:sSubSup>
                    <m:r>
                      <a:rPr lang="en-US" altLang="ja-JP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altLang="ja-JP" i="1">
                            <a:latin typeface="Cambria Math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/>
                          </a:rPr>
                          <m:t>𝑟𝑎𝑛𝑑</m:t>
                        </m:r>
                      </m:e>
                      <m:sub>
                        <m:r>
                          <a:rPr lang="en-US" altLang="ja-JP" i="1">
                            <a:latin typeface="Cambria Math"/>
                          </a:rPr>
                          <m:t>1</m:t>
                        </m:r>
                        <m:r>
                          <a:rPr lang="en-US" altLang="ja-JP" i="1">
                            <a:latin typeface="Cambria Math"/>
                          </a:rPr>
                          <m:t>𝑖𝑗</m:t>
                        </m:r>
                      </m:sub>
                    </m:sSub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/>
                              </a:rPr>
                              <m:t>𝑖𝑗</m:t>
                            </m:r>
                          </m:sub>
                          <m:sup>
                            <m:r>
                              <a:rPr lang="en-US" altLang="ja-JP" i="1">
                                <a:latin typeface="Cambria Math"/>
                              </a:rPr>
                              <m:t>∗</m:t>
                            </m:r>
                          </m:sup>
                        </m:sSubSup>
                        <m:r>
                          <a:rPr lang="en-US" altLang="ja-JP" i="1">
                            <a:latin typeface="Cambria Math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/>
                              </a:rPr>
                              <m:t>𝑖𝑗</m:t>
                            </m:r>
                          </m:sub>
                          <m:sup>
                            <m:r>
                              <a:rPr lang="en-US" altLang="ja-JP" i="1">
                                <a:latin typeface="Cambria Math"/>
                              </a:rPr>
                              <m:t>𝑡</m:t>
                            </m:r>
                          </m:sup>
                        </m:sSubSup>
                      </m:e>
                    </m:d>
                  </m:oMath>
                </a14:m>
                <a:endParaRPr lang="en-US" altLang="ja-JP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altLang="ja-JP" i="1">
                              <a:latin typeface="Cambria Math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/>
                            </a:rPr>
                            <m:t>𝑟𝑎𝑛𝑑</m:t>
                          </m:r>
                        </m:e>
                        <m:sub>
                          <m:r>
                            <a:rPr lang="en-US" altLang="ja-JP" i="1">
                              <a:latin typeface="Cambria Math"/>
                            </a:rPr>
                            <m:t>2</m:t>
                          </m:r>
                          <m:r>
                            <a:rPr lang="en-US" altLang="ja-JP" i="1">
                              <a:latin typeface="Cambria Math"/>
                            </a:rPr>
                            <m:t>𝑖𝑗</m:t>
                          </m:r>
                        </m:sub>
                      </m:sSub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ja-JP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/>
                                </a:rPr>
                                <m:t>𝐺𝑗</m:t>
                              </m:r>
                            </m:sub>
                            <m:sup>
                              <m:r>
                                <a:rPr lang="en-US" altLang="ja-JP" i="1">
                                  <a:latin typeface="Cambria Math"/>
                                </a:rPr>
                                <m:t>∗</m:t>
                              </m:r>
                            </m:sup>
                          </m:sSubSup>
                          <m:r>
                            <a:rPr lang="en-US" altLang="ja-JP" i="1">
                              <a:latin typeface="Cambria Math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ja-JP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/>
                                </a:rPr>
                                <m:t>𝑖𝑗</m:t>
                              </m:r>
                            </m:sub>
                            <m:sup>
                              <m:r>
                                <a:rPr lang="en-US" altLang="ja-JP" i="1">
                                  <a:latin typeface="Cambria Math"/>
                                </a:rPr>
                                <m:t>𝑡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ja-JP" altLang="en-US" dirty="0"/>
              </a:p>
            </p:txBody>
          </p:sp>
        </mc:Choice>
        <mc:Fallback xmlns="">
          <p:sp>
            <p:nvSpPr>
              <p:cNvPr id="51" name="正方形/長方形 5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791" y="836712"/>
                <a:ext cx="4572000" cy="750462"/>
              </a:xfrm>
              <a:prstGeom prst="rect">
                <a:avLst/>
              </a:prstGeom>
              <a:blipFill rotWithShape="1">
                <a:blip r:embed="rId9"/>
                <a:stretch>
                  <a:fillRect t="-813" b="-325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グループ化 8"/>
          <p:cNvGrpSpPr/>
          <p:nvPr/>
        </p:nvGrpSpPr>
        <p:grpSpPr>
          <a:xfrm>
            <a:off x="2699792" y="2191245"/>
            <a:ext cx="6336704" cy="3820752"/>
            <a:chOff x="2851751" y="2191245"/>
            <a:chExt cx="6336704" cy="3820752"/>
          </a:xfrm>
        </p:grpSpPr>
        <p:grpSp>
          <p:nvGrpSpPr>
            <p:cNvPr id="45" name="グループ化 44"/>
            <p:cNvGrpSpPr/>
            <p:nvPr/>
          </p:nvGrpSpPr>
          <p:grpSpPr>
            <a:xfrm>
              <a:off x="2851751" y="2191245"/>
              <a:ext cx="4096513" cy="3820752"/>
              <a:chOff x="2890240" y="1409206"/>
              <a:chExt cx="4796848" cy="4473942"/>
            </a:xfrm>
          </p:grpSpPr>
          <p:cxnSp>
            <p:nvCxnSpPr>
              <p:cNvPr id="18" name="直線矢印コネクタ 17"/>
              <p:cNvCxnSpPr/>
              <p:nvPr/>
            </p:nvCxnSpPr>
            <p:spPr>
              <a:xfrm>
                <a:off x="5607390" y="1409206"/>
                <a:ext cx="1996190" cy="396549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prstDash val="sysDash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線矢印コネクタ 38"/>
              <p:cNvCxnSpPr/>
              <p:nvPr/>
            </p:nvCxnSpPr>
            <p:spPr>
              <a:xfrm flipV="1">
                <a:off x="2890240" y="1805755"/>
                <a:ext cx="4796848" cy="3639469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線矢印コネクタ 41"/>
              <p:cNvCxnSpPr/>
              <p:nvPr/>
            </p:nvCxnSpPr>
            <p:spPr>
              <a:xfrm flipV="1">
                <a:off x="4953233" y="2000716"/>
                <a:ext cx="2650347" cy="3882432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prstDash val="sysDash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テキスト ボックス 51"/>
                <p:cNvSpPr txBox="1"/>
                <p:nvPr/>
              </p:nvSpPr>
              <p:spPr>
                <a:xfrm>
                  <a:off x="6474250" y="3450010"/>
                  <a:ext cx="2714205" cy="725583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ja-JP" sz="2000" dirty="0">
                      <a:solidFill>
                        <a:srgbClr val="FF0000"/>
                      </a:solidFill>
                    </a:rPr>
                    <a:t>3</a:t>
                  </a:r>
                  <a:r>
                    <a:rPr lang="ja-JP" altLang="en-US" sz="2000" dirty="0" err="1">
                      <a:solidFill>
                        <a:srgbClr val="FF0000"/>
                      </a:solidFill>
                    </a:rPr>
                    <a:t>つの</a:t>
                  </a:r>
                  <a:r>
                    <a:rPr lang="ja-JP" altLang="en-US" sz="2000" dirty="0">
                      <a:solidFill>
                        <a:srgbClr val="FF0000"/>
                      </a:solidFill>
                    </a:rPr>
                    <a:t>ベクトルの合成が</a:t>
                  </a:r>
                  <a:endParaRPr lang="en-US" altLang="ja-JP" sz="2000" dirty="0">
                    <a:solidFill>
                      <a:srgbClr val="FF0000"/>
                    </a:solidFill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kumimoji="1" lang="en-US" altLang="ja-JP" sz="200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kumimoji="1" lang="en-US" altLang="ja-JP" sz="2000" b="1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𝒗</m:t>
                            </m:r>
                          </m:e>
                          <m:sub>
                            <m:r>
                              <a:rPr kumimoji="1" lang="en-US" altLang="ja-JP" sz="2000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𝑖</m:t>
                            </m:r>
                          </m:sub>
                          <m:sup>
                            <m:r>
                              <a:rPr kumimoji="1" lang="en-US" altLang="ja-JP" sz="2000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𝑡</m:t>
                            </m:r>
                            <m:r>
                              <a:rPr kumimoji="1" lang="en-US" altLang="ja-JP" sz="2000" b="0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+1</m:t>
                            </m:r>
                          </m:sup>
                        </m:sSubSup>
                      </m:oMath>
                    </m:oMathPara>
                  </a14:m>
                  <a:endParaRPr kumimoji="1" lang="ja-JP" altLang="en-US" sz="2000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52" name="テキスト ボックス 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74250" y="3450010"/>
                  <a:ext cx="2714205" cy="725583"/>
                </a:xfrm>
                <a:prstGeom prst="rect">
                  <a:avLst/>
                </a:prstGeom>
                <a:blipFill rotWithShape="0">
                  <a:blip r:embed="rId10"/>
                  <a:stretch>
                    <a:fillRect l="-2013" t="-6612" r="-2013" b="-826"/>
                  </a:stretch>
                </a:blipFill>
                <a:ln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正方形/長方形 52"/>
              <p:cNvSpPr/>
              <p:nvPr/>
            </p:nvSpPr>
            <p:spPr>
              <a:xfrm>
                <a:off x="3155269" y="5805264"/>
                <a:ext cx="672492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00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𝑤</m:t>
                      </m:r>
                      <m:sSub>
                        <m:sSubPr>
                          <m:ctrlPr>
                            <a:rPr lang="en-US" altLang="ja-JP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0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𝒗</m:t>
                          </m:r>
                        </m:e>
                        <m:sub>
                          <m:r>
                            <a:rPr lang="en-US" altLang="ja-JP" sz="20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ja-JP" altLang="en-US" sz="2000" b="1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3" name="正方形/長方形 5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5269" y="5805264"/>
                <a:ext cx="672492" cy="400110"/>
              </a:xfrm>
              <a:prstGeom prst="rect">
                <a:avLst/>
              </a:prstGeom>
              <a:blipFill rotWithShape="0">
                <a:blip r:embed="rId11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正方形/長方形 53"/>
              <p:cNvSpPr/>
              <p:nvPr/>
            </p:nvSpPr>
            <p:spPr>
              <a:xfrm>
                <a:off x="5125563" y="5946045"/>
                <a:ext cx="450059" cy="36965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ja-JP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b="1" i="1" smtClean="0">
                              <a:latin typeface="Cambria Math"/>
                            </a:rPr>
                            <m:t>𝒗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/>
                            </a:rPr>
                            <m:t>𝑖</m:t>
                          </m:r>
                        </m:sub>
                        <m:sup/>
                      </m:sSubSup>
                    </m:oMath>
                  </m:oMathPara>
                </a14:m>
                <a:endParaRPr lang="ja-JP" altLang="en-US" dirty="0"/>
              </a:p>
            </p:txBody>
          </p:sp>
        </mc:Choice>
        <mc:Fallback xmlns="">
          <p:sp>
            <p:nvSpPr>
              <p:cNvPr id="54" name="正方形/長方形 5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5563" y="5946045"/>
                <a:ext cx="450059" cy="369653"/>
              </a:xfrm>
              <a:prstGeom prst="rect">
                <a:avLst/>
              </a:prstGeom>
              <a:blipFill rotWithShape="0">
                <a:blip r:embed="rId12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正方形/長方形 1"/>
              <p:cNvSpPr/>
              <p:nvPr/>
            </p:nvSpPr>
            <p:spPr>
              <a:xfrm>
                <a:off x="6789257" y="2267259"/>
                <a:ext cx="2227789" cy="36984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ja-JP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b="1" i="1">
                              <a:latin typeface="Cambria Math"/>
                            </a:rPr>
                            <m:t>𝒙</m:t>
                          </m:r>
                          <m:r>
                            <a:rPr lang="ja-JP" altLang="en-US" b="1" i="1" smtClean="0">
                              <a:latin typeface="Cambria Math"/>
                            </a:rPr>
                            <m:t>’</m:t>
                          </m:r>
                        </m:e>
                        <m:sub>
                          <m:r>
                            <a:rPr lang="en-US" altLang="ja-JP" i="1">
                              <a:latin typeface="Cambria Math"/>
                            </a:rPr>
                            <m:t>𝑖</m:t>
                          </m:r>
                        </m:sub>
                        <m:sup/>
                      </m:sSubSup>
                      <m:r>
                        <a:rPr lang="ja-JP" altLang="en-US" b="0" i="1" smtClean="0">
                          <a:latin typeface="Cambria Math"/>
                        </a:rPr>
                        <m:t>：</m:t>
                      </m:r>
                      <m:r>
                        <a:rPr lang="ja-JP" altLang="en-US" i="1">
                          <a:latin typeface="Cambria Math"/>
                        </a:rPr>
                        <m:t>粒子の</m:t>
                      </m:r>
                      <m:r>
                        <a:rPr lang="ja-JP" altLang="en-US" i="1" smtClean="0">
                          <a:latin typeface="Cambria Math"/>
                        </a:rPr>
                        <m:t>移動</m:t>
                      </m:r>
                      <m:r>
                        <a:rPr lang="ja-JP" altLang="en-US" i="1">
                          <a:latin typeface="Cambria Math"/>
                        </a:rPr>
                        <m:t>位置</m:t>
                      </m:r>
                    </m:oMath>
                  </m:oMathPara>
                </a14:m>
                <a:endParaRPr lang="ja-JP" altLang="en-US" dirty="0"/>
              </a:p>
            </p:txBody>
          </p:sp>
        </mc:Choice>
        <mc:Fallback xmlns="">
          <p:sp>
            <p:nvSpPr>
              <p:cNvPr id="2" name="正方形/長方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9257" y="2267259"/>
                <a:ext cx="2227789" cy="369845"/>
              </a:xfrm>
              <a:prstGeom prst="rect">
                <a:avLst/>
              </a:prstGeom>
              <a:blipFill rotWithShape="0">
                <a:blip r:embed="rId13"/>
                <a:stretch>
                  <a:fillRect r="-1918" b="-1639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>
          <a:xfrm>
            <a:off x="6614864" y="6356350"/>
            <a:ext cx="2133600" cy="365125"/>
          </a:xfrm>
        </p:spPr>
        <p:txBody>
          <a:bodyPr/>
          <a:lstStyle/>
          <a:p>
            <a:fld id="{AB8D5F38-347F-4466-AB9F-04B1B3000A8E}" type="slidenum">
              <a:rPr kumimoji="1" lang="ja-JP" altLang="en-US" smtClean="0"/>
              <a:t>15</a:t>
            </a:fld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正方形/長方形 31"/>
              <p:cNvSpPr/>
              <p:nvPr/>
            </p:nvSpPr>
            <p:spPr>
              <a:xfrm>
                <a:off x="2300510" y="2024236"/>
                <a:ext cx="8924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i="1" dirty="0">
                          <a:latin typeface="Cambria Math"/>
                        </a:rPr>
                        <m:t>𝑝𝑏𝑒𝑠𝑡</m:t>
                      </m:r>
                      <m:r>
                        <a:rPr lang="en-US" altLang="ja-JP" i="1" baseline="-25000" dirty="0" err="1">
                          <a:latin typeface="Cambria Math"/>
                        </a:rPr>
                        <m:t>𝑖</m:t>
                      </m:r>
                      <m:r>
                        <a:rPr lang="en-US" altLang="ja-JP" i="1" baseline="-25000" dirty="0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ja-JP" altLang="en-US" dirty="0"/>
              </a:p>
            </p:txBody>
          </p:sp>
        </mc:Choice>
        <mc:Fallback xmlns="">
          <p:sp>
            <p:nvSpPr>
              <p:cNvPr id="32" name="正方形/長方形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0510" y="2024236"/>
                <a:ext cx="892487" cy="369332"/>
              </a:xfrm>
              <a:prstGeom prst="rect">
                <a:avLst/>
              </a:prstGeom>
              <a:blipFill rotWithShape="0">
                <a:blip r:embed="rId1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正方形/長方形 32"/>
              <p:cNvSpPr/>
              <p:nvPr/>
            </p:nvSpPr>
            <p:spPr>
              <a:xfrm>
                <a:off x="6486768" y="4632811"/>
                <a:ext cx="82189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b="0" i="1" dirty="0" smtClean="0">
                          <a:latin typeface="Cambria Math"/>
                        </a:rPr>
                        <m:t>𝑔𝑏𝑒𝑠𝑡</m:t>
                      </m:r>
                    </m:oMath>
                  </m:oMathPara>
                </a14:m>
                <a:endParaRPr lang="ja-JP" altLang="en-US" dirty="0"/>
              </a:p>
            </p:txBody>
          </p:sp>
        </mc:Choice>
        <mc:Fallback xmlns="">
          <p:sp>
            <p:nvSpPr>
              <p:cNvPr id="33" name="正方形/長方形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6768" y="4632811"/>
                <a:ext cx="821892" cy="369332"/>
              </a:xfrm>
              <a:prstGeom prst="rect">
                <a:avLst/>
              </a:prstGeom>
              <a:blipFill rotWithShape="0">
                <a:blip r:embed="rId1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6139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線矢印コネクタ 2"/>
          <p:cNvCxnSpPr/>
          <p:nvPr/>
        </p:nvCxnSpPr>
        <p:spPr>
          <a:xfrm flipV="1">
            <a:off x="2890240" y="2483604"/>
            <a:ext cx="432048" cy="3168352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線矢印コネクタ 3"/>
          <p:cNvCxnSpPr/>
          <p:nvPr/>
        </p:nvCxnSpPr>
        <p:spPr>
          <a:xfrm>
            <a:off x="2890240" y="5669656"/>
            <a:ext cx="2448272" cy="486356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矢印コネクタ 6"/>
          <p:cNvCxnSpPr/>
          <p:nvPr/>
        </p:nvCxnSpPr>
        <p:spPr>
          <a:xfrm flipV="1">
            <a:off x="2890240" y="4499828"/>
            <a:ext cx="3888432" cy="116982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正方形/長方形 9"/>
              <p:cNvSpPr/>
              <p:nvPr/>
            </p:nvSpPr>
            <p:spPr>
              <a:xfrm>
                <a:off x="2382741" y="5484380"/>
                <a:ext cx="530530" cy="4619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ja-JP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sz="2400" b="1" i="1">
                              <a:latin typeface="Cambria Math"/>
                            </a:rPr>
                            <m:t>𝒙</m:t>
                          </m:r>
                        </m:e>
                        <m:sub>
                          <m:r>
                            <a:rPr lang="en-US" altLang="ja-JP" sz="2400" b="0" i="1" smtClean="0">
                              <a:latin typeface="Cambria Math"/>
                            </a:rPr>
                            <m:t>𝑖</m:t>
                          </m:r>
                        </m:sub>
                        <m:sup/>
                      </m:sSubSup>
                    </m:oMath>
                  </m:oMathPara>
                </a14:m>
                <a:endParaRPr lang="ja-JP" altLang="en-US" dirty="0"/>
              </a:p>
            </p:txBody>
          </p:sp>
        </mc:Choice>
        <mc:Fallback xmlns="">
          <p:sp>
            <p:nvSpPr>
              <p:cNvPr id="10" name="正方形/長方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2741" y="5484380"/>
                <a:ext cx="530530" cy="461986"/>
              </a:xfrm>
              <a:prstGeom prst="rect">
                <a:avLst/>
              </a:prstGeom>
              <a:blipFill rotWithShape="1">
                <a:blip r:embed="rId3"/>
                <a:stretch>
                  <a:fillRect b="-5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正方形/長方形 11"/>
              <p:cNvSpPr/>
              <p:nvPr/>
            </p:nvSpPr>
            <p:spPr>
              <a:xfrm>
                <a:off x="2710780" y="2298938"/>
                <a:ext cx="553293" cy="4619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ja-JP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sz="2400" b="1" i="1">
                              <a:latin typeface="Cambria Math"/>
                            </a:rPr>
                            <m:t>𝒙</m:t>
                          </m:r>
                        </m:e>
                        <m:sub>
                          <m:r>
                            <a:rPr lang="en-US" altLang="ja-JP" sz="2400" b="0" i="1" smtClean="0">
                              <a:latin typeface="Cambria Math"/>
                            </a:rPr>
                            <m:t>𝑖</m:t>
                          </m:r>
                        </m:sub>
                        <m:sup>
                          <m:r>
                            <a:rPr lang="en-US" altLang="ja-JP" sz="2400" i="1">
                              <a:latin typeface="Cambria Math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ja-JP" altLang="en-US" sz="2400" dirty="0"/>
              </a:p>
            </p:txBody>
          </p:sp>
        </mc:Choice>
        <mc:Fallback xmlns="">
          <p:sp>
            <p:nvSpPr>
              <p:cNvPr id="12" name="正方形/長方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0780" y="2298938"/>
                <a:ext cx="553293" cy="461921"/>
              </a:xfrm>
              <a:prstGeom prst="rect">
                <a:avLst/>
              </a:prstGeom>
              <a:blipFill rotWithShape="1">
                <a:blip r:embed="rId4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正方形/長方形 12"/>
              <p:cNvSpPr/>
              <p:nvPr/>
            </p:nvSpPr>
            <p:spPr>
              <a:xfrm>
                <a:off x="6850680" y="4211796"/>
                <a:ext cx="60164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ja-JP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sz="2400" b="1" i="1">
                              <a:latin typeface="Cambria Math"/>
                            </a:rPr>
                            <m:t>𝒙</m:t>
                          </m:r>
                        </m:e>
                        <m:sub>
                          <m:r>
                            <a:rPr lang="en-US" altLang="ja-JP" sz="2400" b="0" i="1" smtClean="0">
                              <a:latin typeface="Cambria Math"/>
                            </a:rPr>
                            <m:t>𝐺</m:t>
                          </m:r>
                        </m:sub>
                        <m:sup>
                          <m:r>
                            <a:rPr lang="en-US" altLang="ja-JP" sz="2400" i="1">
                              <a:latin typeface="Cambria Math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ja-JP" altLang="en-US" sz="2400" dirty="0"/>
              </a:p>
            </p:txBody>
          </p:sp>
        </mc:Choice>
        <mc:Fallback xmlns="">
          <p:sp>
            <p:nvSpPr>
              <p:cNvPr id="13" name="正方形/長方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0680" y="4211796"/>
                <a:ext cx="601640" cy="461665"/>
              </a:xfrm>
              <a:prstGeom prst="rect">
                <a:avLst/>
              </a:prstGeom>
              <a:blipFill rotWithShape="1">
                <a:blip r:embed="rId5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直線矢印コネクタ 22"/>
          <p:cNvCxnSpPr/>
          <p:nvPr/>
        </p:nvCxnSpPr>
        <p:spPr>
          <a:xfrm flipV="1">
            <a:off x="1187624" y="1763524"/>
            <a:ext cx="0" cy="489654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/>
          <p:cNvCxnSpPr/>
          <p:nvPr/>
        </p:nvCxnSpPr>
        <p:spPr>
          <a:xfrm>
            <a:off x="873325" y="6300028"/>
            <a:ext cx="7480448" cy="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テキスト ボックス 25"/>
              <p:cNvSpPr txBox="1"/>
              <p:nvPr/>
            </p:nvSpPr>
            <p:spPr>
              <a:xfrm>
                <a:off x="7937674" y="6372036"/>
                <a:ext cx="52982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i="1" dirty="0" smtClean="0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kumimoji="1" lang="en-US" altLang="ja-JP" i="1" dirty="0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kumimoji="1" lang="en-US" altLang="ja-JP" i="1" dirty="0" smtClean="0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26" name="テキスト ボックス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674" y="6372036"/>
                <a:ext cx="529825" cy="369332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正方形/長方形 26"/>
              <p:cNvSpPr/>
              <p:nvPr/>
            </p:nvSpPr>
            <p:spPr>
              <a:xfrm>
                <a:off x="634061" y="1898248"/>
                <a:ext cx="48385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 dirty="0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lang="en-US" altLang="ja-JP" b="0" i="1" dirty="0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ja-JP" altLang="en-US" dirty="0"/>
              </a:p>
            </p:txBody>
          </p:sp>
        </mc:Choice>
        <mc:Fallback xmlns="">
          <p:sp>
            <p:nvSpPr>
              <p:cNvPr id="27" name="正方形/長方形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061" y="1898248"/>
                <a:ext cx="483850" cy="369332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タイトル 28"/>
              <p:cNvSpPr>
                <a:spLocks noGrp="1"/>
              </p:cNvSpPr>
              <p:nvPr>
                <p:ph type="title" idx="4294967295"/>
              </p:nvPr>
            </p:nvSpPr>
            <p:spPr>
              <a:xfrm>
                <a:off x="457200" y="274638"/>
                <a:ext cx="8229600" cy="274042"/>
              </a:xfrm>
            </p:spPr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ja-JP" sz="3200" i="1" dirty="0" smtClean="0">
                        <a:latin typeface="Cambria Math"/>
                      </a:rPr>
                      <m:t>𝑟</m:t>
                    </m:r>
                    <m:r>
                      <a:rPr kumimoji="1" lang="en-US" altLang="ja-JP" sz="3200" i="1" dirty="0" smtClean="0">
                        <a:latin typeface="Cambria Math"/>
                      </a:rPr>
                      <m:t>𝑎𝑛𝑑</m:t>
                    </m:r>
                  </m:oMath>
                </a14:m>
                <a:r>
                  <a:rPr kumimoji="1" lang="ja-JP" altLang="en-US" sz="3200" dirty="0" err="1"/>
                  <a:t>の解</a:t>
                </a:r>
                <a:r>
                  <a:rPr kumimoji="1" lang="ja-JP" altLang="en-US" sz="3200" dirty="0"/>
                  <a:t>探索への影響</a:t>
                </a:r>
              </a:p>
            </p:txBody>
          </p:sp>
        </mc:Choice>
        <mc:Fallback xmlns="">
          <p:sp>
            <p:nvSpPr>
              <p:cNvPr id="29" name="タイトル 2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 idx="4294967295"/>
              </p:nvPr>
            </p:nvSpPr>
            <p:spPr>
              <a:xfrm>
                <a:off x="457200" y="274638"/>
                <a:ext cx="8229600" cy="274042"/>
              </a:xfrm>
              <a:blipFill rotWithShape="1">
                <a:blip r:embed="rId8"/>
                <a:stretch>
                  <a:fillRect t="-95556" b="-11777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正方形/長方形 50"/>
              <p:cNvSpPr/>
              <p:nvPr/>
            </p:nvSpPr>
            <p:spPr>
              <a:xfrm>
                <a:off x="235791" y="836712"/>
                <a:ext cx="4572000" cy="750462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ja-JP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i="1" dirty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altLang="ja-JP" i="1">
                            <a:latin typeface="Cambria Math"/>
                          </a:rPr>
                          <m:t>𝑖𝑗</m:t>
                        </m:r>
                      </m:sub>
                      <m:sup>
                        <m:r>
                          <a:rPr lang="en-US" altLang="ja-JP" i="1">
                            <a:latin typeface="Cambria Math"/>
                          </a:rPr>
                          <m:t>𝑡</m:t>
                        </m:r>
                        <m:r>
                          <a:rPr lang="en-US" altLang="ja-JP" i="1">
                            <a:latin typeface="Cambria Math"/>
                          </a:rPr>
                          <m:t>+1</m:t>
                        </m:r>
                      </m:sup>
                    </m:sSubSup>
                  </m:oMath>
                </a14:m>
                <a:r>
                  <a:rPr lang="en-US" altLang="ja-JP" dirty="0"/>
                  <a:t>=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/>
                      </a:rPr>
                      <m:t>𝑤</m:t>
                    </m:r>
                    <m:sSubSup>
                      <m:sSub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i="1" dirty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altLang="ja-JP" i="1">
                            <a:latin typeface="Cambria Math"/>
                          </a:rPr>
                          <m:t>𝑖𝑗</m:t>
                        </m:r>
                      </m:sub>
                      <m:sup>
                        <m:r>
                          <a:rPr lang="en-US" altLang="ja-JP" i="1">
                            <a:latin typeface="Cambria Math"/>
                          </a:rPr>
                          <m:t>𝑡</m:t>
                        </m:r>
                      </m:sup>
                    </m:sSubSup>
                    <m:r>
                      <a:rPr lang="en-US" altLang="ja-JP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altLang="ja-JP" i="1">
                            <a:latin typeface="Cambria Math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/>
                          </a:rPr>
                          <m:t>𝑟𝑎𝑛𝑑</m:t>
                        </m:r>
                      </m:e>
                      <m:sub>
                        <m:r>
                          <a:rPr lang="en-US" altLang="ja-JP" i="1">
                            <a:latin typeface="Cambria Math"/>
                          </a:rPr>
                          <m:t>1</m:t>
                        </m:r>
                        <m:r>
                          <a:rPr lang="en-US" altLang="ja-JP" i="1">
                            <a:latin typeface="Cambria Math"/>
                          </a:rPr>
                          <m:t>𝑖𝑗</m:t>
                        </m:r>
                      </m:sub>
                    </m:sSub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/>
                              </a:rPr>
                              <m:t>𝑖𝑗</m:t>
                            </m:r>
                          </m:sub>
                          <m:sup>
                            <m:r>
                              <a:rPr lang="en-US" altLang="ja-JP" i="1">
                                <a:latin typeface="Cambria Math"/>
                              </a:rPr>
                              <m:t>∗</m:t>
                            </m:r>
                          </m:sup>
                        </m:sSubSup>
                        <m:r>
                          <a:rPr lang="en-US" altLang="ja-JP" i="1">
                            <a:latin typeface="Cambria Math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/>
                              </a:rPr>
                              <m:t>𝑖𝑗</m:t>
                            </m:r>
                          </m:sub>
                          <m:sup>
                            <m:r>
                              <a:rPr lang="en-US" altLang="ja-JP" i="1">
                                <a:latin typeface="Cambria Math"/>
                              </a:rPr>
                              <m:t>𝑡</m:t>
                            </m:r>
                          </m:sup>
                        </m:sSubSup>
                      </m:e>
                    </m:d>
                  </m:oMath>
                </a14:m>
                <a:endParaRPr lang="en-US" altLang="ja-JP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altLang="ja-JP" i="1">
                              <a:latin typeface="Cambria Math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/>
                            </a:rPr>
                            <m:t>𝑟𝑎𝑛𝑑</m:t>
                          </m:r>
                        </m:e>
                        <m:sub>
                          <m:r>
                            <a:rPr lang="en-US" altLang="ja-JP" i="1">
                              <a:latin typeface="Cambria Math"/>
                            </a:rPr>
                            <m:t>2</m:t>
                          </m:r>
                          <m:r>
                            <a:rPr lang="en-US" altLang="ja-JP" i="1">
                              <a:latin typeface="Cambria Math"/>
                            </a:rPr>
                            <m:t>𝑖𝑗</m:t>
                          </m:r>
                        </m:sub>
                      </m:sSub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ja-JP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/>
                                </a:rPr>
                                <m:t>𝐺𝑗</m:t>
                              </m:r>
                            </m:sub>
                            <m:sup>
                              <m:r>
                                <a:rPr lang="en-US" altLang="ja-JP" i="1">
                                  <a:latin typeface="Cambria Math"/>
                                </a:rPr>
                                <m:t>∗</m:t>
                              </m:r>
                            </m:sup>
                          </m:sSubSup>
                          <m:r>
                            <a:rPr lang="en-US" altLang="ja-JP" i="1">
                              <a:latin typeface="Cambria Math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ja-JP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/>
                                </a:rPr>
                                <m:t>𝑖𝑗</m:t>
                              </m:r>
                            </m:sub>
                            <m:sup>
                              <m:r>
                                <a:rPr lang="en-US" altLang="ja-JP" i="1">
                                  <a:latin typeface="Cambria Math"/>
                                </a:rPr>
                                <m:t>𝑡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ja-JP" altLang="en-US" dirty="0"/>
              </a:p>
            </p:txBody>
          </p:sp>
        </mc:Choice>
        <mc:Fallback xmlns="">
          <p:sp>
            <p:nvSpPr>
              <p:cNvPr id="51" name="正方形/長方形 5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791" y="836712"/>
                <a:ext cx="4572000" cy="750462"/>
              </a:xfrm>
              <a:prstGeom prst="rect">
                <a:avLst/>
              </a:prstGeom>
              <a:blipFill rotWithShape="1">
                <a:blip r:embed="rId9"/>
                <a:stretch>
                  <a:fillRect t="-813" b="-325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正方形/長方形 53"/>
              <p:cNvSpPr/>
              <p:nvPr/>
            </p:nvSpPr>
            <p:spPr>
              <a:xfrm>
                <a:off x="5292080" y="5946045"/>
                <a:ext cx="450059" cy="36965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ja-JP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b="1" i="1" smtClean="0">
                              <a:latin typeface="Cambria Math"/>
                            </a:rPr>
                            <m:t>𝒗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/>
                            </a:rPr>
                            <m:t>𝑖</m:t>
                          </m:r>
                        </m:sub>
                        <m:sup/>
                      </m:sSubSup>
                    </m:oMath>
                  </m:oMathPara>
                </a14:m>
                <a:endParaRPr lang="ja-JP" altLang="en-US" dirty="0"/>
              </a:p>
            </p:txBody>
          </p:sp>
        </mc:Choice>
        <mc:Fallback xmlns="">
          <p:sp>
            <p:nvSpPr>
              <p:cNvPr id="54" name="正方形/長方形 5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2080" y="5946045"/>
                <a:ext cx="450059" cy="369653"/>
              </a:xfrm>
              <a:prstGeom prst="rect">
                <a:avLst/>
              </a:prstGeom>
              <a:blipFill rotWithShape="1">
                <a:blip r:embed="rId11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直線矢印コネクタ 46"/>
          <p:cNvCxnSpPr/>
          <p:nvPr/>
        </p:nvCxnSpPr>
        <p:spPr>
          <a:xfrm flipV="1">
            <a:off x="2924656" y="5229200"/>
            <a:ext cx="3447544" cy="425620"/>
          </a:xfrm>
          <a:prstGeom prst="straightConnector1">
            <a:avLst/>
          </a:prstGeom>
          <a:ln w="28575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グループ化 20"/>
          <p:cNvGrpSpPr/>
          <p:nvPr/>
        </p:nvGrpSpPr>
        <p:grpSpPr>
          <a:xfrm>
            <a:off x="2864978" y="4490978"/>
            <a:ext cx="3930968" cy="1178678"/>
            <a:chOff x="2864978" y="4490978"/>
            <a:chExt cx="3930968" cy="1178678"/>
          </a:xfrm>
        </p:grpSpPr>
        <p:cxnSp>
          <p:nvCxnSpPr>
            <p:cNvPr id="43" name="直線矢印コネクタ 42"/>
            <p:cNvCxnSpPr/>
            <p:nvPr/>
          </p:nvCxnSpPr>
          <p:spPr>
            <a:xfrm flipV="1">
              <a:off x="2872383" y="4508678"/>
              <a:ext cx="0" cy="1152128"/>
            </a:xfrm>
            <a:prstGeom prst="straightConnector1">
              <a:avLst/>
            </a:prstGeom>
            <a:ln w="19050">
              <a:solidFill>
                <a:srgbClr val="00B0F0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線矢印コネクタ 45"/>
            <p:cNvCxnSpPr/>
            <p:nvPr/>
          </p:nvCxnSpPr>
          <p:spPr>
            <a:xfrm flipH="1">
              <a:off x="2864978" y="5651956"/>
              <a:ext cx="3900609" cy="17700"/>
            </a:xfrm>
            <a:prstGeom prst="straightConnector1">
              <a:avLst/>
            </a:prstGeom>
            <a:ln w="19050">
              <a:solidFill>
                <a:srgbClr val="00B0F0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線矢印コネクタ 47"/>
            <p:cNvCxnSpPr/>
            <p:nvPr/>
          </p:nvCxnSpPr>
          <p:spPr>
            <a:xfrm flipH="1">
              <a:off x="2895337" y="4490978"/>
              <a:ext cx="3900609" cy="17700"/>
            </a:xfrm>
            <a:prstGeom prst="straightConnector1">
              <a:avLst/>
            </a:prstGeom>
            <a:ln w="19050">
              <a:solidFill>
                <a:srgbClr val="00B0F0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矢印コネクタ 48"/>
            <p:cNvCxnSpPr/>
            <p:nvPr/>
          </p:nvCxnSpPr>
          <p:spPr>
            <a:xfrm flipV="1">
              <a:off x="6778672" y="4499828"/>
              <a:ext cx="0" cy="1152128"/>
            </a:xfrm>
            <a:prstGeom prst="straightConnector1">
              <a:avLst/>
            </a:prstGeom>
            <a:ln w="19050">
              <a:solidFill>
                <a:srgbClr val="00B0F0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正方形/長方形 13"/>
              <p:cNvSpPr/>
              <p:nvPr/>
            </p:nvSpPr>
            <p:spPr>
              <a:xfrm>
                <a:off x="3983565" y="2253027"/>
                <a:ext cx="4777270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ja-JP" altLang="en-US" sz="2000" dirty="0"/>
                  <a:t>各次元で</a:t>
                </a:r>
                <a:r>
                  <a:rPr lang="en-US" altLang="ja-JP" sz="2000" dirty="0"/>
                  <a:t>rand(0,1)</a:t>
                </a:r>
                <a:r>
                  <a:rPr lang="ja-JP" altLang="en-US" sz="2000" dirty="0"/>
                  <a:t>が決定されるので</a:t>
                </a:r>
                <a:endParaRPr lang="en-US" altLang="ja-JP" sz="2000" dirty="0"/>
              </a:p>
              <a:p>
                <a:r>
                  <a:rPr lang="ja-JP" altLang="en-US" sz="2000" dirty="0"/>
                  <a:t>破線の範囲内でのベクトルの摂動がおこる</a:t>
                </a:r>
                <a:endParaRPr lang="en-US" altLang="ja-JP" sz="2000" dirty="0"/>
              </a:p>
              <a:p>
                <a:r>
                  <a:rPr lang="ja-JP" altLang="en-US" sz="2000" dirty="0"/>
                  <a:t>　→多様な速度</a:t>
                </a:r>
                <a14:m>
                  <m:oMath xmlns:m="http://schemas.openxmlformats.org/officeDocument/2006/math">
                    <m:r>
                      <a:rPr lang="en-US" altLang="ja-JP" sz="2000" i="1" dirty="0" smtClean="0">
                        <a:latin typeface="Cambria Math"/>
                      </a:rPr>
                      <m:t>𝑣</m:t>
                    </m:r>
                  </m:oMath>
                </a14:m>
                <a:r>
                  <a:rPr lang="ja-JP" altLang="en-US" sz="2000" dirty="0"/>
                  <a:t>を生成できる</a:t>
                </a:r>
              </a:p>
            </p:txBody>
          </p:sp>
        </mc:Choice>
        <mc:Fallback xmlns="">
          <p:sp>
            <p:nvSpPr>
              <p:cNvPr id="14" name="正方形/長方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3565" y="2253027"/>
                <a:ext cx="4777270" cy="1015663"/>
              </a:xfrm>
              <a:prstGeom prst="rect">
                <a:avLst/>
              </a:prstGeom>
              <a:blipFill>
                <a:blip r:embed="rId12"/>
                <a:stretch>
                  <a:fillRect l="-1276" t="-5422" r="-765" b="-1084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正方形/長方形 14"/>
              <p:cNvSpPr/>
              <p:nvPr/>
            </p:nvSpPr>
            <p:spPr>
              <a:xfrm>
                <a:off x="3579464" y="4011969"/>
                <a:ext cx="194091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ja-JP" altLang="en-US" sz="2000" b="0" i="1" dirty="0" smtClean="0">
                          <a:latin typeface="Cambria Math"/>
                        </a:rPr>
                        <m:t>（</m:t>
                      </m:r>
                      <m:sSub>
                        <m:sSubPr>
                          <m:ctrlPr>
                            <a:rPr lang="en-US" altLang="ja-JP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000" i="1" dirty="0" smtClean="0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altLang="ja-JP" sz="2000" i="1" dirty="0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altLang="ja-JP" sz="2000" b="0" i="1" dirty="0" smtClean="0">
                          <a:latin typeface="Cambria Math"/>
                        </a:rPr>
                        <m:t>=1</m:t>
                      </m:r>
                      <m:r>
                        <a:rPr lang="ja-JP" altLang="en-US" sz="2000" b="0" i="1" dirty="0" smtClean="0">
                          <a:latin typeface="Cambria Math"/>
                        </a:rPr>
                        <m:t>を</m:t>
                      </m:r>
                      <m:r>
                        <a:rPr lang="ja-JP" altLang="en-US" sz="2000" i="1" dirty="0">
                          <a:latin typeface="Cambria Math"/>
                        </a:rPr>
                        <m:t>仮定</m:t>
                      </m:r>
                      <m:r>
                        <a:rPr lang="ja-JP" altLang="en-US" sz="2000" b="0" i="1" dirty="0" smtClean="0">
                          <a:latin typeface="Cambria Math"/>
                        </a:rPr>
                        <m:t>）</m:t>
                      </m:r>
                    </m:oMath>
                  </m:oMathPara>
                </a14:m>
                <a:endParaRPr lang="ja-JP" altLang="en-US" sz="2000" dirty="0"/>
              </a:p>
            </p:txBody>
          </p:sp>
        </mc:Choice>
        <mc:Fallback xmlns="">
          <p:sp>
            <p:nvSpPr>
              <p:cNvPr id="15" name="正方形/長方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9464" y="4011969"/>
                <a:ext cx="1940916" cy="400110"/>
              </a:xfrm>
              <a:prstGeom prst="rect">
                <a:avLst/>
              </a:prstGeom>
              <a:blipFill>
                <a:blip r:embed="rId13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正方形/長方形 16"/>
              <p:cNvSpPr/>
              <p:nvPr/>
            </p:nvSpPr>
            <p:spPr>
              <a:xfrm>
                <a:off x="3717489" y="4653136"/>
                <a:ext cx="1320683" cy="4213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ja-JP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/>
                                </a:rPr>
                                <m:t>𝐺𝑗</m:t>
                              </m:r>
                            </m:sub>
                            <m:sup>
                              <m:r>
                                <a:rPr lang="en-US" altLang="ja-JP" i="1">
                                  <a:latin typeface="Cambria Math"/>
                                </a:rPr>
                                <m:t>∗</m:t>
                              </m:r>
                            </m:sup>
                          </m:sSubSup>
                          <m:r>
                            <a:rPr lang="en-US" altLang="ja-JP" i="1">
                              <a:latin typeface="Cambria Math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ja-JP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/>
                                </a:rPr>
                                <m:t>𝑖𝑗</m:t>
                              </m:r>
                            </m:sub>
                            <m:sup>
                              <m:r>
                                <a:rPr lang="en-US" altLang="ja-JP" i="1">
                                  <a:latin typeface="Cambria Math"/>
                                </a:rPr>
                                <m:t>𝑡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ja-JP" altLang="en-US" dirty="0"/>
              </a:p>
            </p:txBody>
          </p:sp>
        </mc:Choice>
        <mc:Fallback xmlns="">
          <p:sp>
            <p:nvSpPr>
              <p:cNvPr id="17" name="正方形/長方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7489" y="4653136"/>
                <a:ext cx="1320683" cy="421397"/>
              </a:xfrm>
              <a:prstGeom prst="rect">
                <a:avLst/>
              </a:prstGeom>
              <a:blipFill rotWithShape="1">
                <a:blip r:embed="rId14"/>
                <a:stretch>
                  <a:fillRect b="-724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直線矢印コネクタ 49"/>
          <p:cNvCxnSpPr/>
          <p:nvPr/>
        </p:nvCxnSpPr>
        <p:spPr>
          <a:xfrm flipV="1">
            <a:off x="2890240" y="5229200"/>
            <a:ext cx="563043" cy="425620"/>
          </a:xfrm>
          <a:prstGeom prst="straightConnector1">
            <a:avLst/>
          </a:prstGeom>
          <a:ln w="28575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スライド番号プレースホルダー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D5F38-347F-4466-AB9F-04B1B3000A8E}" type="slidenum">
              <a:rPr kumimoji="1" lang="ja-JP" altLang="en-US" smtClean="0"/>
              <a:t>16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正方形/長方形 27"/>
              <p:cNvSpPr/>
              <p:nvPr/>
            </p:nvSpPr>
            <p:spPr>
              <a:xfrm>
                <a:off x="2467027" y="2024236"/>
                <a:ext cx="8924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i="1" dirty="0">
                          <a:latin typeface="Cambria Math"/>
                        </a:rPr>
                        <m:t>𝑝𝑏𝑒𝑠𝑡</m:t>
                      </m:r>
                      <m:r>
                        <a:rPr lang="en-US" altLang="ja-JP" i="1" baseline="-25000" dirty="0" err="1">
                          <a:latin typeface="Cambria Math"/>
                        </a:rPr>
                        <m:t>𝑖</m:t>
                      </m:r>
                      <m:r>
                        <a:rPr lang="en-US" altLang="ja-JP" i="1" baseline="-25000" dirty="0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ja-JP" altLang="en-US" dirty="0"/>
              </a:p>
            </p:txBody>
          </p:sp>
        </mc:Choice>
        <mc:Fallback xmlns="">
          <p:sp>
            <p:nvSpPr>
              <p:cNvPr id="28" name="正方形/長方形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7027" y="2024236"/>
                <a:ext cx="892487" cy="369332"/>
              </a:xfrm>
              <a:prstGeom prst="rect">
                <a:avLst/>
              </a:prstGeom>
              <a:blipFill rotWithShape="0">
                <a:blip r:embed="rId1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正方形/長方形 29"/>
              <p:cNvSpPr/>
              <p:nvPr/>
            </p:nvSpPr>
            <p:spPr>
              <a:xfrm>
                <a:off x="6653285" y="4632811"/>
                <a:ext cx="82189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b="0" i="1" dirty="0" smtClean="0">
                          <a:latin typeface="Cambria Math"/>
                        </a:rPr>
                        <m:t>𝑔𝑏𝑒𝑠𝑡</m:t>
                      </m:r>
                    </m:oMath>
                  </m:oMathPara>
                </a14:m>
                <a:endParaRPr lang="ja-JP" altLang="en-US" dirty="0"/>
              </a:p>
            </p:txBody>
          </p:sp>
        </mc:Choice>
        <mc:Fallback xmlns="">
          <p:sp>
            <p:nvSpPr>
              <p:cNvPr id="30" name="正方形/長方形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3285" y="4632811"/>
                <a:ext cx="821892" cy="369332"/>
              </a:xfrm>
              <a:prstGeom prst="rect">
                <a:avLst/>
              </a:prstGeom>
              <a:blipFill rotWithShape="0">
                <a:blip r:embed="rId16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1205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D5F38-347F-4466-AB9F-04B1B3000A8E}" type="slidenum">
              <a:rPr kumimoji="1" lang="ja-JP" altLang="en-US" smtClean="0"/>
              <a:t>17</a:t>
            </a:fld>
            <a:endParaRPr kumimoji="1" lang="ja-JP" altLang="en-US"/>
          </a:p>
        </p:txBody>
      </p:sp>
      <p:grpSp>
        <p:nvGrpSpPr>
          <p:cNvPr id="9" name="グループ化 8"/>
          <p:cNvGrpSpPr/>
          <p:nvPr/>
        </p:nvGrpSpPr>
        <p:grpSpPr>
          <a:xfrm>
            <a:off x="179512" y="1178723"/>
            <a:ext cx="8712954" cy="4410519"/>
            <a:chOff x="148208" y="4932855"/>
            <a:chExt cx="2817426" cy="1426190"/>
          </a:xfrm>
        </p:grpSpPr>
        <p:pic>
          <p:nvPicPr>
            <p:cNvPr id="3" name="図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8208" y="5219672"/>
              <a:ext cx="1336576" cy="828000"/>
            </a:xfrm>
            <a:prstGeom prst="rect">
              <a:avLst/>
            </a:prstGeom>
          </p:spPr>
        </p:pic>
        <p:pic>
          <p:nvPicPr>
            <p:cNvPr id="4" name="図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16371" y="5206166"/>
              <a:ext cx="1255524" cy="828000"/>
            </a:xfrm>
            <a:prstGeom prst="rect">
              <a:avLst/>
            </a:prstGeom>
          </p:spPr>
        </p:pic>
        <p:sp>
          <p:nvSpPr>
            <p:cNvPr id="5" name="テキスト ボックス 4"/>
            <p:cNvSpPr txBox="1"/>
            <p:nvPr/>
          </p:nvSpPr>
          <p:spPr>
            <a:xfrm>
              <a:off x="154834" y="4952460"/>
              <a:ext cx="1178309" cy="1492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2400" dirty="0"/>
                <a:t>通常の</a:t>
              </a:r>
              <a:r>
                <a:rPr lang="en-US" altLang="ja-JP" sz="2400" dirty="0"/>
                <a:t>PSO(</a:t>
              </a:r>
              <a:r>
                <a:rPr lang="ja-JP" altLang="en-US" sz="2400" dirty="0"/>
                <a:t>乱数非同期型</a:t>
              </a:r>
              <a:r>
                <a:rPr lang="en-US" altLang="ja-JP" sz="2400" dirty="0"/>
                <a:t>)</a:t>
              </a:r>
              <a:endParaRPr kumimoji="1" lang="ja-JP" altLang="en-US" sz="2400" dirty="0"/>
            </a:p>
          </p:txBody>
        </p:sp>
        <p:sp>
          <p:nvSpPr>
            <p:cNvPr id="6" name="正方形/長方形 5"/>
            <p:cNvSpPr/>
            <p:nvPr/>
          </p:nvSpPr>
          <p:spPr>
            <a:xfrm>
              <a:off x="1638419" y="4932855"/>
              <a:ext cx="1031616" cy="26871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ja-JP" altLang="en-US" sz="2400" dirty="0"/>
                <a:t>乱数同期型</a:t>
              </a:r>
              <a:r>
                <a:rPr lang="en-US" altLang="ja-JP" sz="2400" dirty="0"/>
                <a:t>PSO</a:t>
              </a:r>
            </a:p>
            <a:p>
              <a:r>
                <a:rPr lang="ja-JP" altLang="en-US" sz="2400" dirty="0"/>
                <a:t>（各次元の乱数が同じ）</a:t>
              </a:r>
            </a:p>
          </p:txBody>
        </p:sp>
        <p:sp>
          <p:nvSpPr>
            <p:cNvPr id="7" name="テキスト ボックス 6"/>
            <p:cNvSpPr txBox="1"/>
            <p:nvPr/>
          </p:nvSpPr>
          <p:spPr>
            <a:xfrm>
              <a:off x="1966155" y="6110238"/>
              <a:ext cx="999479" cy="2488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2200" dirty="0">
                  <a:solidFill>
                    <a:srgbClr val="FF0000"/>
                  </a:solidFill>
                </a:rPr>
                <a:t>回転不変性を持つ</a:t>
              </a:r>
              <a:endParaRPr lang="en-US" altLang="ja-JP" sz="2200" dirty="0">
                <a:solidFill>
                  <a:srgbClr val="FF0000"/>
                </a:solidFill>
              </a:endParaRPr>
            </a:p>
            <a:p>
              <a:r>
                <a:rPr kumimoji="1" lang="en-US" altLang="ja-JP" sz="2200" dirty="0">
                  <a:solidFill>
                    <a:srgbClr val="FF0000"/>
                  </a:solidFill>
                </a:rPr>
                <a:t> (</a:t>
              </a:r>
              <a:r>
                <a:rPr kumimoji="1" lang="ja-JP" altLang="en-US" sz="2200" dirty="0">
                  <a:solidFill>
                    <a:srgbClr val="FF0000"/>
                  </a:solidFill>
                </a:rPr>
                <a:t>ただし，多様性は低下）</a:t>
              </a:r>
            </a:p>
          </p:txBody>
        </p:sp>
        <p:sp>
          <p:nvSpPr>
            <p:cNvPr id="8" name="正方形/長方形 7"/>
            <p:cNvSpPr/>
            <p:nvPr/>
          </p:nvSpPr>
          <p:spPr>
            <a:xfrm>
              <a:off x="206419" y="6104426"/>
              <a:ext cx="1594024" cy="24880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ja-JP" altLang="en-US" sz="2200" dirty="0">
                  <a:solidFill>
                    <a:srgbClr val="FF0000"/>
                  </a:solidFill>
                </a:rPr>
                <a:t>回転不変性を持たない</a:t>
              </a:r>
              <a:endParaRPr lang="en-US" altLang="ja-JP" sz="2200" dirty="0">
                <a:solidFill>
                  <a:srgbClr val="FF0000"/>
                </a:solidFill>
              </a:endParaRPr>
            </a:p>
            <a:p>
              <a:r>
                <a:rPr lang="ja-JP" altLang="en-US" sz="2200" dirty="0">
                  <a:solidFill>
                    <a:srgbClr val="FF0000"/>
                  </a:solidFill>
                </a:rPr>
                <a:t>→ 灰色の領域は座標軸の取り方に依存</a:t>
              </a:r>
            </a:p>
          </p:txBody>
        </p:sp>
      </p:grpSp>
      <p:sp>
        <p:nvSpPr>
          <p:cNvPr id="10" name="テキスト ボックス 9"/>
          <p:cNvSpPr txBox="1"/>
          <p:nvPr/>
        </p:nvSpPr>
        <p:spPr>
          <a:xfrm>
            <a:off x="2796291" y="332656"/>
            <a:ext cx="33201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/>
              <a:t>PSO</a:t>
            </a:r>
            <a:r>
              <a:rPr lang="ja-JP" altLang="en-US" sz="3200" dirty="0"/>
              <a:t>の回転不変性</a:t>
            </a:r>
            <a:endParaRPr kumimoji="1" lang="ja-JP" altLang="en-US" sz="3200" dirty="0"/>
          </a:p>
        </p:txBody>
      </p:sp>
    </p:spTree>
    <p:extLst>
      <p:ext uri="{BB962C8B-B14F-4D97-AF65-F5344CB8AC3E}">
        <p14:creationId xmlns:p14="http://schemas.microsoft.com/office/powerpoint/2010/main" val="4007555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>
            <a:normAutofit fontScale="90000"/>
          </a:bodyPr>
          <a:lstStyle/>
          <a:p>
            <a:r>
              <a:rPr kumimoji="1" lang="en-US" altLang="ja-JP" dirty="0"/>
              <a:t>PSO</a:t>
            </a:r>
            <a:r>
              <a:rPr lang="ja-JP" altLang="en-US" dirty="0" err="1"/>
              <a:t>の擬</a:t>
            </a:r>
            <a:r>
              <a:rPr lang="ja-JP" altLang="en-US" dirty="0"/>
              <a:t>似コード</a:t>
            </a:r>
            <a:endParaRPr kumimoji="1" lang="ja-JP" altLang="en-US" dirty="0"/>
          </a:p>
        </p:txBody>
      </p:sp>
      <p:pic>
        <p:nvPicPr>
          <p:cNvPr id="14338" name="Picture 2" descr="C:\Users\kushida\AppData\Local\Temp\ScreenClip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166231"/>
            <a:ext cx="7064201" cy="5143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ボックス 2"/>
              <p:cNvSpPr txBox="1"/>
              <p:nvPr/>
            </p:nvSpPr>
            <p:spPr>
              <a:xfrm>
                <a:off x="5071398" y="3995772"/>
                <a:ext cx="3551742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kumimoji="1" lang="ja-JP" altLang="en-US" sz="2000" dirty="0">
                    <a:solidFill>
                      <a:srgbClr val="0070C0"/>
                    </a:solidFill>
                  </a:rPr>
                  <a:t>速度の上限下限をチェック</a:t>
                </a:r>
                <a:endParaRPr kumimoji="1" lang="en-US" altLang="ja-JP" sz="2000" dirty="0">
                  <a:solidFill>
                    <a:srgbClr val="0070C0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200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00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ja-JP" sz="200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sup>
                    </m:sSup>
                  </m:oMath>
                </a14:m>
                <a:r>
                  <a:rPr lang="ja-JP" altLang="en-US" sz="2000" dirty="0">
                    <a:solidFill>
                      <a:srgbClr val="0070C0"/>
                    </a:solidFill>
                  </a:rPr>
                  <a:t>は定義域を基準に設定</a:t>
                </a:r>
                <a:endParaRPr kumimoji="1" lang="ja-JP" altLang="en-US" sz="20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" name="テキスト ボックス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1398" y="3995772"/>
                <a:ext cx="3551742" cy="707886"/>
              </a:xfrm>
              <a:prstGeom prst="rect">
                <a:avLst/>
              </a:prstGeom>
              <a:blipFill rotWithShape="0">
                <a:blip r:embed="rId4"/>
                <a:stretch>
                  <a:fillRect l="-1544" t="-6838" r="-1201" b="-1196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テキスト ボックス 3"/>
              <p:cNvSpPr txBox="1"/>
              <p:nvPr/>
            </p:nvSpPr>
            <p:spPr>
              <a:xfrm>
                <a:off x="4499992" y="5517232"/>
                <a:ext cx="4088812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kumimoji="1" lang="ja-JP" altLang="en-US" sz="2000" dirty="0">
                    <a:solidFill>
                      <a:srgbClr val="0070C0"/>
                    </a:solidFill>
                  </a:rPr>
                  <a:t>移動後の位置を評価</a:t>
                </a:r>
                <a14:m>
                  <m:oMath xmlns:m="http://schemas.openxmlformats.org/officeDocument/2006/math">
                    <m:r>
                      <a:rPr kumimoji="1" lang="ja-JP" altLang="en-US" sz="20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：</m:t>
                    </m:r>
                    <m:r>
                      <a:rPr kumimoji="1" lang="en-US" altLang="ja-JP" sz="20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kumimoji="1" lang="en-US" altLang="ja-JP" sz="20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ja-JP" sz="20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ja-JP" sz="20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ja-JP" altLang="en-US" sz="2000" dirty="0">
                    <a:solidFill>
                      <a:srgbClr val="0070C0"/>
                    </a:solidFill>
                  </a:rPr>
                  <a:t>を計算</a:t>
                </a:r>
                <a:endParaRPr kumimoji="1" lang="en-US" altLang="ja-JP" sz="2000" dirty="0">
                  <a:solidFill>
                    <a:srgbClr val="0070C0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ja-JP" sz="2000" dirty="0" err="1">
                    <a:solidFill>
                      <a:srgbClr val="0070C0"/>
                    </a:solidFill>
                  </a:rPr>
                  <a:t>Pbest</a:t>
                </a:r>
                <a:r>
                  <a:rPr lang="ja-JP" altLang="en-US" sz="2000" dirty="0">
                    <a:solidFill>
                      <a:srgbClr val="0070C0"/>
                    </a:solidFill>
                  </a:rPr>
                  <a:t>を超えていれば置換え</a:t>
                </a:r>
                <a:endParaRPr lang="en-US" altLang="ja-JP" sz="2000" dirty="0">
                  <a:solidFill>
                    <a:srgbClr val="0070C0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kumimoji="1" lang="ja-JP" altLang="en-US" sz="2000" dirty="0">
                    <a:solidFill>
                      <a:srgbClr val="0070C0"/>
                    </a:solidFill>
                  </a:rPr>
                  <a:t>さらに</a:t>
                </a:r>
                <a:r>
                  <a:rPr kumimoji="1" lang="en-US" altLang="ja-JP" sz="2000" dirty="0" err="1">
                    <a:solidFill>
                      <a:srgbClr val="0070C0"/>
                    </a:solidFill>
                  </a:rPr>
                  <a:t>gbest</a:t>
                </a:r>
                <a:r>
                  <a:rPr kumimoji="1" lang="ja-JP" altLang="en-US" sz="2000" dirty="0">
                    <a:solidFill>
                      <a:srgbClr val="0070C0"/>
                    </a:solidFill>
                  </a:rPr>
                  <a:t>もチェック</a:t>
                </a:r>
              </a:p>
            </p:txBody>
          </p:sp>
        </mc:Choice>
        <mc:Fallback xmlns="">
          <p:sp>
            <p:nvSpPr>
              <p:cNvPr id="4" name="テキスト ボックス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9992" y="5517232"/>
                <a:ext cx="4088812" cy="1015663"/>
              </a:xfrm>
              <a:prstGeom prst="rect">
                <a:avLst/>
              </a:prstGeom>
              <a:blipFill>
                <a:blip r:embed="rId5"/>
                <a:stretch>
                  <a:fillRect l="-1341" t="-4790" r="-1639" b="-1018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グループ化 10"/>
          <p:cNvGrpSpPr/>
          <p:nvPr/>
        </p:nvGrpSpPr>
        <p:grpSpPr>
          <a:xfrm>
            <a:off x="467544" y="2564904"/>
            <a:ext cx="787430" cy="3456384"/>
            <a:chOff x="1473982" y="2564904"/>
            <a:chExt cx="361714" cy="3456384"/>
          </a:xfrm>
        </p:grpSpPr>
        <p:cxnSp>
          <p:nvCxnSpPr>
            <p:cNvPr id="6" name="直線コネクタ 5"/>
            <p:cNvCxnSpPr/>
            <p:nvPr/>
          </p:nvCxnSpPr>
          <p:spPr>
            <a:xfrm>
              <a:off x="1475656" y="2564904"/>
              <a:ext cx="36004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線コネクタ 8"/>
            <p:cNvCxnSpPr/>
            <p:nvPr/>
          </p:nvCxnSpPr>
          <p:spPr>
            <a:xfrm>
              <a:off x="1473982" y="6021288"/>
              <a:ext cx="36004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線コネクタ 7"/>
            <p:cNvCxnSpPr/>
            <p:nvPr/>
          </p:nvCxnSpPr>
          <p:spPr>
            <a:xfrm>
              <a:off x="1475656" y="2564904"/>
              <a:ext cx="0" cy="345638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グループ化 9"/>
          <p:cNvGrpSpPr/>
          <p:nvPr/>
        </p:nvGrpSpPr>
        <p:grpSpPr>
          <a:xfrm>
            <a:off x="915748" y="2852936"/>
            <a:ext cx="491625" cy="2880320"/>
            <a:chOff x="1626382" y="2717304"/>
            <a:chExt cx="361714" cy="3456384"/>
          </a:xfrm>
        </p:grpSpPr>
        <p:cxnSp>
          <p:nvCxnSpPr>
            <p:cNvPr id="12" name="直線コネクタ 11"/>
            <p:cNvCxnSpPr/>
            <p:nvPr/>
          </p:nvCxnSpPr>
          <p:spPr>
            <a:xfrm>
              <a:off x="1628056" y="2717304"/>
              <a:ext cx="36004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コネクタ 12"/>
            <p:cNvCxnSpPr/>
            <p:nvPr/>
          </p:nvCxnSpPr>
          <p:spPr>
            <a:xfrm>
              <a:off x="1626382" y="6173688"/>
              <a:ext cx="36004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コネクタ 13"/>
            <p:cNvCxnSpPr/>
            <p:nvPr/>
          </p:nvCxnSpPr>
          <p:spPr>
            <a:xfrm>
              <a:off x="1628056" y="2717304"/>
              <a:ext cx="0" cy="345638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グループ化 19"/>
          <p:cNvGrpSpPr/>
          <p:nvPr/>
        </p:nvGrpSpPr>
        <p:grpSpPr>
          <a:xfrm>
            <a:off x="1454764" y="3140968"/>
            <a:ext cx="304266" cy="1152128"/>
            <a:chOff x="1626382" y="2717304"/>
            <a:chExt cx="361714" cy="3456384"/>
          </a:xfrm>
        </p:grpSpPr>
        <p:cxnSp>
          <p:nvCxnSpPr>
            <p:cNvPr id="21" name="直線コネクタ 20"/>
            <p:cNvCxnSpPr/>
            <p:nvPr/>
          </p:nvCxnSpPr>
          <p:spPr>
            <a:xfrm>
              <a:off x="1628056" y="2717304"/>
              <a:ext cx="36004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コネクタ 21"/>
            <p:cNvCxnSpPr/>
            <p:nvPr/>
          </p:nvCxnSpPr>
          <p:spPr>
            <a:xfrm>
              <a:off x="1626382" y="6173688"/>
              <a:ext cx="36004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コネクタ 22"/>
            <p:cNvCxnSpPr/>
            <p:nvPr/>
          </p:nvCxnSpPr>
          <p:spPr>
            <a:xfrm>
              <a:off x="1628056" y="2717304"/>
              <a:ext cx="0" cy="345638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テキスト ボックス 4"/>
          <p:cNvSpPr txBox="1"/>
          <p:nvPr/>
        </p:nvSpPr>
        <p:spPr>
          <a:xfrm>
            <a:off x="4135294" y="1052736"/>
            <a:ext cx="45416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>
                <a:solidFill>
                  <a:srgbClr val="0070C0"/>
                </a:solidFill>
              </a:rPr>
              <a:t>初期位置，初期速度をランダムで初期化</a:t>
            </a: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D5F38-347F-4466-AB9F-04B1B3000A8E}" type="slidenum">
              <a:rPr kumimoji="1" lang="ja-JP" altLang="en-US" smtClean="0"/>
              <a:t>18</a:t>
            </a:fld>
            <a:endParaRPr kumimoji="1" lang="ja-JP" altLang="en-US"/>
          </a:p>
        </p:txBody>
      </p:sp>
      <p:sp>
        <p:nvSpPr>
          <p:cNvPr id="16" name="正方形/長方形 15"/>
          <p:cNvSpPr/>
          <p:nvPr/>
        </p:nvSpPr>
        <p:spPr>
          <a:xfrm>
            <a:off x="7533853" y="3429000"/>
            <a:ext cx="72008" cy="4320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2224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72444"/>
          </a:xfrm>
        </p:spPr>
        <p:txBody>
          <a:bodyPr>
            <a:normAutofit fontScale="90000"/>
          </a:bodyPr>
          <a:lstStyle/>
          <a:p>
            <a:r>
              <a:rPr kumimoji="1" lang="en-US" altLang="ja-JP" dirty="0"/>
              <a:t>PSO</a:t>
            </a:r>
            <a:r>
              <a:rPr kumimoji="1" lang="ja-JP" altLang="en-US" dirty="0"/>
              <a:t>の処理手順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D5F38-347F-4466-AB9F-04B1B3000A8E}" type="slidenum">
              <a:rPr kumimoji="1" lang="ja-JP" altLang="en-US" smtClean="0"/>
              <a:t>19</a:t>
            </a:fld>
            <a:endParaRPr kumimoji="1" lang="ja-JP" altLang="en-US"/>
          </a:p>
        </p:txBody>
      </p:sp>
      <p:sp>
        <p:nvSpPr>
          <p:cNvPr id="6" name="角丸四角形 5"/>
          <p:cNvSpPr/>
          <p:nvPr/>
        </p:nvSpPr>
        <p:spPr bwMode="auto">
          <a:xfrm>
            <a:off x="1331640" y="2420888"/>
            <a:ext cx="867766" cy="280831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ja-JP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22" name="円/楕円 121"/>
          <p:cNvSpPr/>
          <p:nvPr/>
        </p:nvSpPr>
        <p:spPr>
          <a:xfrm>
            <a:off x="1547663" y="2564904"/>
            <a:ext cx="375954" cy="36004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1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23" name="左中かっこ 122"/>
          <p:cNvSpPr/>
          <p:nvPr/>
        </p:nvSpPr>
        <p:spPr>
          <a:xfrm>
            <a:off x="2939564" y="2492896"/>
            <a:ext cx="192276" cy="2120029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aphicFrame>
        <p:nvGraphicFramePr>
          <p:cNvPr id="124" name="表 1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9614768"/>
              </p:ext>
            </p:extLst>
          </p:nvPr>
        </p:nvGraphicFramePr>
        <p:xfrm>
          <a:off x="3888905" y="2537363"/>
          <a:ext cx="1623888" cy="2628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19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9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9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19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9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19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198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62533">
                <a:tc>
                  <a:txBody>
                    <a:bodyPr/>
                    <a:lstStyle/>
                    <a:p>
                      <a:endParaRPr kumimoji="1" lang="ja-JP" altLang="en-US" sz="1300" dirty="0"/>
                    </a:p>
                  </a:txBody>
                  <a:tcPr marL="64734" marR="64734" marT="32367" marB="32367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300" dirty="0"/>
                    </a:p>
                  </a:txBody>
                  <a:tcPr marL="64734" marR="64734" marT="32367" marB="32367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300" dirty="0"/>
                    </a:p>
                  </a:txBody>
                  <a:tcPr marL="64734" marR="64734" marT="32367" marB="32367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300" dirty="0"/>
                    </a:p>
                  </a:txBody>
                  <a:tcPr marL="64734" marR="64734" marT="32367" marB="32367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300" dirty="0"/>
                    </a:p>
                  </a:txBody>
                  <a:tcPr marL="64734" marR="64734" marT="32367" marB="32367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300" dirty="0"/>
                    </a:p>
                  </a:txBody>
                  <a:tcPr marL="64734" marR="64734" marT="32367" marB="32367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300" dirty="0"/>
                    </a:p>
                  </a:txBody>
                  <a:tcPr marL="64734" marR="64734" marT="32367" marB="32367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5" name="表 1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0635454"/>
              </p:ext>
            </p:extLst>
          </p:nvPr>
        </p:nvGraphicFramePr>
        <p:xfrm>
          <a:off x="3847230" y="4378046"/>
          <a:ext cx="1623888" cy="2628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19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9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9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19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9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19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198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62533">
                <a:tc>
                  <a:txBody>
                    <a:bodyPr/>
                    <a:lstStyle/>
                    <a:p>
                      <a:endParaRPr kumimoji="1" lang="ja-JP" altLang="en-US" sz="1300" dirty="0"/>
                    </a:p>
                  </a:txBody>
                  <a:tcPr marL="64734" marR="64734" marT="32367" marB="32367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300" dirty="0"/>
                    </a:p>
                  </a:txBody>
                  <a:tcPr marL="64734" marR="64734" marT="32367" marB="32367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300" dirty="0"/>
                    </a:p>
                  </a:txBody>
                  <a:tcPr marL="64734" marR="64734" marT="32367" marB="32367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300" dirty="0"/>
                    </a:p>
                  </a:txBody>
                  <a:tcPr marL="64734" marR="64734" marT="32367" marB="32367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300" dirty="0"/>
                    </a:p>
                  </a:txBody>
                  <a:tcPr marL="64734" marR="64734" marT="32367" marB="32367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300" dirty="0"/>
                    </a:p>
                  </a:txBody>
                  <a:tcPr marL="64734" marR="64734" marT="32367" marB="32367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300" dirty="0"/>
                    </a:p>
                  </a:txBody>
                  <a:tcPr marL="64734" marR="64734" marT="32367" marB="32367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7" name="表 1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1690814"/>
              </p:ext>
            </p:extLst>
          </p:nvPr>
        </p:nvGraphicFramePr>
        <p:xfrm>
          <a:off x="3888905" y="3289422"/>
          <a:ext cx="1619198" cy="2626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13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3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3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13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3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13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13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61776">
                <a:tc>
                  <a:txBody>
                    <a:bodyPr/>
                    <a:lstStyle/>
                    <a:p>
                      <a:endParaRPr kumimoji="1" lang="ja-JP" altLang="en-US" sz="1300" dirty="0"/>
                    </a:p>
                  </a:txBody>
                  <a:tcPr marL="64547" marR="64547" marT="32274" marB="32274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300" dirty="0"/>
                    </a:p>
                  </a:txBody>
                  <a:tcPr marL="64547" marR="64547" marT="32274" marB="32274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300" dirty="0"/>
                    </a:p>
                  </a:txBody>
                  <a:tcPr marL="64547" marR="64547" marT="32274" marB="32274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300" dirty="0"/>
                    </a:p>
                  </a:txBody>
                  <a:tcPr marL="64547" marR="64547" marT="32274" marB="32274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300" dirty="0"/>
                    </a:p>
                  </a:txBody>
                  <a:tcPr marL="64547" marR="64547" marT="32274" marB="32274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300" dirty="0"/>
                    </a:p>
                  </a:txBody>
                  <a:tcPr marL="64547" marR="64547" marT="32274" marB="32274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300" dirty="0"/>
                    </a:p>
                  </a:txBody>
                  <a:tcPr marL="64547" marR="64547" marT="32274" marB="32274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テキスト ボックス 127"/>
              <p:cNvSpPr txBox="1"/>
              <p:nvPr/>
            </p:nvSpPr>
            <p:spPr>
              <a:xfrm>
                <a:off x="3491880" y="3177779"/>
                <a:ext cx="21244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4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kumimoji="1" lang="ja-JP" altLang="en-US" sz="2400" b="1" dirty="0"/>
              </a:p>
            </p:txBody>
          </p:sp>
        </mc:Choice>
        <mc:Fallback xmlns="">
          <p:sp>
            <p:nvSpPr>
              <p:cNvPr id="128" name="テキスト ボックス 1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1880" y="3177779"/>
                <a:ext cx="212441" cy="461665"/>
              </a:xfrm>
              <a:prstGeom prst="rect">
                <a:avLst/>
              </a:prstGeom>
              <a:blipFill>
                <a:blip r:embed="rId3"/>
                <a:stretch>
                  <a:fillRect r="-6571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正方形/長方形 128"/>
              <p:cNvSpPr/>
              <p:nvPr/>
            </p:nvSpPr>
            <p:spPr>
              <a:xfrm>
                <a:off x="3461881" y="2420888"/>
                <a:ext cx="209037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400" b="1" i="1" dirty="0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ja-JP" altLang="en-US" sz="2400" b="1" dirty="0"/>
              </a:p>
            </p:txBody>
          </p:sp>
        </mc:Choice>
        <mc:Fallback xmlns="">
          <p:sp>
            <p:nvSpPr>
              <p:cNvPr id="129" name="正方形/長方形 1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1881" y="2420888"/>
                <a:ext cx="209037" cy="461665"/>
              </a:xfrm>
              <a:prstGeom prst="rect">
                <a:avLst/>
              </a:prstGeom>
              <a:blipFill>
                <a:blip r:embed="rId4"/>
                <a:stretch>
                  <a:fillRect r="-676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テキスト ボックス 129"/>
              <p:cNvSpPr txBox="1"/>
              <p:nvPr/>
            </p:nvSpPr>
            <p:spPr>
              <a:xfrm>
                <a:off x="2987824" y="4293096"/>
                <a:ext cx="93326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000" b="1" i="1" dirty="0" smtClean="0">
                          <a:latin typeface="Cambria Math" panose="02040503050406030204" pitchFamily="18" charset="0"/>
                        </a:rPr>
                        <m:t>𝒑𝒃𝒆𝒔𝒕</m:t>
                      </m:r>
                    </m:oMath>
                  </m:oMathPara>
                </a14:m>
                <a:endParaRPr kumimoji="1" lang="ja-JP" altLang="en-US" sz="2000" b="1" dirty="0"/>
              </a:p>
            </p:txBody>
          </p:sp>
        </mc:Choice>
        <mc:Fallback xmlns="">
          <p:sp>
            <p:nvSpPr>
              <p:cNvPr id="130" name="テキスト ボックス 1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7824" y="4293096"/>
                <a:ext cx="933269" cy="400110"/>
              </a:xfrm>
              <a:prstGeom prst="rect">
                <a:avLst/>
              </a:prstGeom>
              <a:blipFill>
                <a:blip r:embed="rId5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1" name="表 1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429824"/>
              </p:ext>
            </p:extLst>
          </p:nvPr>
        </p:nvGraphicFramePr>
        <p:xfrm>
          <a:off x="6444208" y="3289422"/>
          <a:ext cx="1619198" cy="2626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13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3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3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13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3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13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13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61776">
                <a:tc>
                  <a:txBody>
                    <a:bodyPr/>
                    <a:lstStyle/>
                    <a:p>
                      <a:endParaRPr kumimoji="1" lang="ja-JP" altLang="en-US" sz="1300" dirty="0"/>
                    </a:p>
                  </a:txBody>
                  <a:tcPr marL="64547" marR="64547" marT="32274" marB="32274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300" dirty="0"/>
                    </a:p>
                  </a:txBody>
                  <a:tcPr marL="64547" marR="64547" marT="32274" marB="32274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300" dirty="0"/>
                    </a:p>
                  </a:txBody>
                  <a:tcPr marL="64547" marR="64547" marT="32274" marB="32274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300" dirty="0"/>
                    </a:p>
                  </a:txBody>
                  <a:tcPr marL="64547" marR="64547" marT="32274" marB="32274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300" dirty="0"/>
                    </a:p>
                  </a:txBody>
                  <a:tcPr marL="64547" marR="64547" marT="32274" marB="32274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300" dirty="0"/>
                    </a:p>
                  </a:txBody>
                  <a:tcPr marL="64547" marR="64547" marT="32274" marB="32274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300" dirty="0"/>
                    </a:p>
                  </a:txBody>
                  <a:tcPr marL="64547" marR="64547" marT="32274" marB="32274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2" name="右矢印 131"/>
          <p:cNvSpPr/>
          <p:nvPr/>
        </p:nvSpPr>
        <p:spPr>
          <a:xfrm>
            <a:off x="5796136" y="3289422"/>
            <a:ext cx="360040" cy="26266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テキスト ボックス 132"/>
              <p:cNvSpPr txBox="1"/>
              <p:nvPr/>
            </p:nvSpPr>
            <p:spPr>
              <a:xfrm>
                <a:off x="5502993" y="3635732"/>
                <a:ext cx="131587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2000" dirty="0"/>
                  <a:t>1. </a:t>
                </a:r>
                <a14:m>
                  <m:oMath xmlns:m="http://schemas.openxmlformats.org/officeDocument/2006/math">
                    <m:r>
                      <a:rPr lang="en-US" altLang="ja-JP" sz="2000" b="1" i="1" dirty="0" smtClean="0"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ja-JP" altLang="en-US" sz="2000" dirty="0"/>
                  <a:t>を更新</a:t>
                </a:r>
                <a:endParaRPr kumimoji="1" lang="ja-JP" altLang="en-US" sz="2000" dirty="0"/>
              </a:p>
            </p:txBody>
          </p:sp>
        </mc:Choice>
        <mc:Fallback xmlns="">
          <p:sp>
            <p:nvSpPr>
              <p:cNvPr id="133" name="テキスト ボックス 1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2993" y="3635732"/>
                <a:ext cx="1315873" cy="400110"/>
              </a:xfrm>
              <a:prstGeom prst="rect">
                <a:avLst/>
              </a:prstGeom>
              <a:blipFill>
                <a:blip r:embed="rId6"/>
                <a:stretch>
                  <a:fillRect l="-5093" t="-12121" r="-4630" b="-2727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4" name="表 1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0563828"/>
              </p:ext>
            </p:extLst>
          </p:nvPr>
        </p:nvGraphicFramePr>
        <p:xfrm>
          <a:off x="6437622" y="2535935"/>
          <a:ext cx="1623888" cy="2628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19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9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9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19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9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19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198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62533">
                <a:tc>
                  <a:txBody>
                    <a:bodyPr/>
                    <a:lstStyle/>
                    <a:p>
                      <a:endParaRPr kumimoji="1" lang="ja-JP" altLang="en-US" sz="1300" dirty="0"/>
                    </a:p>
                  </a:txBody>
                  <a:tcPr marL="64734" marR="64734" marT="32367" marB="32367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300" dirty="0"/>
                    </a:p>
                  </a:txBody>
                  <a:tcPr marL="64734" marR="64734" marT="32367" marB="32367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300" dirty="0"/>
                    </a:p>
                  </a:txBody>
                  <a:tcPr marL="64734" marR="64734" marT="32367" marB="32367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300" dirty="0"/>
                    </a:p>
                  </a:txBody>
                  <a:tcPr marL="64734" marR="64734" marT="32367" marB="32367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300" dirty="0"/>
                    </a:p>
                  </a:txBody>
                  <a:tcPr marL="64734" marR="64734" marT="32367" marB="32367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300" dirty="0"/>
                    </a:p>
                  </a:txBody>
                  <a:tcPr marL="64734" marR="64734" marT="32367" marB="32367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300" dirty="0"/>
                    </a:p>
                  </a:txBody>
                  <a:tcPr marL="64734" marR="64734" marT="32367" marB="32367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6" name="右矢印 135"/>
          <p:cNvSpPr/>
          <p:nvPr/>
        </p:nvSpPr>
        <p:spPr>
          <a:xfrm>
            <a:off x="5903166" y="2564904"/>
            <a:ext cx="360040" cy="177846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7" name="右矢印 136"/>
          <p:cNvSpPr/>
          <p:nvPr/>
        </p:nvSpPr>
        <p:spPr>
          <a:xfrm rot="16200000">
            <a:off x="7076698" y="2974685"/>
            <a:ext cx="360040" cy="188549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テキスト ボックス 137"/>
              <p:cNvSpPr txBox="1"/>
              <p:nvPr/>
            </p:nvSpPr>
            <p:spPr>
              <a:xfrm>
                <a:off x="6263206" y="2039283"/>
                <a:ext cx="267150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2000" dirty="0"/>
                  <a:t>2. </a:t>
                </a:r>
                <a14:m>
                  <m:oMath xmlns:m="http://schemas.openxmlformats.org/officeDocument/2006/math">
                    <m:r>
                      <a:rPr lang="en-US" altLang="ja-JP" sz="2000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ja-JP" altLang="en-US" sz="2000" dirty="0"/>
                  <a:t>を更新</a:t>
                </a:r>
                <a:r>
                  <a:rPr lang="en-US" altLang="ja-JP" sz="2000" dirty="0"/>
                  <a:t>, </a:t>
                </a:r>
                <a14:m>
                  <m:oMath xmlns:m="http://schemas.openxmlformats.org/officeDocument/2006/math">
                    <m:r>
                      <a:rPr lang="en-US" altLang="ja-JP" sz="20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ja-JP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ja-JP" sz="2000" b="1" i="1" dirty="0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ja-JP" sz="2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ja-JP" altLang="en-US" sz="2000" dirty="0"/>
                  <a:t>を計算</a:t>
                </a:r>
                <a:endParaRPr kumimoji="1" lang="ja-JP" altLang="en-US" sz="2000" dirty="0"/>
              </a:p>
            </p:txBody>
          </p:sp>
        </mc:Choice>
        <mc:Fallback xmlns="">
          <p:sp>
            <p:nvSpPr>
              <p:cNvPr id="138" name="テキスト ボックス 1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3206" y="2039283"/>
                <a:ext cx="2671501" cy="400110"/>
              </a:xfrm>
              <a:prstGeom prst="rect">
                <a:avLst/>
              </a:prstGeom>
              <a:blipFill>
                <a:blip r:embed="rId7"/>
                <a:stretch>
                  <a:fillRect l="-2278" t="-13846" r="-1822" b="-2923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0" name="正方形/長方形 139"/>
          <p:cNvSpPr/>
          <p:nvPr/>
        </p:nvSpPr>
        <p:spPr>
          <a:xfrm>
            <a:off x="4395114" y="4744291"/>
            <a:ext cx="349679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2000" dirty="0"/>
              <a:t>3. </a:t>
            </a:r>
            <a:r>
              <a:rPr lang="en-US" altLang="ja-JP" sz="2000" dirty="0" err="1"/>
              <a:t>pbest</a:t>
            </a:r>
            <a:r>
              <a:rPr lang="ja-JP" altLang="en-US" sz="2000" dirty="0"/>
              <a:t>を更新できるかチェック</a:t>
            </a:r>
            <a:endParaRPr lang="en-US" altLang="ja-JP" sz="2000" dirty="0"/>
          </a:p>
          <a:p>
            <a:r>
              <a:rPr lang="en-US" altLang="ja-JP" sz="2000" dirty="0"/>
              <a:t>    (</a:t>
            </a:r>
            <a:r>
              <a:rPr lang="en-US" altLang="ja-JP" sz="2000" dirty="0" err="1"/>
              <a:t>gbest</a:t>
            </a:r>
            <a:r>
              <a:rPr lang="ja-JP" altLang="en-US" sz="2000" dirty="0"/>
              <a:t>も</a:t>
            </a:r>
            <a:r>
              <a:rPr lang="en-US" altLang="ja-JP" sz="2000" dirty="0"/>
              <a:t>)</a:t>
            </a:r>
            <a:endParaRPr lang="ja-JP" altLang="en-US" sz="2000" dirty="0"/>
          </a:p>
        </p:txBody>
      </p:sp>
      <p:sp>
        <p:nvSpPr>
          <p:cNvPr id="141" name="右矢印 140"/>
          <p:cNvSpPr/>
          <p:nvPr/>
        </p:nvSpPr>
        <p:spPr>
          <a:xfrm>
            <a:off x="5723146" y="4448581"/>
            <a:ext cx="360040" cy="177846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aphicFrame>
        <p:nvGraphicFramePr>
          <p:cNvPr id="142" name="表 1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5658103"/>
              </p:ext>
            </p:extLst>
          </p:nvPr>
        </p:nvGraphicFramePr>
        <p:xfrm>
          <a:off x="6434942" y="4360280"/>
          <a:ext cx="1623888" cy="2628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19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9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9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19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9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19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198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62533">
                <a:tc>
                  <a:txBody>
                    <a:bodyPr/>
                    <a:lstStyle/>
                    <a:p>
                      <a:endParaRPr kumimoji="1" lang="ja-JP" altLang="en-US" sz="1300" dirty="0"/>
                    </a:p>
                  </a:txBody>
                  <a:tcPr marL="64734" marR="64734" marT="32367" marB="32367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300" dirty="0"/>
                    </a:p>
                  </a:txBody>
                  <a:tcPr marL="64734" marR="64734" marT="32367" marB="32367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300" dirty="0"/>
                    </a:p>
                  </a:txBody>
                  <a:tcPr marL="64734" marR="64734" marT="32367" marB="32367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300" dirty="0"/>
                    </a:p>
                  </a:txBody>
                  <a:tcPr marL="64734" marR="64734" marT="32367" marB="32367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300" dirty="0"/>
                    </a:p>
                  </a:txBody>
                  <a:tcPr marL="64734" marR="64734" marT="32367" marB="32367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300" dirty="0"/>
                    </a:p>
                  </a:txBody>
                  <a:tcPr marL="64734" marR="64734" marT="32367" marB="32367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300" dirty="0"/>
                    </a:p>
                  </a:txBody>
                  <a:tcPr marL="64734" marR="64734" marT="32367" marB="32367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52" name="グループ化 151"/>
          <p:cNvGrpSpPr/>
          <p:nvPr/>
        </p:nvGrpSpPr>
        <p:grpSpPr>
          <a:xfrm>
            <a:off x="1547664" y="1371370"/>
            <a:ext cx="7323333" cy="3284594"/>
            <a:chOff x="1547664" y="1054951"/>
            <a:chExt cx="7323333" cy="3601013"/>
          </a:xfrm>
        </p:grpSpPr>
        <p:sp>
          <p:nvSpPr>
            <p:cNvPr id="143" name="左中かっこ 142"/>
            <p:cNvSpPr/>
            <p:nvPr/>
          </p:nvSpPr>
          <p:spPr>
            <a:xfrm flipH="1">
              <a:off x="8366940" y="2535935"/>
              <a:ext cx="294406" cy="2120029"/>
            </a:xfrm>
            <a:prstGeom prst="leftBrac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151" name="グループ化 150"/>
            <p:cNvGrpSpPr/>
            <p:nvPr/>
          </p:nvGrpSpPr>
          <p:grpSpPr>
            <a:xfrm>
              <a:off x="1547664" y="1054951"/>
              <a:ext cx="7323333" cy="2540999"/>
              <a:chOff x="1547664" y="1054951"/>
              <a:chExt cx="7323333" cy="2540999"/>
            </a:xfrm>
          </p:grpSpPr>
          <p:cxnSp>
            <p:nvCxnSpPr>
              <p:cNvPr id="147" name="カギ線コネクタ 146"/>
              <p:cNvCxnSpPr>
                <a:stCxn id="143" idx="1"/>
              </p:cNvCxnSpPr>
              <p:nvPr/>
            </p:nvCxnSpPr>
            <p:spPr>
              <a:xfrm flipV="1">
                <a:off x="8661346" y="1054951"/>
                <a:ext cx="209651" cy="2540999"/>
              </a:xfrm>
              <a:prstGeom prst="bentConnector2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カギ線コネクタ 148"/>
              <p:cNvCxnSpPr/>
              <p:nvPr/>
            </p:nvCxnSpPr>
            <p:spPr>
              <a:xfrm rot="10800000" flipV="1">
                <a:off x="1547664" y="1092041"/>
                <a:ext cx="7323333" cy="1429312"/>
              </a:xfrm>
              <a:prstGeom prst="bentConnector3">
                <a:avLst>
                  <a:gd name="adj1" fmla="val 110281"/>
                </a:avLst>
              </a:prstGeom>
              <a:ln w="19050"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53" name="テキスト ボックス 152"/>
          <p:cNvSpPr txBox="1"/>
          <p:nvPr/>
        </p:nvSpPr>
        <p:spPr>
          <a:xfrm>
            <a:off x="4096685" y="930724"/>
            <a:ext cx="24513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4. </a:t>
            </a:r>
            <a:r>
              <a:rPr kumimoji="1" lang="ja-JP" altLang="en-US" sz="2000" dirty="0"/>
              <a:t>個体の情報を更新</a:t>
            </a:r>
          </a:p>
        </p:txBody>
      </p:sp>
      <p:sp>
        <p:nvSpPr>
          <p:cNvPr id="154" name="円/楕円 153"/>
          <p:cNvSpPr/>
          <p:nvPr/>
        </p:nvSpPr>
        <p:spPr>
          <a:xfrm>
            <a:off x="1547663" y="2996952"/>
            <a:ext cx="375954" cy="36004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2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円/楕円 154"/>
              <p:cNvSpPr/>
              <p:nvPr/>
            </p:nvSpPr>
            <p:spPr>
              <a:xfrm>
                <a:off x="1547663" y="4653136"/>
                <a:ext cx="375954" cy="360040"/>
              </a:xfrm>
              <a:prstGeom prst="ellipse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𝑁𝑃</m:t>
                      </m:r>
                    </m:oMath>
                  </m:oMathPara>
                </a14:m>
                <a:endParaRPr kumimoji="1" lang="ja-JP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5" name="円/楕円 15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7663" y="4653136"/>
                <a:ext cx="375954" cy="360040"/>
              </a:xfrm>
              <a:prstGeom prst="ellipse">
                <a:avLst/>
              </a:prstGeom>
              <a:blipFill>
                <a:blip r:embed="rId8"/>
                <a:stretch>
                  <a:fillRect l="-16667" r="-303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3" name="直線矢印コネクタ 162"/>
          <p:cNvCxnSpPr>
            <a:endCxn id="123" idx="1"/>
          </p:cNvCxnSpPr>
          <p:nvPr/>
        </p:nvCxnSpPr>
        <p:spPr>
          <a:xfrm>
            <a:off x="1923617" y="2719907"/>
            <a:ext cx="1015947" cy="83300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下矢印 164"/>
          <p:cNvSpPr/>
          <p:nvPr/>
        </p:nvSpPr>
        <p:spPr>
          <a:xfrm>
            <a:off x="899592" y="2888939"/>
            <a:ext cx="360040" cy="2074205"/>
          </a:xfrm>
          <a:prstGeom prst="downArrow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6" name="テキスト ボックス 165"/>
          <p:cNvSpPr txBox="1"/>
          <p:nvPr/>
        </p:nvSpPr>
        <p:spPr>
          <a:xfrm>
            <a:off x="500938" y="3073851"/>
            <a:ext cx="492443" cy="1344279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ja-JP" altLang="en-US" sz="2000" dirty="0"/>
              <a:t>順番に更新</a:t>
            </a:r>
            <a:endParaRPr kumimoji="1" lang="ja-JP" altLang="en-US" sz="2000" dirty="0"/>
          </a:p>
        </p:txBody>
      </p:sp>
      <p:sp>
        <p:nvSpPr>
          <p:cNvPr id="168" name="テキスト ボックス 167"/>
          <p:cNvSpPr txBox="1"/>
          <p:nvPr/>
        </p:nvSpPr>
        <p:spPr>
          <a:xfrm>
            <a:off x="1495628" y="3769227"/>
            <a:ext cx="677108" cy="3760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altLang="ja-JP" sz="3200" dirty="0"/>
              <a:t>…</a:t>
            </a:r>
            <a:endParaRPr kumimoji="1" lang="ja-JP" altLang="en-US" sz="3200" dirty="0"/>
          </a:p>
        </p:txBody>
      </p:sp>
      <p:sp>
        <p:nvSpPr>
          <p:cNvPr id="169" name="テキスト ボックス 168"/>
          <p:cNvSpPr txBox="1"/>
          <p:nvPr/>
        </p:nvSpPr>
        <p:spPr>
          <a:xfrm>
            <a:off x="173241" y="5601434"/>
            <a:ext cx="8592737" cy="707886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sz="2000" dirty="0" err="1"/>
              <a:t>pbest</a:t>
            </a:r>
            <a:r>
              <a:rPr kumimoji="1" lang="en-US" altLang="ja-JP" sz="2000" dirty="0"/>
              <a:t>, </a:t>
            </a:r>
            <a:r>
              <a:rPr kumimoji="1" lang="en-US" altLang="ja-JP" sz="2000" dirty="0" err="1"/>
              <a:t>gbest</a:t>
            </a:r>
            <a:r>
              <a:rPr kumimoji="1" lang="ja-JP" altLang="en-US" sz="2000" dirty="0"/>
              <a:t>の更新は個体ごとに行われ</a:t>
            </a:r>
            <a:r>
              <a:rPr lang="ja-JP" altLang="en-US" sz="2000" dirty="0"/>
              <a:t>る　（</a:t>
            </a:r>
            <a:r>
              <a:rPr lang="en-US" altLang="ja-JP" b="1" dirty="0"/>
              <a:t> </a:t>
            </a:r>
            <a:r>
              <a:rPr lang="en-US" altLang="ja-JP" b="1" dirty="0" err="1"/>
              <a:t>Unsynchronous</a:t>
            </a:r>
            <a:r>
              <a:rPr lang="en-US" altLang="ja-JP" sz="2000" dirty="0"/>
              <a:t> model</a:t>
            </a:r>
            <a:r>
              <a:rPr lang="ja-JP" altLang="en-US" sz="2000" dirty="0"/>
              <a:t>）</a:t>
            </a:r>
            <a:endParaRPr lang="en-US" altLang="ja-JP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2000" dirty="0"/>
              <a:t>最後の方の番号の個体は，最初の個体よりも良い</a:t>
            </a:r>
            <a:r>
              <a:rPr lang="en-US" altLang="ja-JP" sz="2000" dirty="0" err="1"/>
              <a:t>gbest</a:t>
            </a:r>
            <a:r>
              <a:rPr lang="ja-JP" altLang="en-US" sz="2000" dirty="0"/>
              <a:t>を使える場合がある</a:t>
            </a: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769549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" grpId="0" animBg="1"/>
      <p:bldP spid="133" grpId="0"/>
      <p:bldP spid="136" grpId="0" animBg="1"/>
      <p:bldP spid="137" grpId="0" animBg="1"/>
      <p:bldP spid="138" grpId="0"/>
      <p:bldP spid="140" grpId="0"/>
      <p:bldP spid="141" grpId="0" animBg="1"/>
      <p:bldP spid="153" grpId="0"/>
      <p:bldP spid="165" grpId="0" animBg="1"/>
      <p:bldP spid="166" grpId="0"/>
      <p:bldP spid="16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en-US" altLang="ja-JP" dirty="0"/>
              <a:t>PSO</a:t>
            </a:r>
            <a:r>
              <a:rPr lang="ja-JP" altLang="en-US" dirty="0"/>
              <a:t>のパラメータ設定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/>
              <p:cNvSpPr>
                <a:spLocks noGrp="1"/>
              </p:cNvSpPr>
              <p:nvPr>
                <p:ph idx="1"/>
              </p:nvPr>
            </p:nvSpPr>
            <p:spPr>
              <a:xfrm>
                <a:off x="302840" y="985374"/>
                <a:ext cx="8229600" cy="5179930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ja-JP" sz="2400" dirty="0" smtClean="0"/>
                      <m:t>Linearly</m:t>
                    </m:r>
                    <m:r>
                      <m:rPr>
                        <m:nor/>
                      </m:rPr>
                      <a:rPr lang="en-US" altLang="ja-JP" sz="2400" dirty="0" smtClean="0"/>
                      <m:t> </m:t>
                    </m:r>
                    <m:r>
                      <m:rPr>
                        <m:nor/>
                      </m:rPr>
                      <a:rPr lang="en-US" altLang="ja-JP" sz="2400" dirty="0" smtClean="0"/>
                      <m:t>Decreasing</m:t>
                    </m:r>
                    <m:r>
                      <m:rPr>
                        <m:nor/>
                      </m:rPr>
                      <a:rPr lang="en-US" altLang="ja-JP" sz="2400" dirty="0" smtClean="0"/>
                      <m:t> </m:t>
                    </m:r>
                    <m:r>
                      <m:rPr>
                        <m:nor/>
                      </m:rPr>
                      <a:rPr lang="en-US" altLang="ja-JP" sz="2400" dirty="0" smtClean="0"/>
                      <m:t>Inertia</m:t>
                    </m:r>
                    <m:r>
                      <m:rPr>
                        <m:nor/>
                      </m:rPr>
                      <a:rPr lang="en-US" altLang="ja-JP" sz="2400" dirty="0" smtClean="0"/>
                      <m:t> </m:t>
                    </m:r>
                    <m:r>
                      <m:rPr>
                        <m:nor/>
                      </m:rPr>
                      <a:rPr lang="en-US" altLang="ja-JP" sz="2400" dirty="0" smtClean="0"/>
                      <m:t>Weight</m:t>
                    </m:r>
                    <m:r>
                      <m:rPr>
                        <m:nor/>
                      </m:rPr>
                      <a:rPr lang="en-US" altLang="ja-JP" sz="2400" b="0" i="0" dirty="0" smtClean="0"/>
                      <m:t> </m:t>
                    </m:r>
                    <m:r>
                      <m:rPr>
                        <m:nor/>
                      </m:rPr>
                      <a:rPr lang="en-US" altLang="ja-JP" sz="2400" dirty="0" smtClean="0"/>
                      <m:t>Method</m:t>
                    </m:r>
                    <m:r>
                      <m:rPr>
                        <m:nor/>
                      </m:rPr>
                      <a:rPr lang="en-US" altLang="ja-JP" sz="2400" dirty="0" smtClean="0"/>
                      <m:t>(</m:t>
                    </m:r>
                    <m:r>
                      <m:rPr>
                        <m:nor/>
                      </m:rPr>
                      <a:rPr lang="en-US" altLang="ja-JP" sz="2400" dirty="0" smtClean="0"/>
                      <m:t>LDIWM</m:t>
                    </m:r>
                    <m:r>
                      <m:rPr>
                        <m:nor/>
                      </m:rPr>
                      <a:rPr lang="en-US" altLang="ja-JP" sz="2400" dirty="0" smtClean="0"/>
                      <m:t>)</m:t>
                    </m:r>
                  </m:oMath>
                </a14:m>
                <a:endParaRPr lang="en-US" altLang="ja-JP" sz="2400" dirty="0"/>
              </a:p>
              <a:p>
                <a:pPr lvl="1"/>
                <a:r>
                  <a:rPr lang="ja-JP" altLang="en-US" sz="2100" dirty="0"/>
                  <a:t>不安定領域から安定領域へ</a:t>
                </a:r>
                <a:endParaRPr lang="en-US" altLang="ja-JP" sz="21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ja-JP" altLang="ja-JP" sz="2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100" i="1"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altLang="ja-JP" sz="21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altLang="ja-JP" sz="2100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ja-JP" altLang="ja-JP" sz="2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100" i="1"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altLang="ja-JP" sz="21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altLang="ja-JP" sz="2100" i="1">
                        <a:latin typeface="Cambria Math"/>
                      </a:rPr>
                      <m:t>=2</m:t>
                    </m:r>
                    <m:r>
                      <a:rPr lang="en-US" altLang="ja-JP" sz="2100" b="0" i="1" smtClean="0">
                        <a:latin typeface="Cambria Math" panose="02040503050406030204" pitchFamily="18" charset="0"/>
                      </a:rPr>
                      <m:t>.0 </m:t>
                    </m:r>
                  </m:oMath>
                </a14:m>
                <a:r>
                  <a:rPr lang="ja-JP" altLang="ja-JP" sz="2100" dirty="0"/>
                  <a:t>とし，</a:t>
                </a:r>
                <a14:m>
                  <m:oMath xmlns:m="http://schemas.openxmlformats.org/officeDocument/2006/math">
                    <m:r>
                      <a:rPr lang="en-US" altLang="ja-JP" sz="2100" i="1">
                        <a:latin typeface="Cambria Math"/>
                      </a:rPr>
                      <m:t>𝑤</m:t>
                    </m:r>
                  </m:oMath>
                </a14:m>
                <a:r>
                  <a:rPr lang="ja-JP" altLang="ja-JP" sz="2100" dirty="0"/>
                  <a:t>を</a:t>
                </a:r>
                <a:r>
                  <a:rPr lang="en-US" altLang="ja-JP" sz="2100" dirty="0"/>
                  <a:t>0.9</a:t>
                </a:r>
                <a:r>
                  <a:rPr lang="ja-JP" altLang="ja-JP" sz="2100" dirty="0"/>
                  <a:t>から</a:t>
                </a:r>
                <a:r>
                  <a:rPr lang="en-US" altLang="ja-JP" sz="2100" dirty="0"/>
                  <a:t>0.4</a:t>
                </a:r>
                <a:r>
                  <a:rPr lang="ja-JP" altLang="ja-JP" sz="2100" dirty="0"/>
                  <a:t>へ減少させる</a:t>
                </a:r>
                <a:endParaRPr lang="en-US" altLang="ja-JP" sz="2100" dirty="0"/>
              </a:p>
              <a:p>
                <a:pPr lvl="1"/>
                <a:endParaRPr lang="en-US" altLang="ja-JP" sz="2000" dirty="0"/>
              </a:p>
              <a:p>
                <a:pPr marL="457200" lvl="1" indent="0">
                  <a:buNone/>
                </a:pPr>
                <a:endParaRPr lang="en-US" altLang="ja-JP" sz="2000" dirty="0"/>
              </a:p>
              <a:p>
                <a:r>
                  <a:rPr lang="en-US" altLang="ja-JP" sz="2400" dirty="0"/>
                  <a:t>Construction Method (CM)</a:t>
                </a:r>
              </a:p>
              <a:p>
                <a:pPr lvl="1"/>
                <a:r>
                  <a:rPr lang="ja-JP" altLang="en-US" sz="2100" dirty="0"/>
                  <a:t>パラメータを弱い安定領域に</a:t>
                </a:r>
                <a14:m>
                  <m:oMath xmlns:m="http://schemas.openxmlformats.org/officeDocument/2006/math">
                    <m:r>
                      <a:rPr lang="ja-JP" altLang="en-US" sz="2100" i="1" dirty="0" smtClean="0">
                        <a:latin typeface="Cambria Math"/>
                      </a:rPr>
                      <m:t>設定</m:t>
                    </m:r>
                  </m:oMath>
                </a14:m>
                <a:endParaRPr lang="en-US" altLang="ja-JP" sz="2100" i="1" dirty="0">
                  <a:latin typeface="Cambria Math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ja-JP" sz="2100" i="1" dirty="0" smtClean="0">
                        <a:latin typeface="Cambria Math"/>
                      </a:rPr>
                      <m:t> </m:t>
                    </m:r>
                    <m:r>
                      <a:rPr lang="en-US" altLang="ja-JP" sz="2100" i="1" dirty="0">
                        <a:latin typeface="Cambria Math"/>
                      </a:rPr>
                      <m:t>𝑤</m:t>
                    </m:r>
                    <m:r>
                      <a:rPr lang="en-US" altLang="ja-JP" sz="2100" i="1" dirty="0">
                        <a:latin typeface="Cambria Math"/>
                      </a:rPr>
                      <m:t> = 0.729</m:t>
                    </m:r>
                    <m:r>
                      <a:rPr lang="ja-JP" altLang="en-US" sz="2100" i="1" dirty="0" err="1">
                        <a:latin typeface="Cambria Math"/>
                      </a:rPr>
                      <m:t>，</m:t>
                    </m:r>
                    <m:sSub>
                      <m:sSubPr>
                        <m:ctrlPr>
                          <a:rPr lang="en-US" altLang="ja-JP" sz="21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100" i="1" dirty="0"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altLang="ja-JP" sz="2100" i="1" dirty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altLang="ja-JP" sz="2100" i="1" dirty="0">
                        <a:latin typeface="Cambria Math"/>
                      </a:rPr>
                      <m:t> = </m:t>
                    </m:r>
                    <m:sSub>
                      <m:sSubPr>
                        <m:ctrlPr>
                          <a:rPr lang="en-US" altLang="ja-JP" sz="21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100" i="1" dirty="0"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altLang="ja-JP" sz="2100" i="1" dirty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altLang="ja-JP" sz="2100" i="1" dirty="0">
                        <a:latin typeface="Cambria Math"/>
                      </a:rPr>
                      <m:t> = 1.4955</m:t>
                    </m:r>
                  </m:oMath>
                </a14:m>
                <a:endParaRPr lang="en-US" altLang="ja-JP" sz="2100" dirty="0"/>
              </a:p>
              <a:p>
                <a:pPr lvl="1"/>
                <a:endParaRPr lang="en-US" altLang="ja-JP" sz="2000" dirty="0"/>
              </a:p>
              <a:p>
                <a:r>
                  <a:rPr lang="en-US" altLang="ja-JP" sz="2400" dirty="0"/>
                  <a:t>Random Inertia Weight Method (RIWM)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ja-JP" altLang="ja-JP" sz="2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100" i="1"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altLang="ja-JP" sz="21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altLang="ja-JP" sz="2100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ja-JP" altLang="ja-JP" sz="2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100" i="1"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altLang="ja-JP" sz="21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altLang="ja-JP" sz="2100" i="1">
                        <a:latin typeface="Cambria Math"/>
                      </a:rPr>
                      <m:t>=</m:t>
                    </m:r>
                  </m:oMath>
                </a14:m>
                <a:r>
                  <a:rPr lang="en-US" altLang="ja-JP" sz="2100" dirty="0"/>
                  <a:t> 1.4955 </a:t>
                </a:r>
                <a:r>
                  <a:rPr lang="ja-JP" altLang="en-US" sz="2100" dirty="0"/>
                  <a:t>とし，</a:t>
                </a:r>
                <a14:m>
                  <m:oMath xmlns:m="http://schemas.openxmlformats.org/officeDocument/2006/math">
                    <m:r>
                      <a:rPr lang="en-US" altLang="ja-JP" sz="2100" i="1" dirty="0" smtClean="0">
                        <a:latin typeface="Cambria Math"/>
                      </a:rPr>
                      <m:t>0.5 ≤ </m:t>
                    </m:r>
                    <m:r>
                      <a:rPr lang="en-US" altLang="ja-JP" sz="2100" i="1" dirty="0" smtClean="0">
                        <a:latin typeface="Cambria Math"/>
                      </a:rPr>
                      <m:t>𝑤</m:t>
                    </m:r>
                    <m:r>
                      <a:rPr lang="en-US" altLang="ja-JP" sz="2100" i="1" dirty="0" smtClean="0">
                        <a:latin typeface="Cambria Math"/>
                      </a:rPr>
                      <m:t> ≤ 1.0 </m:t>
                    </m:r>
                  </m:oMath>
                </a14:m>
                <a:r>
                  <a:rPr lang="ja-JP" altLang="en-US" sz="2100" dirty="0"/>
                  <a:t>の間で状態更新毎にランダムに </a:t>
                </a:r>
                <a14:m>
                  <m:oMath xmlns:m="http://schemas.openxmlformats.org/officeDocument/2006/math">
                    <m:r>
                      <a:rPr lang="en-US" altLang="ja-JP" sz="2100" i="1" dirty="0" smtClean="0">
                        <a:latin typeface="Cambria Math"/>
                      </a:rPr>
                      <m:t>𝑤</m:t>
                    </m:r>
                    <m:r>
                      <a:rPr lang="en-US" altLang="ja-JP" sz="2100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ja-JP" altLang="en-US" sz="2100" dirty="0"/>
                  <a:t>を決定</a:t>
                </a:r>
                <a:endParaRPr lang="en-US" altLang="ja-JP" sz="2100" dirty="0"/>
              </a:p>
            </p:txBody>
          </p:sp>
        </mc:Choice>
        <mc:Fallback xmlns="">
          <p:sp>
            <p:nvSpPr>
              <p:cNvPr id="3" name="コンテンツ プレースホルダー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2840" y="985374"/>
                <a:ext cx="8229600" cy="5179930"/>
              </a:xfrm>
              <a:blipFill>
                <a:blip r:embed="rId3"/>
                <a:stretch>
                  <a:fillRect l="-1037" t="-589" r="-44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グループ化 3"/>
          <p:cNvGrpSpPr/>
          <p:nvPr/>
        </p:nvGrpSpPr>
        <p:grpSpPr>
          <a:xfrm>
            <a:off x="6012160" y="2483604"/>
            <a:ext cx="2592288" cy="1818784"/>
            <a:chOff x="6372200" y="2780928"/>
            <a:chExt cx="2592288" cy="1818784"/>
          </a:xfrm>
        </p:grpSpPr>
        <p:cxnSp>
          <p:nvCxnSpPr>
            <p:cNvPr id="5" name="直線矢印コネクタ 4"/>
            <p:cNvCxnSpPr/>
            <p:nvPr/>
          </p:nvCxnSpPr>
          <p:spPr>
            <a:xfrm flipV="1">
              <a:off x="6876256" y="2780928"/>
              <a:ext cx="0" cy="1656184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線矢印コネクタ 6"/>
            <p:cNvCxnSpPr/>
            <p:nvPr/>
          </p:nvCxnSpPr>
          <p:spPr>
            <a:xfrm>
              <a:off x="6444208" y="4221088"/>
              <a:ext cx="2520280" cy="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線コネクタ 8"/>
            <p:cNvCxnSpPr/>
            <p:nvPr/>
          </p:nvCxnSpPr>
          <p:spPr>
            <a:xfrm>
              <a:off x="6876256" y="3212976"/>
              <a:ext cx="1656184" cy="720080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テキスト ボックス 9"/>
                <p:cNvSpPr txBox="1"/>
                <p:nvPr/>
              </p:nvSpPr>
              <p:spPr>
                <a:xfrm>
                  <a:off x="8172400" y="4230380"/>
                  <a:ext cx="67653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 dirty="0" smtClean="0"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ja-JP" i="1" dirty="0" err="1" smtClean="0">
                                <a:latin typeface="Cambria Math"/>
                              </a:rPr>
                              <m:t>max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dirty="0"/>
                </a:p>
              </p:txBody>
            </p:sp>
          </mc:Choice>
          <mc:Fallback xmlns="">
            <p:sp>
              <p:nvSpPr>
                <p:cNvPr id="10" name="テキスト ボックス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72400" y="4230380"/>
                  <a:ext cx="676532" cy="369332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テキスト ボックス 10"/>
            <p:cNvSpPr txBox="1"/>
            <p:nvPr/>
          </p:nvSpPr>
          <p:spPr>
            <a:xfrm>
              <a:off x="6372200" y="2996952"/>
              <a:ext cx="4764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0.9</a:t>
              </a:r>
              <a:endParaRPr kumimoji="1" lang="ja-JP" altLang="en-US" dirty="0"/>
            </a:p>
          </p:txBody>
        </p:sp>
        <p:sp>
          <p:nvSpPr>
            <p:cNvPr id="12" name="正方形/長方形 11"/>
            <p:cNvSpPr/>
            <p:nvPr/>
          </p:nvSpPr>
          <p:spPr>
            <a:xfrm>
              <a:off x="6372200" y="3717032"/>
              <a:ext cx="47641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ja-JP" dirty="0"/>
                <a:t>0.4</a:t>
              </a:r>
              <a:endParaRPr lang="ja-JP" altLang="en-US" dirty="0"/>
            </a:p>
          </p:txBody>
        </p:sp>
      </p:grp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D5F38-347F-4466-AB9F-04B1B3000A8E}" type="slidenum">
              <a:rPr kumimoji="1" lang="ja-JP" altLang="en-US" smtClean="0"/>
              <a:t>20</a:t>
            </a:fld>
            <a:endParaRPr kumimoji="1" lang="ja-JP" altLang="en-US"/>
          </a:p>
        </p:txBody>
      </p:sp>
      <p:cxnSp>
        <p:nvCxnSpPr>
          <p:cNvPr id="15" name="直線コネクタ 14"/>
          <p:cNvCxnSpPr/>
          <p:nvPr/>
        </p:nvCxnSpPr>
        <p:spPr>
          <a:xfrm>
            <a:off x="6444208" y="3635732"/>
            <a:ext cx="1716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/>
          <p:cNvCxnSpPr/>
          <p:nvPr/>
        </p:nvCxnSpPr>
        <p:spPr>
          <a:xfrm>
            <a:off x="6444208" y="2915652"/>
            <a:ext cx="1716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角丸四角形吹き出し 7"/>
          <p:cNvSpPr/>
          <p:nvPr/>
        </p:nvSpPr>
        <p:spPr>
          <a:xfrm>
            <a:off x="6804248" y="1556792"/>
            <a:ext cx="2205608" cy="652718"/>
          </a:xfrm>
          <a:prstGeom prst="wedgeRoundRectCallout">
            <a:avLst>
              <a:gd name="adj1" fmla="val -53758"/>
              <a:gd name="adj2" fmla="val -6972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サンプルプログラム</a:t>
            </a:r>
            <a:endParaRPr lang="en-US" altLang="ja-JP" dirty="0"/>
          </a:p>
          <a:p>
            <a:pPr algn="ctr"/>
            <a:r>
              <a:rPr kumimoji="1" lang="ja-JP" altLang="en-US" dirty="0"/>
              <a:t>のデフォルト設定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正方形/長方形 12"/>
              <p:cNvSpPr/>
              <p:nvPr/>
            </p:nvSpPr>
            <p:spPr>
              <a:xfrm>
                <a:off x="6018804" y="2365234"/>
                <a:ext cx="41421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i="1">
                          <a:latin typeface="Cambria Math"/>
                        </a:rPr>
                        <m:t>𝑤</m:t>
                      </m:r>
                    </m:oMath>
                  </m:oMathPara>
                </a14:m>
                <a:endParaRPr lang="ja-JP" altLang="en-US" dirty="0"/>
              </a:p>
            </p:txBody>
          </p:sp>
        </mc:Choice>
        <mc:Fallback xmlns="">
          <p:sp>
            <p:nvSpPr>
              <p:cNvPr id="13" name="正方形/長方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8804" y="2365234"/>
                <a:ext cx="414216" cy="36933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直線コネクタ 16"/>
          <p:cNvCxnSpPr/>
          <p:nvPr/>
        </p:nvCxnSpPr>
        <p:spPr>
          <a:xfrm>
            <a:off x="8172400" y="3837168"/>
            <a:ext cx="0" cy="1440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7301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/>
          <a:lstStyle/>
          <a:p>
            <a:r>
              <a:rPr lang="ja-JP" altLang="en-US" dirty="0"/>
              <a:t>粒子群の安定・不安定</a:t>
            </a:r>
            <a:endParaRPr kumimoji="1" lang="ja-JP" altLang="en-US" dirty="0"/>
          </a:p>
        </p:txBody>
      </p:sp>
      <p:pic>
        <p:nvPicPr>
          <p:cNvPr id="5" name="コンテンツ プレースホルダー 4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1421036"/>
            <a:ext cx="6015257" cy="4694557"/>
          </a:xfrm>
        </p:spPr>
      </p:pic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D5F38-347F-4466-AB9F-04B1B3000A8E}" type="slidenum">
              <a:rPr kumimoji="1" lang="ja-JP" altLang="en-US" smtClean="0"/>
              <a:t>21</a:t>
            </a:fld>
            <a:endParaRPr kumimoji="1" lang="ja-JP" altLang="en-US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827584" y="6227219"/>
            <a:ext cx="69541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b="1" dirty="0"/>
              <a:t>メタヒューリスティクスと応用</a:t>
            </a:r>
            <a:r>
              <a:rPr lang="ja-JP" altLang="en-US" dirty="0"/>
              <a:t>，相吉</a:t>
            </a:r>
            <a:r>
              <a:rPr lang="en-US" altLang="ja-JP" dirty="0"/>
              <a:t>&amp;</a:t>
            </a:r>
            <a:r>
              <a:rPr lang="ja-JP" altLang="en-US" dirty="0"/>
              <a:t>安田，電気学会</a:t>
            </a:r>
            <a:r>
              <a:rPr lang="en-US" altLang="ja-JP" dirty="0"/>
              <a:t>, 2007,</a:t>
            </a:r>
            <a:r>
              <a:rPr lang="ja-JP" altLang="en-US" dirty="0"/>
              <a:t>　（</a:t>
            </a:r>
            <a:r>
              <a:rPr lang="en-US" altLang="ja-JP" dirty="0"/>
              <a:t>82P</a:t>
            </a:r>
            <a:r>
              <a:rPr lang="ja-JP" altLang="en-US" dirty="0"/>
              <a:t>より）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8378171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A308E0F-EEC1-2BD4-9E04-1EF1C7F4E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C3DFC28-8FAA-0067-86E7-D9D99D209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C073218-E723-19EA-51DD-CBE25B913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D5F38-347F-4466-AB9F-04B1B3000A8E}" type="slidenum">
              <a:rPr kumimoji="1" lang="ja-JP" altLang="en-US" smtClean="0"/>
              <a:t>22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70541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b="1" dirty="0"/>
              <a:t>PSO</a:t>
            </a:r>
            <a:r>
              <a:rPr lang="ja-JP" altLang="en-US" b="1" dirty="0"/>
              <a:t>のプログラム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dirty="0"/>
              <a:t>プログラム中の変更可能なパラメータ</a:t>
            </a:r>
            <a:endParaRPr lang="en-US" altLang="ja-JP" dirty="0"/>
          </a:p>
          <a:p>
            <a:r>
              <a:rPr lang="ja-JP" altLang="en-US" dirty="0"/>
              <a:t>個体数</a:t>
            </a:r>
            <a:r>
              <a:rPr lang="en-US" altLang="ja-JP" dirty="0"/>
              <a:t>(</a:t>
            </a:r>
            <a:r>
              <a:rPr lang="en-US" altLang="ja-JP" dirty="0" err="1"/>
              <a:t>Nindividuals</a:t>
            </a:r>
            <a:r>
              <a:rPr lang="en-US" altLang="ja-JP" dirty="0"/>
              <a:t>)</a:t>
            </a:r>
          </a:p>
          <a:p>
            <a:r>
              <a:rPr lang="ja-JP" altLang="en-US" dirty="0"/>
              <a:t>認知パラメータ</a:t>
            </a:r>
            <a:r>
              <a:rPr lang="en-US" altLang="ja-JP" dirty="0"/>
              <a:t>(C1)</a:t>
            </a:r>
          </a:p>
          <a:p>
            <a:r>
              <a:rPr lang="ja-JP" altLang="en-US" dirty="0"/>
              <a:t>社会パラメータ</a:t>
            </a:r>
            <a:r>
              <a:rPr lang="en-US" altLang="ja-JP" dirty="0"/>
              <a:t>(C2)</a:t>
            </a:r>
          </a:p>
          <a:p>
            <a:r>
              <a:rPr lang="ja-JP" altLang="en-US" dirty="0"/>
              <a:t>慣性係数の初期値</a:t>
            </a:r>
            <a:r>
              <a:rPr lang="en-US" altLang="ja-JP" dirty="0"/>
              <a:t>(W_0)</a:t>
            </a:r>
          </a:p>
          <a:p>
            <a:r>
              <a:rPr lang="ja-JP" altLang="en-US" dirty="0"/>
              <a:t>慣性係数の最終値</a:t>
            </a:r>
            <a:r>
              <a:rPr lang="en-US" altLang="ja-JP" dirty="0"/>
              <a:t>(W_T)</a:t>
            </a:r>
          </a:p>
          <a:p>
            <a:r>
              <a:rPr lang="ja-JP" altLang="en-US" dirty="0"/>
              <a:t>最大速度</a:t>
            </a:r>
            <a:r>
              <a:rPr lang="en-US" altLang="ja-JP" dirty="0"/>
              <a:t>(MAX_V)</a:t>
            </a:r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D5F38-347F-4466-AB9F-04B1B3000A8E}" type="slidenum">
              <a:rPr kumimoji="1" lang="ja-JP" altLang="en-US" smtClean="0"/>
              <a:t>25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角丸四角形吹き出し 5"/>
              <p:cNvSpPr/>
              <p:nvPr/>
            </p:nvSpPr>
            <p:spPr>
              <a:xfrm>
                <a:off x="5220072" y="2924944"/>
                <a:ext cx="3466728" cy="936104"/>
              </a:xfrm>
              <a:prstGeom prst="wedgeRoundRectCallout">
                <a:avLst>
                  <a:gd name="adj1" fmla="val -49379"/>
                  <a:gd name="adj2" fmla="val 99967"/>
                  <a:gd name="adj3" fmla="val 16667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ja-JP" sz="2000" dirty="0" smtClean="0"/>
                      <m:t>LDIW</m:t>
                    </m:r>
                  </m:oMath>
                </a14:m>
                <a:r>
                  <a:rPr lang="en-US" altLang="ja-JP" sz="2000" dirty="0"/>
                  <a:t>M</a:t>
                </a:r>
              </a:p>
              <a:p>
                <a:r>
                  <a:rPr lang="en-US" altLang="ja-JP" sz="2000" dirty="0"/>
                  <a:t>W</a:t>
                </a:r>
                <a:r>
                  <a:rPr lang="ja-JP" altLang="en-US" sz="2000" dirty="0" err="1"/>
                  <a:t>を除々に</a:t>
                </a:r>
                <a:r>
                  <a:rPr lang="ja-JP" altLang="en-US" sz="2000" dirty="0"/>
                  <a:t>減少</a:t>
                </a:r>
                <a:r>
                  <a:rPr lang="en-US" altLang="ja-JP" sz="2000" dirty="0"/>
                  <a:t>(W_0 </a:t>
                </a:r>
                <a14:m>
                  <m:oMath xmlns:m="http://schemas.openxmlformats.org/officeDocument/2006/math">
                    <m:r>
                      <a:rPr lang="en-US" altLang="ja-JP" sz="2000" i="1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ja-JP" sz="2000" dirty="0"/>
                  <a:t> W_T)</a:t>
                </a:r>
              </a:p>
            </p:txBody>
          </p:sp>
        </mc:Choice>
        <mc:Fallback xmlns="">
          <p:sp>
            <p:nvSpPr>
              <p:cNvPr id="6" name="角丸四角形吹き出し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0072" y="2924944"/>
                <a:ext cx="3466728" cy="936104"/>
              </a:xfrm>
              <a:prstGeom prst="wedgeRoundRectCallout">
                <a:avLst>
                  <a:gd name="adj1" fmla="val -49379"/>
                  <a:gd name="adj2" fmla="val 99967"/>
                  <a:gd name="adj3" fmla="val 16667"/>
                </a:avLst>
              </a:prstGeom>
              <a:blipFill rotWithShape="0">
                <a:blip r:embed="rId2"/>
                <a:stretch>
                  <a:fillRect l="-17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06792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PSO</a:t>
            </a:r>
            <a:r>
              <a:rPr kumimoji="1" lang="ja-JP" altLang="en-US" dirty="0"/>
              <a:t>のパラメータ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altLang="ja-JP" dirty="0">
                <a:solidFill>
                  <a:srgbClr val="00B050"/>
                </a:solidFill>
              </a:rPr>
              <a:t>/* </a:t>
            </a:r>
            <a:r>
              <a:rPr lang="ja-JP" altLang="en-US" dirty="0">
                <a:solidFill>
                  <a:srgbClr val="00B050"/>
                </a:solidFill>
              </a:rPr>
              <a:t>試行回数</a:t>
            </a:r>
            <a:r>
              <a:rPr lang="en-US" altLang="ja-JP" dirty="0">
                <a:solidFill>
                  <a:srgbClr val="00B050"/>
                </a:solidFill>
              </a:rPr>
              <a:t>(</a:t>
            </a:r>
            <a:r>
              <a:rPr lang="ja-JP" altLang="en-US" dirty="0">
                <a:solidFill>
                  <a:srgbClr val="00B050"/>
                </a:solidFill>
              </a:rPr>
              <a:t>平均性能を調べるため</a:t>
            </a:r>
            <a:r>
              <a:rPr lang="en-US" altLang="ja-JP" dirty="0">
                <a:solidFill>
                  <a:srgbClr val="00B050"/>
                </a:solidFill>
              </a:rPr>
              <a:t>) */</a:t>
            </a:r>
          </a:p>
          <a:p>
            <a:pPr marL="0" indent="0">
              <a:buNone/>
            </a:pPr>
            <a:r>
              <a:rPr lang="en-US" altLang="ja-JP" dirty="0"/>
              <a:t>#define RUN_MAX		30</a:t>
            </a:r>
          </a:p>
          <a:p>
            <a:pPr marL="0" indent="0">
              <a:buNone/>
            </a:pPr>
            <a:r>
              <a:rPr lang="en-US" altLang="ja-JP" dirty="0"/>
              <a:t>#define MAX_EVALUATIONS	200000</a:t>
            </a:r>
          </a:p>
          <a:p>
            <a:pPr marL="0" indent="0">
              <a:buNone/>
            </a:pPr>
            <a:r>
              <a:rPr lang="en-US" altLang="ja-JP" dirty="0">
                <a:solidFill>
                  <a:srgbClr val="00B050"/>
                </a:solidFill>
              </a:rPr>
              <a:t>/* </a:t>
            </a:r>
            <a:r>
              <a:rPr lang="ja-JP" altLang="en-US" dirty="0">
                <a:solidFill>
                  <a:srgbClr val="00B050"/>
                </a:solidFill>
              </a:rPr>
              <a:t>個体数 *</a:t>
            </a:r>
            <a:r>
              <a:rPr lang="en-US" altLang="ja-JP" dirty="0">
                <a:solidFill>
                  <a:srgbClr val="00B050"/>
                </a:solidFill>
              </a:rPr>
              <a:t>/</a:t>
            </a:r>
          </a:p>
          <a:p>
            <a:pPr marL="0" indent="0">
              <a:buNone/>
            </a:pPr>
            <a:r>
              <a:rPr lang="en-US" altLang="ja-JP" dirty="0"/>
              <a:t>#define </a:t>
            </a:r>
            <a:r>
              <a:rPr lang="en-US" altLang="ja-JP" dirty="0" err="1">
                <a:solidFill>
                  <a:srgbClr val="FF0000"/>
                </a:solidFill>
              </a:rPr>
              <a:t>Nparticles</a:t>
            </a:r>
            <a:r>
              <a:rPr lang="en-US" altLang="ja-JP" dirty="0"/>
              <a:t>	20</a:t>
            </a:r>
          </a:p>
          <a:p>
            <a:pPr marL="0" indent="0">
              <a:buNone/>
            </a:pPr>
            <a:r>
              <a:rPr lang="en-US" altLang="ja-JP" dirty="0">
                <a:solidFill>
                  <a:srgbClr val="00B050"/>
                </a:solidFill>
              </a:rPr>
              <a:t>/* </a:t>
            </a:r>
            <a:r>
              <a:rPr lang="ja-JP" altLang="en-US" dirty="0">
                <a:solidFill>
                  <a:srgbClr val="00B050"/>
                </a:solidFill>
              </a:rPr>
              <a:t>最大世代数</a:t>
            </a:r>
            <a:r>
              <a:rPr lang="en-US" altLang="ja-JP" dirty="0">
                <a:solidFill>
                  <a:srgbClr val="00B050"/>
                </a:solidFill>
              </a:rPr>
              <a:t>(</a:t>
            </a:r>
            <a:r>
              <a:rPr lang="ja-JP" altLang="en-US" dirty="0">
                <a:solidFill>
                  <a:srgbClr val="00B050"/>
                </a:solidFill>
              </a:rPr>
              <a:t>繰り返し回数</a:t>
            </a:r>
            <a:r>
              <a:rPr lang="en-US" altLang="ja-JP" dirty="0">
                <a:solidFill>
                  <a:srgbClr val="00B050"/>
                </a:solidFill>
              </a:rPr>
              <a:t>) */</a:t>
            </a:r>
          </a:p>
          <a:p>
            <a:pPr marL="0" indent="0">
              <a:buNone/>
            </a:pPr>
            <a:r>
              <a:rPr lang="en-US" altLang="ja-JP" dirty="0"/>
              <a:t>#define T_MAX		(MAX_EVALUATIONS/</a:t>
            </a:r>
            <a:r>
              <a:rPr lang="en-US" altLang="ja-JP" dirty="0" err="1"/>
              <a:t>Nparticles</a:t>
            </a:r>
            <a:r>
              <a:rPr lang="en-US" altLang="ja-JP" dirty="0"/>
              <a:t>)</a:t>
            </a:r>
          </a:p>
          <a:p>
            <a:pPr marL="0" indent="0">
              <a:buNone/>
            </a:pPr>
            <a:r>
              <a:rPr lang="en-US" altLang="ja-JP" dirty="0">
                <a:solidFill>
                  <a:srgbClr val="00B050"/>
                </a:solidFill>
              </a:rPr>
              <a:t>/* </a:t>
            </a:r>
            <a:r>
              <a:rPr lang="ja-JP" altLang="en-US" dirty="0">
                <a:solidFill>
                  <a:srgbClr val="00B050"/>
                </a:solidFill>
              </a:rPr>
              <a:t>パラメータ *</a:t>
            </a:r>
            <a:r>
              <a:rPr lang="en-US" altLang="ja-JP" dirty="0">
                <a:solidFill>
                  <a:srgbClr val="00B050"/>
                </a:solidFill>
              </a:rPr>
              <a:t>/</a:t>
            </a:r>
          </a:p>
          <a:p>
            <a:pPr marL="0" indent="0">
              <a:buNone/>
            </a:pPr>
            <a:r>
              <a:rPr lang="en-US" altLang="ja-JP" dirty="0"/>
              <a:t>#define </a:t>
            </a:r>
            <a:r>
              <a:rPr lang="en-US" altLang="ja-JP" dirty="0">
                <a:solidFill>
                  <a:srgbClr val="FF0000"/>
                </a:solidFill>
              </a:rPr>
              <a:t>C1</a:t>
            </a:r>
            <a:r>
              <a:rPr lang="en-US" altLang="ja-JP" dirty="0"/>
              <a:t>	2.0</a:t>
            </a:r>
          </a:p>
          <a:p>
            <a:pPr marL="0" indent="0">
              <a:buNone/>
            </a:pPr>
            <a:r>
              <a:rPr lang="en-US" altLang="ja-JP" dirty="0"/>
              <a:t>#define </a:t>
            </a:r>
            <a:r>
              <a:rPr lang="en-US" altLang="ja-JP" dirty="0">
                <a:solidFill>
                  <a:srgbClr val="FF0000"/>
                </a:solidFill>
              </a:rPr>
              <a:t>C2</a:t>
            </a:r>
            <a:r>
              <a:rPr lang="en-US" altLang="ja-JP" dirty="0"/>
              <a:t>	2.0</a:t>
            </a:r>
          </a:p>
          <a:p>
            <a:pPr marL="0" indent="0">
              <a:buNone/>
            </a:pPr>
            <a:r>
              <a:rPr lang="en-US" altLang="ja-JP" dirty="0"/>
              <a:t>#define </a:t>
            </a:r>
            <a:r>
              <a:rPr lang="en-US" altLang="ja-JP" dirty="0">
                <a:solidFill>
                  <a:srgbClr val="FF0000"/>
                </a:solidFill>
              </a:rPr>
              <a:t>W_0</a:t>
            </a:r>
            <a:r>
              <a:rPr lang="en-US" altLang="ja-JP" dirty="0"/>
              <a:t>	0.9</a:t>
            </a:r>
          </a:p>
          <a:p>
            <a:pPr marL="0" indent="0">
              <a:buNone/>
            </a:pPr>
            <a:r>
              <a:rPr lang="en-US" altLang="ja-JP" dirty="0"/>
              <a:t>#define </a:t>
            </a:r>
            <a:r>
              <a:rPr lang="en-US" altLang="ja-JP" dirty="0">
                <a:solidFill>
                  <a:srgbClr val="FF0000"/>
                </a:solidFill>
              </a:rPr>
              <a:t>W_T</a:t>
            </a:r>
            <a:r>
              <a:rPr lang="en-US" altLang="ja-JP" dirty="0"/>
              <a:t>	0.4</a:t>
            </a:r>
          </a:p>
          <a:p>
            <a:pPr marL="0" indent="0">
              <a:buNone/>
            </a:pPr>
            <a:r>
              <a:rPr lang="en-US" altLang="ja-JP" dirty="0"/>
              <a:t>#define </a:t>
            </a:r>
            <a:r>
              <a:rPr lang="en-US" altLang="ja-JP" dirty="0">
                <a:solidFill>
                  <a:srgbClr val="FF0000"/>
                </a:solidFill>
              </a:rPr>
              <a:t>MAX_V</a:t>
            </a:r>
            <a:r>
              <a:rPr lang="en-US" altLang="ja-JP" dirty="0"/>
              <a:t>	0.5*(UPPER-LOWER)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D5F38-347F-4466-AB9F-04B1B3000A8E}" type="slidenum">
              <a:rPr kumimoji="1" lang="ja-JP" altLang="en-US" smtClean="0"/>
              <a:t>26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400432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410114"/>
          </a:xfrm>
        </p:spPr>
        <p:txBody>
          <a:bodyPr>
            <a:normAutofit fontScale="90000"/>
          </a:bodyPr>
          <a:lstStyle/>
          <a:p>
            <a:r>
              <a:rPr kumimoji="1" lang="en-US" altLang="ja-JP" dirty="0"/>
              <a:t>PSO</a:t>
            </a:r>
            <a:r>
              <a:rPr kumimoji="1" lang="ja-JP" altLang="en-US" dirty="0"/>
              <a:t>の評価回数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D5F38-347F-4466-AB9F-04B1B3000A8E}" type="slidenum">
              <a:rPr kumimoji="1" lang="ja-JP" altLang="en-US" smtClean="0"/>
              <a:t>27</a:t>
            </a:fld>
            <a:endParaRPr kumimoji="1" lang="ja-JP" altLang="en-US"/>
          </a:p>
        </p:txBody>
      </p:sp>
      <p:grpSp>
        <p:nvGrpSpPr>
          <p:cNvPr id="24" name="グループ化 23"/>
          <p:cNvGrpSpPr/>
          <p:nvPr/>
        </p:nvGrpSpPr>
        <p:grpSpPr>
          <a:xfrm>
            <a:off x="4800103" y="4093938"/>
            <a:ext cx="2768454" cy="2638854"/>
            <a:chOff x="446439" y="4030506"/>
            <a:chExt cx="2768454" cy="2638854"/>
          </a:xfrm>
        </p:grpSpPr>
        <p:sp>
          <p:nvSpPr>
            <p:cNvPr id="5" name="正方形/長方形 4"/>
            <p:cNvSpPr/>
            <p:nvPr/>
          </p:nvSpPr>
          <p:spPr>
            <a:xfrm>
              <a:off x="1592259" y="4638221"/>
              <a:ext cx="1622634" cy="202657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dirty="0">
                  <a:solidFill>
                    <a:srgbClr val="FF0000"/>
                  </a:solidFill>
                </a:rPr>
                <a:t>MAX_</a:t>
              </a:r>
            </a:p>
            <a:p>
              <a:pPr algn="ctr"/>
              <a:r>
                <a:rPr lang="en-US" altLang="ja-JP" dirty="0">
                  <a:solidFill>
                    <a:srgbClr val="FF0000"/>
                  </a:solidFill>
                </a:rPr>
                <a:t>EVALUATIONS	</a:t>
              </a:r>
              <a:endParaRPr kumimoji="1" lang="ja-JP" altLang="en-US" dirty="0"/>
            </a:p>
          </p:txBody>
        </p:sp>
        <p:sp>
          <p:nvSpPr>
            <p:cNvPr id="7" name="左中かっこ 6"/>
            <p:cNvSpPr/>
            <p:nvPr/>
          </p:nvSpPr>
          <p:spPr>
            <a:xfrm>
              <a:off x="1403648" y="4666234"/>
              <a:ext cx="166176" cy="2003126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右中かっこ 9"/>
            <p:cNvSpPr/>
            <p:nvPr/>
          </p:nvSpPr>
          <p:spPr>
            <a:xfrm rot="5400000" flipH="1">
              <a:off x="2211026" y="3850929"/>
              <a:ext cx="111432" cy="1348966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正方形/長方形 10"/>
            <p:cNvSpPr/>
            <p:nvPr/>
          </p:nvSpPr>
          <p:spPr>
            <a:xfrm>
              <a:off x="446439" y="5466842"/>
              <a:ext cx="980699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ja-JP" dirty="0"/>
                <a:t>T_MAX</a:t>
              </a:r>
              <a:endParaRPr lang="ja-JP" altLang="en-US" dirty="0"/>
            </a:p>
          </p:txBody>
        </p:sp>
        <p:sp>
          <p:nvSpPr>
            <p:cNvPr id="12" name="正方形/長方形 11"/>
            <p:cNvSpPr/>
            <p:nvPr/>
          </p:nvSpPr>
          <p:spPr>
            <a:xfrm>
              <a:off x="1700721" y="4030506"/>
              <a:ext cx="113204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ja-JP" dirty="0" err="1">
                  <a:solidFill>
                    <a:srgbClr val="002060"/>
                  </a:solidFill>
                </a:rPr>
                <a:t>Nparticles</a:t>
              </a:r>
              <a:endParaRPr lang="ja-JP" altLang="en-US" dirty="0"/>
            </a:p>
          </p:txBody>
        </p:sp>
      </p:grpSp>
      <p:grpSp>
        <p:nvGrpSpPr>
          <p:cNvPr id="26" name="グループ化 25"/>
          <p:cNvGrpSpPr/>
          <p:nvPr/>
        </p:nvGrpSpPr>
        <p:grpSpPr>
          <a:xfrm>
            <a:off x="160566" y="4427820"/>
            <a:ext cx="3215613" cy="1982463"/>
            <a:chOff x="4943015" y="4575593"/>
            <a:chExt cx="3215613" cy="1982463"/>
          </a:xfrm>
        </p:grpSpPr>
        <p:sp>
          <p:nvSpPr>
            <p:cNvPr id="6" name="正方形/長方形 5"/>
            <p:cNvSpPr/>
            <p:nvPr/>
          </p:nvSpPr>
          <p:spPr>
            <a:xfrm rot="5400000">
              <a:off x="6466571" y="4834000"/>
              <a:ext cx="1337099" cy="204456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grpSp>
          <p:nvGrpSpPr>
            <p:cNvPr id="25" name="グループ化 24"/>
            <p:cNvGrpSpPr/>
            <p:nvPr/>
          </p:nvGrpSpPr>
          <p:grpSpPr>
            <a:xfrm>
              <a:off x="4943015" y="4575593"/>
              <a:ext cx="3215613" cy="1982463"/>
              <a:chOff x="4943015" y="4575593"/>
              <a:chExt cx="3215613" cy="1982463"/>
            </a:xfrm>
          </p:grpSpPr>
          <p:sp>
            <p:nvSpPr>
              <p:cNvPr id="8" name="左中かっこ 7"/>
              <p:cNvSpPr/>
              <p:nvPr/>
            </p:nvSpPr>
            <p:spPr>
              <a:xfrm>
                <a:off x="5819653" y="5220958"/>
                <a:ext cx="162817" cy="1337098"/>
              </a:xfrm>
              <a:prstGeom prst="leftBrac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9" name="右中かっこ 8"/>
              <p:cNvSpPr/>
              <p:nvPr/>
            </p:nvSpPr>
            <p:spPr>
              <a:xfrm rot="5400000" flipH="1">
                <a:off x="7046277" y="4044840"/>
                <a:ext cx="180140" cy="2044563"/>
              </a:xfrm>
              <a:prstGeom prst="rightBrac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3" name="正方形/長方形 12"/>
              <p:cNvSpPr/>
              <p:nvPr/>
            </p:nvSpPr>
            <p:spPr>
              <a:xfrm>
                <a:off x="6458620" y="4575593"/>
                <a:ext cx="1335095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ja-JP" dirty="0" err="1">
                    <a:solidFill>
                      <a:srgbClr val="002060"/>
                    </a:solidFill>
                  </a:rPr>
                  <a:t>Nindividuals</a:t>
                </a:r>
                <a:r>
                  <a:rPr lang="en-US" altLang="ja-JP" dirty="0"/>
                  <a:t> </a:t>
                </a:r>
                <a:endParaRPr lang="ja-JP" altLang="en-US" dirty="0"/>
              </a:p>
            </p:txBody>
          </p:sp>
          <p:sp>
            <p:nvSpPr>
              <p:cNvPr id="14" name="正方形/長方形 13"/>
              <p:cNvSpPr/>
              <p:nvPr/>
            </p:nvSpPr>
            <p:spPr>
              <a:xfrm>
                <a:off x="4943015" y="5667797"/>
                <a:ext cx="1119588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ja-JP" dirty="0"/>
                  <a:t>T_MAX</a:t>
                </a:r>
                <a:endParaRPr lang="ja-JP" altLang="en-US" dirty="0"/>
              </a:p>
            </p:txBody>
          </p:sp>
        </p:grpSp>
      </p:grpSp>
      <p:sp>
        <p:nvSpPr>
          <p:cNvPr id="15" name="左右矢印 14"/>
          <p:cNvSpPr/>
          <p:nvPr/>
        </p:nvSpPr>
        <p:spPr>
          <a:xfrm>
            <a:off x="3608200" y="5567440"/>
            <a:ext cx="1167339" cy="348588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6" name="正方形/長方形 15"/>
          <p:cNvSpPr/>
          <p:nvPr/>
        </p:nvSpPr>
        <p:spPr>
          <a:xfrm>
            <a:off x="3545242" y="4797152"/>
            <a:ext cx="130755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ja-JP" altLang="en-US" sz="2000" dirty="0"/>
              <a:t>同じ</a:t>
            </a:r>
            <a:endParaRPr lang="en-US" altLang="ja-JP" sz="2000" dirty="0"/>
          </a:p>
          <a:p>
            <a:pPr algn="ctr"/>
            <a:r>
              <a:rPr lang="ja-JP" altLang="en-US" sz="2000" dirty="0"/>
              <a:t>評価回数</a:t>
            </a:r>
          </a:p>
        </p:txBody>
      </p:sp>
      <p:sp>
        <p:nvSpPr>
          <p:cNvPr id="17" name="正方形/長方形 16"/>
          <p:cNvSpPr/>
          <p:nvPr/>
        </p:nvSpPr>
        <p:spPr>
          <a:xfrm>
            <a:off x="415609" y="910983"/>
            <a:ext cx="40520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2000" dirty="0"/>
              <a:t>#define MAX_EVALUATIONS</a:t>
            </a:r>
            <a:r>
              <a:rPr lang="ja-JP" altLang="en-US" sz="2000" dirty="0"/>
              <a:t>　</a:t>
            </a:r>
            <a:r>
              <a:rPr lang="en-US" altLang="ja-JP" sz="2000" dirty="0"/>
              <a:t>200000</a:t>
            </a:r>
          </a:p>
        </p:txBody>
      </p:sp>
      <p:sp>
        <p:nvSpPr>
          <p:cNvPr id="19" name="正方形/長方形 18"/>
          <p:cNvSpPr/>
          <p:nvPr/>
        </p:nvSpPr>
        <p:spPr>
          <a:xfrm>
            <a:off x="1233668" y="1398263"/>
            <a:ext cx="5227378" cy="120032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dirty="0">
                <a:solidFill>
                  <a:srgbClr val="00B050"/>
                </a:solidFill>
              </a:rPr>
              <a:t>/* </a:t>
            </a:r>
            <a:r>
              <a:rPr lang="ja-JP" altLang="en-US" dirty="0">
                <a:solidFill>
                  <a:srgbClr val="00B050"/>
                </a:solidFill>
              </a:rPr>
              <a:t>個体数 *</a:t>
            </a:r>
            <a:endParaRPr lang="en-US" altLang="ja-JP" dirty="0">
              <a:solidFill>
                <a:srgbClr val="00B050"/>
              </a:solidFill>
            </a:endParaRPr>
          </a:p>
          <a:p>
            <a:r>
              <a:rPr lang="en-US" altLang="ja-JP" dirty="0"/>
              <a:t>#define </a:t>
            </a:r>
            <a:r>
              <a:rPr lang="en-US" altLang="ja-JP" dirty="0" err="1"/>
              <a:t>Nindividuals</a:t>
            </a:r>
            <a:r>
              <a:rPr lang="en-US" altLang="ja-JP" dirty="0"/>
              <a:t>   50</a:t>
            </a:r>
          </a:p>
          <a:p>
            <a:r>
              <a:rPr lang="en-US" altLang="ja-JP" dirty="0">
                <a:solidFill>
                  <a:srgbClr val="00B050"/>
                </a:solidFill>
              </a:rPr>
              <a:t>/* </a:t>
            </a:r>
            <a:r>
              <a:rPr lang="ja-JP" altLang="en-US" dirty="0">
                <a:solidFill>
                  <a:srgbClr val="00B050"/>
                </a:solidFill>
              </a:rPr>
              <a:t>最大世代数</a:t>
            </a:r>
            <a:r>
              <a:rPr lang="en-US" altLang="ja-JP" dirty="0">
                <a:solidFill>
                  <a:srgbClr val="00B050"/>
                </a:solidFill>
              </a:rPr>
              <a:t>(</a:t>
            </a:r>
            <a:r>
              <a:rPr lang="ja-JP" altLang="en-US" dirty="0">
                <a:solidFill>
                  <a:srgbClr val="00B050"/>
                </a:solidFill>
              </a:rPr>
              <a:t>繰り返し回数</a:t>
            </a:r>
            <a:r>
              <a:rPr lang="en-US" altLang="ja-JP" dirty="0">
                <a:solidFill>
                  <a:srgbClr val="00B050"/>
                </a:solidFill>
              </a:rPr>
              <a:t>) */</a:t>
            </a:r>
          </a:p>
          <a:p>
            <a:r>
              <a:rPr lang="en-US" altLang="ja-JP" dirty="0"/>
              <a:t>#define T_MAX	(MAX_EVALUATIONS/</a:t>
            </a:r>
            <a:r>
              <a:rPr lang="en-US" altLang="ja-JP" dirty="0" err="1"/>
              <a:t>Nindividuals</a:t>
            </a:r>
            <a:r>
              <a:rPr lang="en-US" altLang="ja-JP" dirty="0"/>
              <a:t>)</a:t>
            </a:r>
          </a:p>
        </p:txBody>
      </p:sp>
      <p:sp>
        <p:nvSpPr>
          <p:cNvPr id="20" name="正方形/長方形 19"/>
          <p:cNvSpPr/>
          <p:nvPr/>
        </p:nvSpPr>
        <p:spPr>
          <a:xfrm>
            <a:off x="1233668" y="2684449"/>
            <a:ext cx="5227378" cy="120032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dirty="0">
                <a:solidFill>
                  <a:srgbClr val="00B050"/>
                </a:solidFill>
              </a:rPr>
              <a:t>/* </a:t>
            </a:r>
            <a:r>
              <a:rPr lang="ja-JP" altLang="en-US" dirty="0">
                <a:solidFill>
                  <a:srgbClr val="00B050"/>
                </a:solidFill>
              </a:rPr>
              <a:t>個体数 *</a:t>
            </a:r>
            <a:r>
              <a:rPr lang="en-US" altLang="ja-JP" dirty="0">
                <a:solidFill>
                  <a:srgbClr val="00B050"/>
                </a:solidFill>
              </a:rPr>
              <a:t>/</a:t>
            </a:r>
          </a:p>
          <a:p>
            <a:r>
              <a:rPr lang="en-US" altLang="ja-JP" dirty="0"/>
              <a:t>#define </a:t>
            </a:r>
            <a:r>
              <a:rPr lang="en-US" altLang="ja-JP" dirty="0" err="1"/>
              <a:t>Nparticles</a:t>
            </a:r>
            <a:r>
              <a:rPr lang="en-US" altLang="ja-JP" dirty="0"/>
              <a:t>	20</a:t>
            </a:r>
          </a:p>
          <a:p>
            <a:r>
              <a:rPr lang="en-US" altLang="ja-JP" dirty="0">
                <a:solidFill>
                  <a:srgbClr val="00B050"/>
                </a:solidFill>
              </a:rPr>
              <a:t>/* </a:t>
            </a:r>
            <a:r>
              <a:rPr lang="ja-JP" altLang="en-US" dirty="0">
                <a:solidFill>
                  <a:srgbClr val="00B050"/>
                </a:solidFill>
              </a:rPr>
              <a:t>最大世代数</a:t>
            </a:r>
            <a:r>
              <a:rPr lang="en-US" altLang="ja-JP" dirty="0">
                <a:solidFill>
                  <a:srgbClr val="00B050"/>
                </a:solidFill>
              </a:rPr>
              <a:t>(</a:t>
            </a:r>
            <a:r>
              <a:rPr lang="ja-JP" altLang="en-US" dirty="0">
                <a:solidFill>
                  <a:srgbClr val="00B050"/>
                </a:solidFill>
              </a:rPr>
              <a:t>繰り返し回数</a:t>
            </a:r>
            <a:r>
              <a:rPr lang="en-US" altLang="ja-JP" dirty="0">
                <a:solidFill>
                  <a:srgbClr val="00B050"/>
                </a:solidFill>
              </a:rPr>
              <a:t>) */</a:t>
            </a:r>
          </a:p>
          <a:p>
            <a:r>
              <a:rPr lang="en-US" altLang="ja-JP" dirty="0"/>
              <a:t>#define T_MAX	(MAX_EVALUATIONS/</a:t>
            </a:r>
            <a:r>
              <a:rPr lang="en-US" altLang="ja-JP" dirty="0" err="1"/>
              <a:t>Nparticles</a:t>
            </a:r>
            <a:r>
              <a:rPr lang="en-US" altLang="ja-JP" dirty="0"/>
              <a:t>)</a:t>
            </a:r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532056" y="1833591"/>
            <a:ext cx="4667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DE</a:t>
            </a:r>
            <a:endParaRPr kumimoji="1" lang="ja-JP" altLang="en-US" sz="2000" dirty="0"/>
          </a:p>
        </p:txBody>
      </p:sp>
      <p:sp>
        <p:nvSpPr>
          <p:cNvPr id="22" name="テキスト ボックス 21"/>
          <p:cNvSpPr txBox="1"/>
          <p:nvPr/>
        </p:nvSpPr>
        <p:spPr>
          <a:xfrm>
            <a:off x="467878" y="3059668"/>
            <a:ext cx="6062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PSO</a:t>
            </a:r>
            <a:endParaRPr kumimoji="1" lang="ja-JP" altLang="en-US" sz="2000" dirty="0"/>
          </a:p>
        </p:txBody>
      </p:sp>
      <p:sp>
        <p:nvSpPr>
          <p:cNvPr id="23" name="正方形/長方形 22"/>
          <p:cNvSpPr/>
          <p:nvPr/>
        </p:nvSpPr>
        <p:spPr>
          <a:xfrm>
            <a:off x="1336735" y="5540009"/>
            <a:ext cx="20437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dirty="0">
                <a:solidFill>
                  <a:srgbClr val="FF0000"/>
                </a:solidFill>
              </a:rPr>
              <a:t>MAX_EVALUATIONS</a:t>
            </a:r>
            <a:endParaRPr lang="ja-JP" altLang="en-US" dirty="0"/>
          </a:p>
        </p:txBody>
      </p:sp>
      <p:sp>
        <p:nvSpPr>
          <p:cNvPr id="27" name="テキスト ボックス 26"/>
          <p:cNvSpPr txBox="1"/>
          <p:nvPr/>
        </p:nvSpPr>
        <p:spPr>
          <a:xfrm>
            <a:off x="2110321" y="5108299"/>
            <a:ext cx="4667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DE</a:t>
            </a:r>
            <a:endParaRPr kumimoji="1" lang="ja-JP" altLang="en-US" sz="2000" dirty="0"/>
          </a:p>
        </p:txBody>
      </p:sp>
      <p:sp>
        <p:nvSpPr>
          <p:cNvPr id="28" name="テキスト ボックス 27"/>
          <p:cNvSpPr txBox="1"/>
          <p:nvPr/>
        </p:nvSpPr>
        <p:spPr>
          <a:xfrm>
            <a:off x="6288051" y="4946839"/>
            <a:ext cx="6062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PSO</a:t>
            </a:r>
            <a:endParaRPr kumimoji="1" lang="ja-JP" altLang="en-US" sz="2000" dirty="0"/>
          </a:p>
        </p:txBody>
      </p:sp>
      <p:sp>
        <p:nvSpPr>
          <p:cNvPr id="29" name="テキスト ボックス 28"/>
          <p:cNvSpPr txBox="1"/>
          <p:nvPr/>
        </p:nvSpPr>
        <p:spPr>
          <a:xfrm>
            <a:off x="6591179" y="1926375"/>
            <a:ext cx="17556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dirty="0"/>
              <a:t>デフォルトでは</a:t>
            </a:r>
            <a:endParaRPr lang="en-US" altLang="ja-JP" sz="2000" dirty="0"/>
          </a:p>
          <a:p>
            <a:r>
              <a:rPr kumimoji="1" lang="en-US" altLang="ja-JP" sz="2000" dirty="0"/>
              <a:t>T_MAX=4000</a:t>
            </a:r>
            <a:endParaRPr kumimoji="1" lang="ja-JP" altLang="en-US" sz="2000" dirty="0"/>
          </a:p>
        </p:txBody>
      </p:sp>
      <p:sp>
        <p:nvSpPr>
          <p:cNvPr id="30" name="テキスト ボックス 29"/>
          <p:cNvSpPr txBox="1"/>
          <p:nvPr/>
        </p:nvSpPr>
        <p:spPr>
          <a:xfrm>
            <a:off x="6620405" y="3058931"/>
            <a:ext cx="17556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dirty="0"/>
              <a:t>デフォルトでは</a:t>
            </a:r>
            <a:endParaRPr lang="en-US" altLang="ja-JP" sz="2000" dirty="0"/>
          </a:p>
          <a:p>
            <a:r>
              <a:rPr kumimoji="1" lang="en-US" altLang="ja-JP" sz="2000" dirty="0"/>
              <a:t>T_MAX=10000</a:t>
            </a: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43313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7415</TotalTime>
  <Words>1821</Words>
  <Application>Microsoft Macintosh PowerPoint</Application>
  <PresentationFormat>画面に合わせる (4:3)</PresentationFormat>
  <Paragraphs>348</Paragraphs>
  <Slides>27</Slides>
  <Notes>15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15</vt:i4>
      </vt:variant>
      <vt:variant>
        <vt:lpstr>テーマ</vt:lpstr>
      </vt:variant>
      <vt:variant>
        <vt:i4>3</vt:i4>
      </vt:variant>
      <vt:variant>
        <vt:lpstr>スライド タイトル</vt:lpstr>
      </vt:variant>
      <vt:variant>
        <vt:i4>27</vt:i4>
      </vt:variant>
    </vt:vector>
  </HeadingPairs>
  <TitlesOfParts>
    <vt:vector size="45" baseType="lpstr">
      <vt:lpstr>HiraginoSans-W4</vt:lpstr>
      <vt:lpstr>HiraginoSans-W6</vt:lpstr>
      <vt:lpstr>HiraKakuProN-W3</vt:lpstr>
      <vt:lpstr>HiraKakuProN-W6</vt:lpstr>
      <vt:lpstr>HiraMinProN-W3</vt:lpstr>
      <vt:lpstr>ヒラギノ明朝 ProN</vt:lpstr>
      <vt:lpstr>游ゴシック</vt:lpstr>
      <vt:lpstr>Arial</vt:lpstr>
      <vt:lpstr>Calibri</vt:lpstr>
      <vt:lpstr>Cambria Math</vt:lpstr>
      <vt:lpstr>Century Gothic</vt:lpstr>
      <vt:lpstr>Helvetica</vt:lpstr>
      <vt:lpstr>Lato</vt:lpstr>
      <vt:lpstr>Verdana</vt:lpstr>
      <vt:lpstr>Wingdings</vt:lpstr>
      <vt:lpstr>Office ​​テーマ</vt:lpstr>
      <vt:lpstr>Office テーマ</vt:lpstr>
      <vt:lpstr>Office Theme</vt:lpstr>
      <vt:lpstr>粒子群最適化 Particle Swarm Optimization (ＰＳＯ) </vt:lpstr>
      <vt:lpstr>最適化手法の分類</vt:lpstr>
      <vt:lpstr>PowerPoint プレゼンテーション</vt:lpstr>
      <vt:lpstr>PSOとDEが適用可能な問題</vt:lpstr>
      <vt:lpstr>DEとPSOに共通する特徴</vt:lpstr>
      <vt:lpstr>理想的な解探索</vt:lpstr>
      <vt:lpstr>PowerPoint プレゼンテーション</vt:lpstr>
      <vt:lpstr>PSO（粒子群最適化）</vt:lpstr>
      <vt:lpstr>PSOの構造</vt:lpstr>
      <vt:lpstr>PowerPoint プレゼンテーション</vt:lpstr>
      <vt:lpstr>PowerPoint プレゼンテーション</vt:lpstr>
      <vt:lpstr>各粒子の持つ情報</vt:lpstr>
      <vt:lpstr>PowerPoint プレゼンテーション</vt:lpstr>
      <vt:lpstr>粒子の位置の更新 1/2</vt:lpstr>
      <vt:lpstr>粒子の位置の更新  2/2</vt:lpstr>
      <vt:lpstr>randの解探索への影響</vt:lpstr>
      <vt:lpstr>PowerPoint プレゼンテーション</vt:lpstr>
      <vt:lpstr>PSOの擬似コード</vt:lpstr>
      <vt:lpstr>PSOの処理手順</vt:lpstr>
      <vt:lpstr>PSOのパラメータ設定</vt:lpstr>
      <vt:lpstr>粒子群の安定・不安定</vt:lpstr>
      <vt:lpstr>PowerPoint プレゼンテーション</vt:lpstr>
      <vt:lpstr>PowerPoint プレゼンテーション</vt:lpstr>
      <vt:lpstr>PowerPoint プレゼンテーション</vt:lpstr>
      <vt:lpstr>PSOのプログラム</vt:lpstr>
      <vt:lpstr>PSOのパラメータ</vt:lpstr>
      <vt:lpstr>PSOの評価回数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kushida</dc:creator>
  <cp:lastModifiedBy>kushida</cp:lastModifiedBy>
  <cp:revision>286</cp:revision>
  <dcterms:created xsi:type="dcterms:W3CDTF">2015-07-08T12:36:22Z</dcterms:created>
  <dcterms:modified xsi:type="dcterms:W3CDTF">2025-07-21T04:27:32Z</dcterms:modified>
</cp:coreProperties>
</file>
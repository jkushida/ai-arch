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61" r:id="rId2"/>
    <p:sldId id="27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73" r:id="rId15"/>
    <p:sldId id="274" r:id="rId16"/>
    <p:sldId id="276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6"/>
    <p:restoredTop sz="68122"/>
  </p:normalViewPr>
  <p:slideViewPr>
    <p:cSldViewPr snapToGrid="0" snapToObjects="1">
      <p:cViewPr varScale="1">
        <p:scale>
          <a:sx n="79" d="100"/>
          <a:sy n="79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B1606-91F1-014A-BB85-D6206EDD9A9F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CFEF9-D448-5A48-A769-5400B86EC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01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初日　一人ずつ</a:t>
            </a:r>
            <a:endParaRPr kumimoji="1" lang="en-US" altLang="ja-JP" dirty="0"/>
          </a:p>
          <a:p>
            <a:r>
              <a:rPr kumimoji="1" lang="ja-JP" altLang="en-US"/>
              <a:t>最後（</a:t>
            </a:r>
            <a:r>
              <a:rPr kumimoji="1" lang="en-US" altLang="ja-JP" dirty="0"/>
              <a:t>4</a:t>
            </a:r>
            <a:r>
              <a:rPr kumimoji="1" lang="ja-JP" altLang="en-US"/>
              <a:t>限）にコード渡す　</a:t>
            </a:r>
            <a:r>
              <a:rPr kumimoji="1" lang="en-US" altLang="ja-JP" dirty="0"/>
              <a:t>(CAD</a:t>
            </a:r>
            <a:r>
              <a:rPr kumimoji="1" lang="ja-JP" altLang="en-US"/>
              <a:t>のプログラム）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201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2</a:t>
            </a:r>
            <a:r>
              <a:rPr kumimoji="1" lang="ja-JP" altLang="en-US"/>
              <a:t>日目　午前中作業，午後発表</a:t>
            </a:r>
            <a:endParaRPr kumimoji="1" lang="en-US" altLang="ja-JP" dirty="0"/>
          </a:p>
          <a:p>
            <a:r>
              <a:rPr kumimoji="1" lang="ja-JP" altLang="en-US"/>
              <a:t>演習，発表，評価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修正 </a:t>
            </a:r>
            <a:r>
              <a:rPr kumimoji="1" lang="en" altLang="ja-JP" dirty="0"/>
              <a:t>PSO </a:t>
            </a:r>
            <a:r>
              <a:rPr kumimoji="1" lang="ja-JP" altLang="en-US"/>
              <a:t>によるトラス構造物の最小重量設計</a:t>
            </a:r>
            <a:endParaRPr kumimoji="1" lang="en" altLang="ja-JP" dirty="0"/>
          </a:p>
          <a:p>
            <a:endParaRPr kumimoji="1" lang="en" altLang="ja-JP" dirty="0"/>
          </a:p>
          <a:p>
            <a:endParaRPr kumimoji="1" lang="en" altLang="ja-JP" dirty="0"/>
          </a:p>
          <a:p>
            <a:r>
              <a:rPr kumimoji="1" lang="en" altLang="ja-JP" dirty="0"/>
              <a:t>https://</a:t>
            </a:r>
            <a:r>
              <a:rPr kumimoji="1" lang="en" altLang="ja-JP" dirty="0" err="1"/>
              <a:t>arxiv.org</a:t>
            </a:r>
            <a:r>
              <a:rPr kumimoji="1" lang="en" altLang="ja-JP" dirty="0"/>
              <a:t>/pdf/0910.2217</a:t>
            </a:r>
          </a:p>
          <a:p>
            <a:r>
              <a:rPr kumimoji="1" lang="en" altLang="ja-JP" dirty="0"/>
              <a:t>https://</a:t>
            </a:r>
            <a:r>
              <a:rPr kumimoji="1" lang="en" altLang="ja-JP" dirty="0" err="1"/>
              <a:t>grok.com</a:t>
            </a:r>
            <a:r>
              <a:rPr kumimoji="1" lang="en" altLang="ja-JP" dirty="0"/>
              <a:t>/share/bGVnYWN5_17466997-3fbf-4eb6-9677-dff32ed5b2cd</a:t>
            </a:r>
          </a:p>
          <a:p>
            <a:endParaRPr kumimoji="1" lang="en" altLang="ja-JP" dirty="0"/>
          </a:p>
          <a:p>
            <a:r>
              <a:rPr kumimoji="1" lang="en" altLang="ja-JP" dirty="0"/>
              <a:t>https://</a:t>
            </a:r>
            <a:r>
              <a:rPr kumimoji="1" lang="en" altLang="ja-JP" dirty="0" err="1"/>
              <a:t>grok.com</a:t>
            </a:r>
            <a:r>
              <a:rPr kumimoji="1" lang="en" altLang="ja-JP" dirty="0"/>
              <a:t>/share/bGVnYWN5_18350b4e-ee8c-4fa3-ba3c-42ffdc631061</a:t>
            </a:r>
          </a:p>
          <a:p>
            <a:br>
              <a:rPr lang="ja-JP" altLang="en-US"/>
            </a:br>
            <a:r>
              <a:rPr lang="ja-JP" altLang="en-US" b="0" i="0">
                <a:effectLst/>
                <a:latin typeface="fkGrotesk"/>
              </a:rPr>
              <a:t>建築分野おける画像生成</a:t>
            </a:r>
            <a:r>
              <a:rPr lang="en" altLang="ja-JP" b="0" i="0" dirty="0">
                <a:effectLst/>
                <a:latin typeface="fkGrotesk"/>
              </a:rPr>
              <a:t>AI</a:t>
            </a:r>
            <a:r>
              <a:rPr lang="ja-JP" altLang="en-US" b="0" i="0">
                <a:effectLst/>
                <a:latin typeface="fkGrotesk"/>
              </a:rPr>
              <a:t>の活用について 大学の講義，研究，文献，アイディア，製品，サービスを 国内，国外すべて網羅して報告せよ</a:t>
            </a:r>
            <a:endParaRPr kumimoji="1" lang="en" altLang="ja-JP" dirty="0"/>
          </a:p>
          <a:p>
            <a:r>
              <a:rPr kumimoji="1" lang="en" altLang="ja-JP" dirty="0"/>
              <a:t>https://</a:t>
            </a:r>
            <a:r>
              <a:rPr kumimoji="1" lang="en" altLang="ja-JP" dirty="0" err="1"/>
              <a:t>www.perplexity.ai</a:t>
            </a:r>
            <a:r>
              <a:rPr kumimoji="1" lang="en" altLang="ja-JP" dirty="0"/>
              <a:t>/search/jian-zhu-fen-ye-okeruhua-xiang-zDlgKf6JSIqzIPUdTrdYNg</a:t>
            </a:r>
          </a:p>
          <a:p>
            <a:endParaRPr kumimoji="1" lang="en" altLang="ja-JP" dirty="0"/>
          </a:p>
          <a:p>
            <a:endParaRPr kumimoji="1" lang="en" altLang="ja-JP" dirty="0"/>
          </a:p>
          <a:p>
            <a:r>
              <a:rPr kumimoji="1" lang="ja-JP" altLang="en-US"/>
              <a:t>建築と情報の融合</a:t>
            </a:r>
            <a:endParaRPr kumimoji="1" lang="en" altLang="ja-JP" dirty="0"/>
          </a:p>
          <a:p>
            <a:r>
              <a:rPr kumimoji="1" lang="en" altLang="ja-JP" dirty="0"/>
              <a:t>https://</a:t>
            </a:r>
            <a:r>
              <a:rPr kumimoji="1" lang="en" altLang="ja-JP" dirty="0" err="1"/>
              <a:t>www.perplexity.ai</a:t>
            </a:r>
            <a:r>
              <a:rPr kumimoji="1" lang="en" altLang="ja-JP" dirty="0"/>
              <a:t>/search/qing-bao-tojian-zhu-norong-he-HefHb3AJSHOMWUPbTX3Pzw</a:t>
            </a:r>
          </a:p>
          <a:p>
            <a:endParaRPr kumimoji="1" lang="en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CFEF9-D448-5A48-A769-5400B86ECE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3466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CFEF9-D448-5A48-A769-5400B86ECE4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41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/>
              <a:t>パラメトリック設計の課題</a:t>
            </a:r>
          </a:p>
          <a:p>
            <a:r>
              <a:rPr lang="ja-JP" altLang="en-US"/>
              <a:t>パラメータ変更 → 形状変化 → 構造性能は？？？</a:t>
            </a:r>
          </a:p>
          <a:p>
            <a:r>
              <a:rPr lang="ja-JP" altLang="en-US" b="1"/>
              <a:t>従来の構造計算</a:t>
            </a:r>
            <a:r>
              <a:rPr lang="ja-JP" altLang="en-US"/>
              <a:t>：</a:t>
            </a:r>
          </a:p>
          <a:p>
            <a:r>
              <a:rPr lang="ja-JP" altLang="en-US"/>
              <a:t>単純な梁理論では複雑形状に対応不可</a:t>
            </a:r>
          </a:p>
          <a:p>
            <a:r>
              <a:rPr lang="ja-JP" altLang="en-US"/>
              <a:t>傾斜壁、曲面屋根の応力分布は手計算困難</a:t>
            </a:r>
          </a:p>
          <a:p>
            <a:r>
              <a:rPr lang="ja-JP" altLang="en-US"/>
              <a:t>パラメータ変更の度に構造計算をやり直すのは非現実的</a:t>
            </a:r>
          </a:p>
          <a:p>
            <a:r>
              <a:rPr lang="en" altLang="ja-JP" b="1" dirty="0"/>
              <a:t>FEM</a:t>
            </a:r>
            <a:r>
              <a:rPr lang="ja-JP" altLang="en-US" b="1"/>
              <a:t>解析の必要性</a:t>
            </a:r>
            <a:r>
              <a:rPr lang="ja-JP" altLang="en-US"/>
              <a:t>：</a:t>
            </a:r>
          </a:p>
          <a:p>
            <a:r>
              <a:rPr lang="ja-JP" altLang="en-US"/>
              <a:t>任意の</a:t>
            </a:r>
            <a:r>
              <a:rPr lang="en-US" altLang="ja-JP" dirty="0"/>
              <a:t>3</a:t>
            </a:r>
            <a:r>
              <a:rPr lang="en" altLang="ja-JP" dirty="0"/>
              <a:t>D</a:t>
            </a:r>
            <a:r>
              <a:rPr lang="ja-JP" altLang="en-US"/>
              <a:t>形状を自動的に解析</a:t>
            </a:r>
          </a:p>
          <a:p>
            <a:r>
              <a:rPr lang="ja-JP" altLang="en-US"/>
              <a:t>応力分布を詳細に可視化</a:t>
            </a:r>
          </a:p>
          <a:p>
            <a:r>
              <a:rPr lang="ja-JP" altLang="en-US"/>
              <a:t>パラメータ変更に即座に対応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CFEF9-D448-5A48-A769-5400B86ECE4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60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CFEF9-D448-5A48-A769-5400B86ECE4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1975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CFEF9-D448-5A48-A769-5400B86ECE4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68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149F-AF49-0E46-9FCF-CC721BE6B518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94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E16D-90E0-A246-949A-190D511C7B9E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19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017-537A-6C42-8648-766D105D6DC4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97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91A7-F3E9-7642-A27D-B98182548490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92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FC5B-3301-B143-A45D-15B96895ADB5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56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BB4A-ABD8-C646-A006-89E6C54502E0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94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9121-5D1A-974D-8B38-E6CDD119F65C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84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31CC-1EBB-6E44-90B4-E2D29180DA7C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555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83B0-041E-624C-8635-CCF55AA9C0E4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67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9143-95C0-C944-9192-2A8F5C1E1005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34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DBC8-7BFF-4C41-8517-127CAF1A4360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8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80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84790"/>
            <a:ext cx="7886700" cy="4892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24AEC-1AAC-534C-B6A9-7C5AF4D17347}" type="datetime1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B229F-AD88-7144-97FD-98369C214B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91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システムフォント（レギュラー）"/>
        <a:buChar char="⁃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1F8F6-AC49-004D-8D24-520FB8E1B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2"/>
            <a:ext cx="7772400" cy="1846125"/>
          </a:xfrm>
        </p:spPr>
        <p:txBody>
          <a:bodyPr>
            <a:normAutofit/>
          </a:bodyPr>
          <a:lstStyle/>
          <a:p>
            <a:r>
              <a:rPr lang="en" altLang="ja-JP" sz="4000" dirty="0"/>
              <a:t>FEM</a:t>
            </a:r>
            <a:r>
              <a:rPr lang="ja-JP" altLang="en-US" sz="4000"/>
              <a:t>解析と</a:t>
            </a:r>
            <a:r>
              <a:rPr lang="en" altLang="ja-JP" sz="4000" dirty="0"/>
              <a:t>AI</a:t>
            </a:r>
            <a:r>
              <a:rPr lang="ja-JP" altLang="en-US" sz="4000"/>
              <a:t>を活用した</a:t>
            </a:r>
            <a:br>
              <a:rPr lang="en-US" altLang="ja-JP" sz="4000" dirty="0"/>
            </a:br>
            <a:r>
              <a:rPr lang="ja-JP" altLang="en-US" sz="4000"/>
              <a:t>パラメトリック建築設計最適化</a:t>
            </a:r>
            <a:endParaRPr kumimoji="1" lang="ja-JP" altLang="en-US" sz="40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780EA2-6330-BD47-8859-3E0A97FE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D24DC0-9D98-6C3B-C196-07C3BDEBFE18}"/>
              </a:ext>
            </a:extLst>
          </p:cNvPr>
          <p:cNvSpPr txBox="1"/>
          <p:nvPr/>
        </p:nvSpPr>
        <p:spPr>
          <a:xfrm>
            <a:off x="138793" y="14887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>
                <a:effectLst/>
                <a:latin typeface="ＭＳ ゴシック" panose="020B0609070205080204" pitchFamily="49" charset="-128"/>
                <a:cs typeface="ＭＳ ゴシック" panose="020B0609070205080204" pitchFamily="49" charset="-128"/>
              </a:rPr>
              <a:t>AI</a:t>
            </a:r>
            <a:r>
              <a:rPr lang="ja-JP" altLang="ja-JP" sz="2800">
                <a:effectLst/>
                <a:ea typeface="ＭＳ ゴシック" panose="020B0609070205080204" pitchFamily="49" charset="-128"/>
                <a:cs typeface="ＭＳ ゴシック" panose="020B0609070205080204" pitchFamily="49" charset="-128"/>
              </a:rPr>
              <a:t>建築入門</a:t>
            </a:r>
            <a:r>
              <a:rPr lang="en-US" altLang="ja-JP" sz="2800" dirty="0">
                <a:effectLst/>
                <a:ea typeface="ＭＳ ゴシック" panose="020B0609070205080204" pitchFamily="49" charset="-128"/>
                <a:cs typeface="ＭＳ ゴシック" panose="020B0609070205080204" pitchFamily="49" charset="-128"/>
              </a:rPr>
              <a:t> </a:t>
            </a:r>
            <a:r>
              <a:rPr lang="ja-JP" altLang="en-US" sz="2800">
                <a:effectLst/>
                <a:ea typeface="ＭＳ ゴシック" panose="020B0609070205080204" pitchFamily="49" charset="-128"/>
                <a:cs typeface="ＭＳ ゴシック" panose="020B0609070205080204" pitchFamily="49" charset="-128"/>
              </a:rPr>
              <a:t>講義資料</a:t>
            </a:r>
            <a:r>
              <a:rPr lang="ja-JP" altLang="ja-JP" sz="2800">
                <a:effectLst/>
              </a:rPr>
              <a:t> </a:t>
            </a:r>
            <a:endParaRPr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556792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E8219-704F-42B3-37D8-E54371E8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C0B84E-A329-1753-1E15-E1F64C7E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建築設計の複雑性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D4CC8D-3259-62CD-D55A-75BFEF899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178774"/>
            <a:ext cx="8091280" cy="2929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000"/>
              <a:t>建築設計では，以下のような</a:t>
            </a:r>
            <a:r>
              <a:rPr lang="ja-JP" altLang="en-US" sz="2000">
                <a:solidFill>
                  <a:srgbClr val="FF0000"/>
                </a:solidFill>
              </a:rPr>
              <a:t>相反する要求</a:t>
            </a:r>
            <a:r>
              <a:rPr lang="ja-JP" altLang="en-US" sz="2000"/>
              <a:t>を同時に満たす必要がある</a:t>
            </a:r>
          </a:p>
          <a:p>
            <a:r>
              <a:rPr lang="ja-JP" altLang="en-US" sz="2000" b="1"/>
              <a:t>構造安全性</a:t>
            </a:r>
            <a:r>
              <a:rPr lang="en-US" altLang="ja-JP" sz="2000" dirty="0"/>
              <a:t>: </a:t>
            </a:r>
            <a:r>
              <a:rPr lang="ja-JP" altLang="en-US" sz="2000"/>
              <a:t>地震や風荷重に対する耐性</a:t>
            </a:r>
          </a:p>
          <a:p>
            <a:r>
              <a:rPr lang="ja-JP" altLang="en-US" sz="2000" b="1"/>
              <a:t>経済性</a:t>
            </a:r>
            <a:r>
              <a:rPr lang="en-US" altLang="ja-JP" sz="2000" dirty="0"/>
              <a:t>: </a:t>
            </a:r>
            <a:r>
              <a:rPr lang="ja-JP" altLang="en-US" sz="2000"/>
              <a:t>建設コストと維持管理費の最小化</a:t>
            </a:r>
          </a:p>
          <a:p>
            <a:r>
              <a:rPr lang="ja-JP" altLang="en-US" sz="2000" b="1"/>
              <a:t>環境性能</a:t>
            </a:r>
            <a:r>
              <a:rPr lang="en-US" altLang="ja-JP" sz="2000" dirty="0"/>
              <a:t>: </a:t>
            </a:r>
            <a:r>
              <a:rPr lang="en" altLang="ja-JP" sz="2000" dirty="0"/>
              <a:t>CO2</a:t>
            </a:r>
            <a:r>
              <a:rPr lang="ja-JP" altLang="en-US" sz="2000"/>
              <a:t>排出量の削減</a:t>
            </a:r>
          </a:p>
          <a:p>
            <a:r>
              <a:rPr lang="ja-JP" altLang="en-US" sz="2000" b="1"/>
              <a:t>居住快適性</a:t>
            </a:r>
            <a:r>
              <a:rPr lang="en-US" altLang="ja-JP" sz="2000" dirty="0"/>
              <a:t>: </a:t>
            </a:r>
            <a:r>
              <a:rPr lang="ja-JP" altLang="en-US" sz="2000"/>
              <a:t>採光，通風，空間の広がり</a:t>
            </a:r>
            <a:endParaRPr lang="en-US" altLang="ja-JP" sz="2000" dirty="0"/>
          </a:p>
          <a:p>
            <a:r>
              <a:rPr lang="ja-JP" altLang="en-US" sz="2000" b="1"/>
              <a:t>施工性</a:t>
            </a:r>
            <a:r>
              <a:rPr lang="en-US" altLang="ja-JP" sz="2000" dirty="0"/>
              <a:t>: </a:t>
            </a:r>
            <a:r>
              <a:rPr lang="ja-JP" altLang="en-US" sz="2000"/>
              <a:t>建設の容易さと工期</a:t>
            </a:r>
          </a:p>
          <a:p>
            <a:endParaRPr lang="ja-JP" altLang="en-US" sz="2000"/>
          </a:p>
          <a:p>
            <a:endParaRPr kumimoji="1" lang="ja-JP" altLang="en-US" sz="2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018D04-4323-2971-6DA3-9FCF73C4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37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DC621-2F1C-E0F0-6A85-FE18B273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建築設計の複雑性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15FE72-F80B-CEFE-A6CC-8B2CA2017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178774"/>
            <a:ext cx="8091280" cy="2929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000"/>
              <a:t>建築設計では，以下のような</a:t>
            </a:r>
            <a:r>
              <a:rPr lang="ja-JP" altLang="en-US" sz="2000">
                <a:solidFill>
                  <a:srgbClr val="FF0000"/>
                </a:solidFill>
              </a:rPr>
              <a:t>相反する要求</a:t>
            </a:r>
            <a:r>
              <a:rPr lang="ja-JP" altLang="en-US" sz="2000"/>
              <a:t>を同時に満たす必要がある</a:t>
            </a:r>
          </a:p>
          <a:p>
            <a:r>
              <a:rPr lang="ja-JP" altLang="en-US" sz="2000" b="1"/>
              <a:t>構造安全性</a:t>
            </a:r>
            <a:r>
              <a:rPr lang="en-US" altLang="ja-JP" sz="2000" dirty="0"/>
              <a:t>: </a:t>
            </a:r>
            <a:r>
              <a:rPr lang="ja-JP" altLang="en-US" sz="2000"/>
              <a:t>地震や風荷重に対する耐性</a:t>
            </a:r>
          </a:p>
          <a:p>
            <a:r>
              <a:rPr lang="ja-JP" altLang="en-US" sz="2000" b="1"/>
              <a:t>経済性</a:t>
            </a:r>
            <a:r>
              <a:rPr lang="en-US" altLang="ja-JP" sz="2000" dirty="0"/>
              <a:t>: </a:t>
            </a:r>
            <a:r>
              <a:rPr lang="ja-JP" altLang="en-US" sz="2000"/>
              <a:t>建設コストと維持管理費の最小化</a:t>
            </a:r>
          </a:p>
          <a:p>
            <a:r>
              <a:rPr lang="ja-JP" altLang="en-US" sz="2000" b="1"/>
              <a:t>環境性能</a:t>
            </a:r>
            <a:r>
              <a:rPr lang="en-US" altLang="ja-JP" sz="2000" dirty="0"/>
              <a:t>: </a:t>
            </a:r>
            <a:r>
              <a:rPr lang="en" altLang="ja-JP" sz="2000" dirty="0"/>
              <a:t>CO2</a:t>
            </a:r>
            <a:r>
              <a:rPr lang="ja-JP" altLang="en-US" sz="2000"/>
              <a:t>排出量の削減</a:t>
            </a:r>
          </a:p>
          <a:p>
            <a:r>
              <a:rPr lang="ja-JP" altLang="en-US" sz="2000" b="1"/>
              <a:t>居住快適性</a:t>
            </a:r>
            <a:r>
              <a:rPr lang="en-US" altLang="ja-JP" sz="2000" dirty="0"/>
              <a:t>: </a:t>
            </a:r>
            <a:r>
              <a:rPr lang="ja-JP" altLang="en-US" sz="2000"/>
              <a:t>採光，通風，空間の広がり</a:t>
            </a:r>
            <a:endParaRPr lang="en-US" altLang="ja-JP" sz="2000" dirty="0"/>
          </a:p>
          <a:p>
            <a:r>
              <a:rPr lang="ja-JP" altLang="en-US" sz="2000" b="1"/>
              <a:t>施工性</a:t>
            </a:r>
            <a:r>
              <a:rPr lang="en-US" altLang="ja-JP" sz="2000" dirty="0"/>
              <a:t>: </a:t>
            </a:r>
            <a:r>
              <a:rPr lang="ja-JP" altLang="en-US" sz="2000"/>
              <a:t>建設の容易さと工期</a:t>
            </a:r>
          </a:p>
          <a:p>
            <a:endParaRPr lang="ja-JP" altLang="en-US" sz="2000"/>
          </a:p>
          <a:p>
            <a:endParaRPr kumimoji="1" lang="ja-JP" altLang="en-US" sz="2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1413D04-B232-D657-356C-6E749538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9B124D-A7D1-CB54-2249-95DDA3EA6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429000"/>
            <a:ext cx="3921071" cy="281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4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B0CCF6-F93B-1B8D-1A32-1A8E56D7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パラメトリック設計とは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467789-0DAE-C82D-AD7A-A4F8FA7B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4B36369B-CBD0-4669-9791-25FEA3065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775199"/>
              </p:ext>
            </p:extLst>
          </p:nvPr>
        </p:nvGraphicFramePr>
        <p:xfrm>
          <a:off x="906945" y="2844679"/>
          <a:ext cx="6355246" cy="1981200"/>
        </p:xfrm>
        <a:graphic>
          <a:graphicData uri="http://schemas.openxmlformats.org/drawingml/2006/table">
            <a:tbl>
              <a:tblPr/>
              <a:tblGrid>
                <a:gridCol w="3177623">
                  <a:extLst>
                    <a:ext uri="{9D8B030D-6E8A-4147-A177-3AD203B41FA5}">
                      <a16:colId xmlns:a16="http://schemas.microsoft.com/office/drawing/2014/main" val="1882890586"/>
                    </a:ext>
                  </a:extLst>
                </a:gridCol>
                <a:gridCol w="3177623">
                  <a:extLst>
                    <a:ext uri="{9D8B030D-6E8A-4147-A177-3AD203B41FA5}">
                      <a16:colId xmlns:a16="http://schemas.microsoft.com/office/drawing/2014/main" val="389479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2000"/>
                        <a:t>従来の設計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000"/>
                        <a:t>パラメトリック設計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262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2000"/>
                        <a:t>固定的な形状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000"/>
                        <a:t>可変的な形状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22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2000"/>
                        <a:t>手動で図面修正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000"/>
                        <a:t>パラメータで自動更新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218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2000"/>
                        <a:t>限定的な検討案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000"/>
                        <a:t>無限の設計可能性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580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2000"/>
                        <a:t>経験に基づく判断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000"/>
                        <a:t>データ駆動型最適化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379565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656C28C-4074-5A5E-2BD5-B4ED981F890B}"/>
              </a:ext>
            </a:extLst>
          </p:cNvPr>
          <p:cNvSpPr txBox="1"/>
          <p:nvPr/>
        </p:nvSpPr>
        <p:spPr>
          <a:xfrm>
            <a:off x="1899202" y="233161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00"/>
              <a:t>従来の設計 </a:t>
            </a:r>
            <a:r>
              <a:rPr lang="en" altLang="ja-JP" sz="2200" dirty="0"/>
              <a:t>vs </a:t>
            </a:r>
            <a:r>
              <a:rPr lang="ja-JP" altLang="en-US" sz="2200"/>
              <a:t>パラメトリック設計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C68292C-10F5-2A1B-8084-0F11E46755FC}"/>
              </a:ext>
            </a:extLst>
          </p:cNvPr>
          <p:cNvSpPr txBox="1"/>
          <p:nvPr/>
        </p:nvSpPr>
        <p:spPr>
          <a:xfrm>
            <a:off x="152400" y="1215468"/>
            <a:ext cx="89120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00" b="1"/>
              <a:t>定義：</a:t>
            </a:r>
            <a:endParaRPr lang="en-US" altLang="ja-JP" sz="2200" b="1" dirty="0"/>
          </a:p>
          <a:p>
            <a:r>
              <a:rPr lang="ja-JP" altLang="en-US" sz="2200"/>
              <a:t>パラメータ（変数）によって形状や性能が自動的に変化する設計手法</a:t>
            </a:r>
          </a:p>
        </p:txBody>
      </p:sp>
    </p:spTree>
    <p:extLst>
      <p:ext uri="{BB962C8B-B14F-4D97-AF65-F5344CB8AC3E}">
        <p14:creationId xmlns:p14="http://schemas.microsoft.com/office/powerpoint/2010/main" val="258208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635887-6252-B206-4098-65B7A664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パラメトリック設計の評価手法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3FF7B0-F171-34AF-44E9-2DE9F1FA0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122" y="1284790"/>
            <a:ext cx="8409330" cy="4892173"/>
          </a:xfrm>
        </p:spPr>
        <p:txBody>
          <a:bodyPr>
            <a:normAutofit lnSpcReduction="10000"/>
          </a:bodyPr>
          <a:lstStyle/>
          <a:p>
            <a:r>
              <a:rPr lang="ja-JP" altLang="en-US" sz="2200" b="1"/>
              <a:t>パラメトリック設計の課題</a:t>
            </a:r>
          </a:p>
          <a:p>
            <a:pPr lvl="1"/>
            <a:r>
              <a:rPr lang="ja-JP" altLang="en-US" sz="2000"/>
              <a:t>パラメータ変更 → 形状変化 → 構造性能は？</a:t>
            </a:r>
          </a:p>
          <a:p>
            <a:r>
              <a:rPr lang="ja-JP" altLang="en-US" sz="2200" b="1"/>
              <a:t>従来の構造計算</a:t>
            </a:r>
            <a:r>
              <a:rPr lang="ja-JP" altLang="en-US" sz="2200"/>
              <a:t>：</a:t>
            </a:r>
          </a:p>
          <a:p>
            <a:pPr lvl="1"/>
            <a:r>
              <a:rPr lang="ja-JP" altLang="en-US" sz="2000"/>
              <a:t>単純な梁理論では複雑形状に対応不可</a:t>
            </a:r>
          </a:p>
          <a:p>
            <a:pPr lvl="1"/>
            <a:r>
              <a:rPr lang="ja-JP" altLang="en-US" sz="2000"/>
              <a:t>傾斜壁、曲面屋根の応力分布は手計算困難</a:t>
            </a:r>
          </a:p>
          <a:p>
            <a:pPr lvl="1"/>
            <a:r>
              <a:rPr lang="ja-JP" altLang="en-US" sz="2000"/>
              <a:t>パラメータ変更の度に構造計算をやり直すのは非現実的</a:t>
            </a:r>
          </a:p>
          <a:p>
            <a:pPr marL="0" indent="0">
              <a:buNone/>
            </a:pPr>
            <a:endParaRPr lang="en" altLang="ja-JP" sz="2400" b="1" dirty="0"/>
          </a:p>
          <a:p>
            <a:pPr marL="0" indent="0">
              <a:buNone/>
            </a:pPr>
            <a:endParaRPr lang="en" altLang="ja-JP" sz="2400" b="1" dirty="0"/>
          </a:p>
          <a:p>
            <a:pPr marL="0" indent="0">
              <a:buNone/>
            </a:pPr>
            <a:endParaRPr lang="en" altLang="ja-JP" sz="2400" b="1" dirty="0"/>
          </a:p>
          <a:p>
            <a:pPr marL="0" indent="0">
              <a:buNone/>
            </a:pPr>
            <a:r>
              <a:rPr lang="en" altLang="ja-JP" sz="2200" b="1" dirty="0"/>
              <a:t>FEM</a:t>
            </a:r>
            <a:r>
              <a:rPr lang="ja-JP" altLang="en-US" sz="2200" b="1"/>
              <a:t>解析でできること</a:t>
            </a:r>
            <a:r>
              <a:rPr lang="ja-JP" altLang="en-US" sz="2200"/>
              <a:t>：</a:t>
            </a:r>
          </a:p>
          <a:p>
            <a:pPr lvl="1"/>
            <a:r>
              <a:rPr lang="ja-JP" altLang="en-US" sz="2200"/>
              <a:t>任意の</a:t>
            </a:r>
            <a:r>
              <a:rPr lang="en-US" altLang="ja-JP" sz="2200" dirty="0"/>
              <a:t>3</a:t>
            </a:r>
            <a:r>
              <a:rPr lang="en" altLang="ja-JP" sz="2200" dirty="0"/>
              <a:t>D</a:t>
            </a:r>
            <a:r>
              <a:rPr lang="ja-JP" altLang="en-US" sz="2200"/>
              <a:t>形状を自動的に解析</a:t>
            </a:r>
          </a:p>
          <a:p>
            <a:pPr lvl="1"/>
            <a:r>
              <a:rPr lang="ja-JP" altLang="en-US" sz="2200"/>
              <a:t>応力分布を詳細に可視化</a:t>
            </a:r>
          </a:p>
          <a:p>
            <a:pPr lvl="1"/>
            <a:r>
              <a:rPr lang="ja-JP" altLang="en-US" sz="2200"/>
              <a:t>パラメータ変更に即座に対応し，評価指標を自動計算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FA2428-E8DA-1E0A-1EC4-BEE2E481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28BD2E-9232-CF1E-5111-B76A7F644137}"/>
              </a:ext>
            </a:extLst>
          </p:cNvPr>
          <p:cNvSpPr txBox="1"/>
          <p:nvPr/>
        </p:nvSpPr>
        <p:spPr>
          <a:xfrm>
            <a:off x="628650" y="3730876"/>
            <a:ext cx="6474515" cy="4308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200"/>
              <a:t>それを実現する方法が，</a:t>
            </a:r>
            <a:r>
              <a:rPr lang="en" altLang="ja-JP" sz="2200" dirty="0"/>
              <a:t>FEM</a:t>
            </a:r>
            <a:r>
              <a:rPr lang="ja-JP" altLang="en" sz="2200"/>
              <a:t>（</a:t>
            </a:r>
            <a:r>
              <a:rPr lang="ja-JP" altLang="en-US" sz="2200"/>
              <a:t>有限要素法）解析</a:t>
            </a:r>
            <a:endParaRPr kumimoji="1" lang="ja-JP" altLang="en-US" sz="2200"/>
          </a:p>
        </p:txBody>
      </p:sp>
    </p:spTree>
    <p:extLst>
      <p:ext uri="{BB962C8B-B14F-4D97-AF65-F5344CB8AC3E}">
        <p14:creationId xmlns:p14="http://schemas.microsoft.com/office/powerpoint/2010/main" val="250164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0E639-4235-F9D4-34C5-AC99B710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ja-JP" dirty="0"/>
              <a:t>FEM</a:t>
            </a:r>
            <a:r>
              <a:rPr lang="ja-JP" altLang="en"/>
              <a:t>（</a:t>
            </a:r>
            <a:r>
              <a:rPr lang="ja-JP" altLang="en-US"/>
              <a:t>有限要素法）とは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64F3B1-E3B9-9B93-D81C-2CFF5687E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57" y="1284791"/>
            <a:ext cx="8507895" cy="780768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複雑な構造物を小さな「要素」に分割して解析する手法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B85E41-5A28-3E36-0950-1E7AE599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4A982F-4989-D499-8B67-D12C5B8D7027}"/>
              </a:ext>
            </a:extLst>
          </p:cNvPr>
          <p:cNvSpPr txBox="1"/>
          <p:nvPr/>
        </p:nvSpPr>
        <p:spPr>
          <a:xfrm>
            <a:off x="463826" y="1986047"/>
            <a:ext cx="7752522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900"/>
              </a:lnSpc>
              <a:buAutoNum type="arabicPeriod"/>
            </a:pPr>
            <a:r>
              <a:rPr lang="ja-JP" altLang="en-US" sz="2000"/>
              <a:t>メッシュ生成（要素分割）</a:t>
            </a:r>
            <a:endParaRPr lang="en-US" altLang="ja-JP" sz="2000" dirty="0"/>
          </a:p>
          <a:p>
            <a:pPr marL="800100" lvl="1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ja-JP" altLang="en-US" sz="2000"/>
              <a:t>複雑な建物形状 → 数万個の四面体要素に自動分割</a:t>
            </a:r>
          </a:p>
          <a:p>
            <a:pPr marL="800100" lvl="1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ja-JP" altLang="en-US" sz="2000"/>
              <a:t>要素が細かいほど精度向上（計算時間も増加）</a:t>
            </a:r>
            <a:endParaRPr lang="en-US" altLang="ja-JP" sz="2000" dirty="0"/>
          </a:p>
          <a:p>
            <a:pPr marL="342900" indent="-342900">
              <a:lnSpc>
                <a:spcPts val="2900"/>
              </a:lnSpc>
              <a:buFontTx/>
              <a:buAutoNum type="arabicPeriod"/>
            </a:pPr>
            <a:r>
              <a:rPr lang="ja-JP" altLang="en-US" sz="2000"/>
              <a:t>各要素での方程式</a:t>
            </a:r>
            <a:endParaRPr lang="en-US" altLang="ja-JP" sz="2000" dirty="0"/>
          </a:p>
          <a:p>
            <a:pPr marL="800100" lvl="1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ja-JP" altLang="en-US" sz="2000"/>
              <a:t>各要素で力の釣り合い式を立てる</a:t>
            </a:r>
          </a:p>
          <a:p>
            <a:pPr marL="342900" indent="-342900">
              <a:lnSpc>
                <a:spcPts val="2900"/>
              </a:lnSpc>
              <a:buFontTx/>
              <a:buAutoNum type="arabicPeriod"/>
            </a:pPr>
            <a:endParaRPr lang="ja-JP" altLang="en-US" sz="2000"/>
          </a:p>
          <a:p>
            <a:pPr marL="342900" indent="-342900">
              <a:lnSpc>
                <a:spcPts val="2900"/>
              </a:lnSpc>
              <a:buFontTx/>
              <a:buAutoNum type="arabicPeriod"/>
            </a:pPr>
            <a:r>
              <a:rPr lang="ja-JP" altLang="en-US" sz="2000"/>
              <a:t>全体の連立方程式を解く</a:t>
            </a:r>
            <a:endParaRPr lang="en-US" altLang="ja-JP" sz="2000" dirty="0"/>
          </a:p>
          <a:p>
            <a:pPr marL="800100" lvl="1" indent="-3429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ja-JP" altLang="en-US" sz="2000"/>
              <a:t>コンピュータが高速に解を計算</a:t>
            </a:r>
          </a:p>
          <a:p>
            <a:pPr marL="342900" indent="-342900">
              <a:lnSpc>
                <a:spcPts val="2900"/>
              </a:lnSpc>
              <a:buFontTx/>
              <a:buAutoNum type="arabicPeriod"/>
            </a:pPr>
            <a:endParaRPr lang="ja-JP" altLang="en-US" sz="2000"/>
          </a:p>
          <a:p>
            <a:pPr marL="342900" indent="-342900">
              <a:buAutoNum type="arabicPeriod"/>
            </a:pPr>
            <a:endParaRPr lang="ja-JP" altLang="en-US" b="1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03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2470EE-8CDC-CCE5-E960-A61FD7A9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FEM</a:t>
            </a:r>
            <a:r>
              <a:rPr lang="ja-JP" altLang="en-US"/>
              <a:t>解析の実装：</a:t>
            </a:r>
            <a:r>
              <a:rPr lang="en" altLang="ja-JP" dirty="0" err="1"/>
              <a:t>FreeCAD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4ED242-DD17-E123-AE56-CEA294AEA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ja-JP" sz="2400" dirty="0" err="1"/>
              <a:t>FreeCAD</a:t>
            </a:r>
            <a:r>
              <a:rPr lang="ja-JP" altLang="en-US" sz="2400"/>
              <a:t>はオープンソースの</a:t>
            </a:r>
            <a:r>
              <a:rPr lang="en-US" altLang="ja-JP" sz="2400" dirty="0"/>
              <a:t>3</a:t>
            </a:r>
            <a:r>
              <a:rPr lang="en" altLang="ja-JP" sz="2400" dirty="0"/>
              <a:t>D CAD</a:t>
            </a:r>
            <a:r>
              <a:rPr lang="ja-JP" altLang="en-US" sz="2400"/>
              <a:t>ソフトウェア</a:t>
            </a:r>
            <a:endParaRPr lang="ja-JP" altLang="en-US" b="1"/>
          </a:p>
          <a:p>
            <a:pPr lvl="1"/>
            <a:r>
              <a:rPr lang="ja-JP" altLang="en-US"/>
              <a:t>パラメトリックモデリング対応</a:t>
            </a:r>
            <a:endParaRPr lang="en-US" altLang="ja-JP" dirty="0"/>
          </a:p>
          <a:p>
            <a:pPr lvl="1"/>
            <a:r>
              <a:rPr lang="ja-JP" altLang="en-US"/>
              <a:t> </a:t>
            </a:r>
            <a:r>
              <a:rPr lang="en" altLang="ja-JP" dirty="0"/>
              <a:t>Python</a:t>
            </a:r>
            <a:r>
              <a:rPr lang="ja-JP" altLang="en-US"/>
              <a:t>スクリプトによる完全自動化</a:t>
            </a:r>
            <a:endParaRPr lang="en-US" altLang="ja-JP" dirty="0"/>
          </a:p>
          <a:p>
            <a:pPr lvl="1"/>
            <a:r>
              <a:rPr lang="ja-JP" altLang="en-US"/>
              <a:t> </a:t>
            </a:r>
            <a:r>
              <a:rPr lang="en" altLang="ja-JP" dirty="0"/>
              <a:t>FEM</a:t>
            </a:r>
            <a:r>
              <a:rPr lang="ja-JP" altLang="en-US"/>
              <a:t>ワークベンチ内蔵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B4403D-1719-8CD9-0C23-800EA64D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976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AA5013-4AA2-1957-A1F0-9B528881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 err="1"/>
              <a:t>FreeCAD</a:t>
            </a:r>
            <a:r>
              <a:rPr lang="ja-JP" altLang="en-US"/>
              <a:t>について説明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0CEE54-B8A1-BE1B-D777-9602394B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37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9DB86B-1EE2-0B6A-5875-EF150F3B9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ja-JP" dirty="0" err="1"/>
              <a:t>FreeCAD</a:t>
            </a:r>
            <a:r>
              <a:rPr lang="ja-JP" altLang="en-US"/>
              <a:t>による</a:t>
            </a:r>
            <a:r>
              <a:rPr lang="en-US" altLang="ja-JP" dirty="0"/>
              <a:t>FEM</a:t>
            </a:r>
            <a:r>
              <a:rPr lang="ja-JP" altLang="en-US"/>
              <a:t>解析の説明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2FB5BD-2723-7D32-E40A-B3963B910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7E803B-F2B4-E123-AE23-AE239882FFDA}"/>
              </a:ext>
            </a:extLst>
          </p:cNvPr>
          <p:cNvSpPr txBox="1"/>
          <p:nvPr/>
        </p:nvSpPr>
        <p:spPr>
          <a:xfrm>
            <a:off x="876623" y="1654068"/>
            <a:ext cx="5491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https://zenn.dev/tasiten/articles/8bd89cc48cdd9c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BB71A4E-170A-37F5-FF89-8761373D4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34" y="2012551"/>
            <a:ext cx="5727767" cy="393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6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6A1D6-0356-10E5-61B9-86FAE51D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ja-JP" dirty="0" err="1"/>
              <a:t>FreeCAD</a:t>
            </a:r>
            <a:r>
              <a:rPr lang="en" altLang="ja-JP" dirty="0"/>
              <a:t> FEM</a:t>
            </a:r>
            <a:r>
              <a:rPr lang="ja-JP" altLang="en-US"/>
              <a:t>解析：スクリプトによる大まかな手順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EBD30B-013C-8638-ACA7-F70FCB67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53E199-052B-BDD8-BB4B-24D006DED11F}"/>
              </a:ext>
            </a:extLst>
          </p:cNvPr>
          <p:cNvSpPr txBox="1"/>
          <p:nvPr/>
        </p:nvSpPr>
        <p:spPr>
          <a:xfrm>
            <a:off x="185012" y="2075855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[モデル作成]</a:t>
            </a:r>
          </a:p>
          <a:p>
            <a:r>
              <a:rPr lang="ja-JP" altLang="en-US"/>
              <a:t>     ↓</a:t>
            </a:r>
          </a:p>
          <a:p>
            <a:r>
              <a:rPr lang="ja-JP" altLang="en-US"/>
              <a:t>[解析コンテナ生成]</a:t>
            </a:r>
          </a:p>
          <a:p>
            <a:r>
              <a:rPr lang="ja-JP" altLang="en-US"/>
              <a:t>     ↓</a:t>
            </a:r>
          </a:p>
          <a:p>
            <a:r>
              <a:rPr lang="ja-JP" altLang="en-US"/>
              <a:t>[材料，拘束，荷重定義]</a:t>
            </a:r>
          </a:p>
          <a:p>
            <a:r>
              <a:rPr lang="ja-JP" altLang="en-US"/>
              <a:t>     ↓</a:t>
            </a:r>
          </a:p>
          <a:p>
            <a:r>
              <a:rPr lang="ja-JP" altLang="en-US"/>
              <a:t>[メッシュ生成]</a:t>
            </a:r>
          </a:p>
          <a:p>
            <a:r>
              <a:rPr lang="ja-JP" altLang="en-US"/>
              <a:t>     ↓</a:t>
            </a:r>
          </a:p>
          <a:p>
            <a:r>
              <a:rPr lang="ja-JP" altLang="en-US"/>
              <a:t>[ソルバー設定 &amp; 実行]</a:t>
            </a:r>
          </a:p>
          <a:p>
            <a:r>
              <a:rPr lang="ja-JP" altLang="en-US"/>
              <a:t>     ↓</a:t>
            </a:r>
          </a:p>
          <a:p>
            <a:r>
              <a:rPr lang="ja-JP" altLang="en-US"/>
              <a:t>[結果取得・保存]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37CD0215-35B6-074E-A450-8C191269E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18184"/>
              </p:ext>
            </p:extLst>
          </p:nvPr>
        </p:nvGraphicFramePr>
        <p:xfrm>
          <a:off x="3099659" y="1856105"/>
          <a:ext cx="5563893" cy="4297680"/>
        </p:xfrm>
        <a:graphic>
          <a:graphicData uri="http://schemas.openxmlformats.org/drawingml/2006/table">
            <a:tbl>
              <a:tblPr/>
              <a:tblGrid>
                <a:gridCol w="1958460">
                  <a:extLst>
                    <a:ext uri="{9D8B030D-6E8A-4147-A177-3AD203B41FA5}">
                      <a16:colId xmlns:a16="http://schemas.microsoft.com/office/drawing/2014/main" val="2347311391"/>
                    </a:ext>
                  </a:extLst>
                </a:gridCol>
                <a:gridCol w="3605433">
                  <a:extLst>
                    <a:ext uri="{9D8B030D-6E8A-4147-A177-3AD203B41FA5}">
                      <a16:colId xmlns:a16="http://schemas.microsoft.com/office/drawing/2014/main" val="1537047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処理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68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モデル作成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Part::Box </a:t>
                      </a:r>
                      <a:r>
                        <a:rPr lang="ja-JP" altLang="en-US"/>
                        <a:t>により立方体を作成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663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FEM</a:t>
                      </a:r>
                      <a:r>
                        <a:rPr lang="ja-JP" altLang="en-US"/>
                        <a:t>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FEM</a:t>
                      </a:r>
                      <a:r>
                        <a:rPr lang="ja-JP" altLang="en-US"/>
                        <a:t>用の解析コンテナ・ソルバー（</a:t>
                      </a:r>
                      <a:r>
                        <a:rPr lang="en"/>
                        <a:t>CalculiX）</a:t>
                      </a:r>
                      <a:r>
                        <a:rPr lang="ja-JP" altLang="en-US"/>
                        <a:t>作成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87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材料定義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ヤング率・ポアソン比を</a:t>
                      </a:r>
                      <a:r>
                        <a:rPr lang="en"/>
                        <a:t>Python</a:t>
                      </a:r>
                      <a:r>
                        <a:rPr lang="ja-JP" altLang="en-US"/>
                        <a:t>辞書で指定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9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拘束条件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固定拘束と圧力拘束を面指定で設定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18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メッシュ作成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Netgen</a:t>
                      </a:r>
                      <a:r>
                        <a:rPr lang="ja-JP" altLang="en-US"/>
                        <a:t>ベースで自動生成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83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解析実行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FemToolsCcx </a:t>
                      </a:r>
                      <a:r>
                        <a:rPr lang="ja-JP" altLang="en-US"/>
                        <a:t>により</a:t>
                      </a:r>
                      <a:r>
                        <a:rPr lang="en"/>
                        <a:t>CalculiX</a:t>
                      </a:r>
                      <a:r>
                        <a:rPr lang="ja-JP" altLang="en-US"/>
                        <a:t>解析を実行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11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結果出力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結果オブジェクトから応力等を取得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839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155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CAAE68-014A-077E-0DCE-6759AF6E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ja-JP" dirty="0" err="1"/>
              <a:t>FreeCAD</a:t>
            </a:r>
            <a:r>
              <a:rPr lang="en" altLang="ja-JP" dirty="0"/>
              <a:t> FEM</a:t>
            </a:r>
            <a:r>
              <a:rPr lang="ja-JP" altLang="en-US"/>
              <a:t>解析によって得られる</a:t>
            </a:r>
            <a:br>
              <a:rPr lang="en-US" altLang="ja-JP" dirty="0"/>
            </a:br>
            <a:r>
              <a:rPr lang="ja-JP" altLang="en-US"/>
              <a:t>主な結果まとめ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B2ECAD-D47B-DE67-1944-AE2A7601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11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7DA3DBA-1748-AD22-DE61-59A253A7E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19286"/>
              </p:ext>
            </p:extLst>
          </p:nvPr>
        </p:nvGraphicFramePr>
        <p:xfrm>
          <a:off x="628650" y="1627505"/>
          <a:ext cx="7886700" cy="4206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4265496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044580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2733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種類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主な用途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78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b="1"/>
                        <a:t>応力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Von Mises</a:t>
                      </a:r>
                      <a:r>
                        <a:rPr lang="ja-JP" altLang="en-US"/>
                        <a:t>応力，主応力，各成分応力（</a:t>
                      </a:r>
                      <a:r>
                        <a:rPr lang="en"/>
                        <a:t>Sxx</a:t>
                      </a:r>
                      <a:r>
                        <a:rPr lang="ja-JP" altLang="en-US"/>
                        <a:t>等）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強度評価，破壊判定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688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b="1"/>
                        <a:t>変位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節点変位（</a:t>
                      </a:r>
                      <a:r>
                        <a:rPr lang="en" dirty="0"/>
                        <a:t>X, Y, Z），</a:t>
                      </a:r>
                      <a:r>
                        <a:rPr lang="ja-JP" altLang="en-US"/>
                        <a:t>変位ベクトル大きさ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たわみ，変形量評価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76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b="1"/>
                        <a:t>ひずみ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主ひずみ，各方向ひずみ（オプション）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材料限界，疲労解析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212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b="1"/>
                        <a:t>反力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固定拘束面などに発生する反力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荷重確認，設計検証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394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b="1"/>
                        <a:t>メッシュ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要素数，節点数，要素形状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精度検証，解析品質確認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68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b="1"/>
                        <a:t>可視化</a:t>
                      </a:r>
                      <a:endParaRPr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応力分布図，変形形状図，アニメーション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結果確認，報告資料作成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278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07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39E22F-2415-37CE-C154-42385B07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7"/>
            <a:ext cx="8158889" cy="780768"/>
          </a:xfrm>
        </p:spPr>
        <p:txBody>
          <a:bodyPr>
            <a:noAutofit/>
          </a:bodyPr>
          <a:lstStyle/>
          <a:p>
            <a:r>
              <a:rPr lang="ja-JP" altLang="en-US" sz="3200"/>
              <a:t>スクリプトで生成する建物パラメータ設定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953D2F-61B6-7010-DCC2-21632703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1548D6-835F-B8CF-68E2-41595A1C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18" y="1145895"/>
            <a:ext cx="6473806" cy="364315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1852D80-3191-D0E6-70A5-0F87D819DEDD}"/>
              </a:ext>
            </a:extLst>
          </p:cNvPr>
          <p:cNvSpPr txBox="1"/>
          <p:nvPr/>
        </p:nvSpPr>
        <p:spPr>
          <a:xfrm>
            <a:off x="400051" y="5029142"/>
            <a:ext cx="562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b="1"/>
              <a:t>建物の特徴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b="1" dirty="0"/>
              <a:t>1</a:t>
            </a:r>
            <a:r>
              <a:rPr lang="ja-JP" altLang="en-US" b="1"/>
              <a:t>階</a:t>
            </a:r>
            <a:r>
              <a:rPr lang="en-US" altLang="ja-JP" dirty="0"/>
              <a:t>: </a:t>
            </a:r>
            <a:r>
              <a:rPr lang="ja-JP" altLang="en-US"/>
              <a:t>オープンなピロティ構造（柱のみ）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b="1" dirty="0"/>
              <a:t>2</a:t>
            </a:r>
            <a:r>
              <a:rPr lang="ja-JP" altLang="en-US" b="1"/>
              <a:t>階</a:t>
            </a:r>
            <a:r>
              <a:rPr lang="en-US" altLang="ja-JP" dirty="0"/>
              <a:t>: </a:t>
            </a:r>
            <a:r>
              <a:rPr lang="ja-JP" altLang="en-US"/>
              <a:t>壁で囲まれた居住空間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屋根</a:t>
            </a:r>
            <a:r>
              <a:rPr lang="en-US" altLang="ja-JP" dirty="0"/>
              <a:t>: </a:t>
            </a:r>
            <a:r>
              <a:rPr lang="ja-JP" altLang="en-US"/>
              <a:t>パラメトリックなかまぼこ型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階段</a:t>
            </a:r>
            <a:r>
              <a:rPr lang="en-US" altLang="ja-JP" dirty="0"/>
              <a:t>: </a:t>
            </a:r>
            <a:r>
              <a:rPr lang="en" altLang="ja-JP" dirty="0"/>
              <a:t>L</a:t>
            </a:r>
            <a:r>
              <a:rPr lang="ja-JP" altLang="en-US"/>
              <a:t>字型外部階段で</a:t>
            </a:r>
            <a:r>
              <a:rPr lang="en-US" altLang="ja-JP" dirty="0"/>
              <a:t>1</a:t>
            </a:r>
            <a:r>
              <a:rPr lang="ja-JP" altLang="en-US"/>
              <a:t>階から</a:t>
            </a:r>
            <a:r>
              <a:rPr lang="en-US" altLang="ja-JP" dirty="0"/>
              <a:t>2</a:t>
            </a:r>
            <a:r>
              <a:rPr lang="ja-JP" altLang="en-US"/>
              <a:t>階へアクセス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862BBEF-F3DF-EDF0-8705-8F8516CDB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841" y="3956697"/>
            <a:ext cx="2991172" cy="2144889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15D7F8-E765-0FD7-5135-AE1180022A3D}"/>
              </a:ext>
            </a:extLst>
          </p:cNvPr>
          <p:cNvSpPr txBox="1"/>
          <p:nvPr/>
        </p:nvSpPr>
        <p:spPr>
          <a:xfrm>
            <a:off x="7075357" y="2128603"/>
            <a:ext cx="143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9</a:t>
            </a:r>
            <a:r>
              <a:rPr kumimoji="1" lang="ja-JP" altLang="en-US" sz="2000"/>
              <a:t>変数</a:t>
            </a:r>
          </a:p>
        </p:txBody>
      </p:sp>
    </p:spTree>
    <p:extLst>
      <p:ext uri="{BB962C8B-B14F-4D97-AF65-F5344CB8AC3E}">
        <p14:creationId xmlns:p14="http://schemas.microsoft.com/office/powerpoint/2010/main" val="1588588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BA02C4-93EA-A99D-D042-4102369B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スクリプトが利用している</a:t>
            </a:r>
            <a:r>
              <a:rPr lang="en" altLang="ja-JP" dirty="0"/>
              <a:t>FEM</a:t>
            </a:r>
            <a:r>
              <a:rPr lang="ja-JP" altLang="en-US"/>
              <a:t>結果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DA0FF8-F32F-972E-AF87-68D15EE6B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最大主応力（</a:t>
            </a:r>
            <a:r>
              <a:rPr lang="en" altLang="ja-JP" dirty="0"/>
              <a:t>Principal Stress</a:t>
            </a:r>
            <a:r>
              <a:rPr lang="ja-JP" altLang="en"/>
              <a:t>）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49292D-7F5C-4481-522D-28AB6D77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9FD8B19-9BAB-BBA3-07EE-8C87E31D6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22" y="1866271"/>
            <a:ext cx="8425776" cy="258174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2FBA712-76DD-326D-5776-BAF9B7180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52" y="4643544"/>
            <a:ext cx="7772400" cy="19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41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16F1CF-9F8B-4FE9-1928-67B8E678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30805"/>
          </a:xfrm>
        </p:spPr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D41151-40EB-713A-8041-BD8C2EEB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904E3D-4C08-0729-3AC9-C2723D0DA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509" y="1967859"/>
            <a:ext cx="2409408" cy="1727722"/>
          </a:xfrm>
          <a:prstGeom prst="rect">
            <a:avLst/>
          </a:prstGeom>
        </p:spPr>
      </p:pic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E3816767-961D-1DFF-3F80-B46433F26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45200"/>
              </p:ext>
            </p:extLst>
          </p:nvPr>
        </p:nvGraphicFramePr>
        <p:xfrm>
          <a:off x="135676" y="1881533"/>
          <a:ext cx="2118313" cy="1972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68">
                  <a:extLst>
                    <a:ext uri="{9D8B030D-6E8A-4147-A177-3AD203B41FA5}">
                      <a16:colId xmlns:a16="http://schemas.microsoft.com/office/drawing/2014/main" val="3209267774"/>
                    </a:ext>
                  </a:extLst>
                </a:gridCol>
                <a:gridCol w="968645">
                  <a:extLst>
                    <a:ext uri="{9D8B030D-6E8A-4147-A177-3AD203B41FA5}">
                      <a16:colId xmlns:a16="http://schemas.microsoft.com/office/drawing/2014/main" val="3131825999"/>
                    </a:ext>
                  </a:extLst>
                </a:gridCol>
              </a:tblGrid>
              <a:tr h="36062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設計変数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786471"/>
                  </a:ext>
                </a:extLst>
              </a:tr>
              <a:tr h="53549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Lx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7715"/>
                  </a:ext>
                </a:extLst>
              </a:tr>
              <a:tr h="53549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Ly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12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480272"/>
                  </a:ext>
                </a:extLst>
              </a:tr>
              <a:tr h="53549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H1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3.4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8658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E597028-340C-8FCB-EB68-783B7C33D49E}"/>
                  </a:ext>
                </a:extLst>
              </p:cNvPr>
              <p:cNvSpPr txBox="1"/>
              <p:nvPr/>
            </p:nvSpPr>
            <p:spPr>
              <a:xfrm>
                <a:off x="1071401" y="4023497"/>
                <a:ext cx="24686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36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E597028-340C-8FCB-EB68-783B7C33D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401" y="4023497"/>
                <a:ext cx="246862" cy="553998"/>
              </a:xfrm>
              <a:prstGeom prst="rect">
                <a:avLst/>
              </a:prstGeom>
              <a:blipFill>
                <a:blip r:embed="rId4"/>
                <a:stretch>
                  <a:fillRect l="-40000" r="-40000" b="-44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角丸四角形 7">
            <a:extLst>
              <a:ext uri="{FF2B5EF4-FFF2-40B4-BE49-F238E27FC236}">
                <a16:creationId xmlns:a16="http://schemas.microsoft.com/office/drawing/2014/main" id="{A8756915-0289-CF7B-681A-0D8E4FB57469}"/>
              </a:ext>
            </a:extLst>
          </p:cNvPr>
          <p:cNvSpPr/>
          <p:nvPr/>
        </p:nvSpPr>
        <p:spPr>
          <a:xfrm>
            <a:off x="6027666" y="2278524"/>
            <a:ext cx="1108630" cy="11063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00" dirty="0">
                <a:solidFill>
                  <a:schemeClr val="tx1"/>
                </a:solidFill>
                <a:latin typeface="+mj-ea"/>
                <a:ea typeface="+mj-ea"/>
              </a:rPr>
              <a:t>FEM</a:t>
            </a:r>
          </a:p>
          <a:p>
            <a:pPr algn="ctr"/>
            <a:r>
              <a:rPr kumimoji="1" lang="ja-JP" altLang="en-US" sz="2100">
                <a:solidFill>
                  <a:schemeClr val="tx1"/>
                </a:solidFill>
                <a:latin typeface="+mj-ea"/>
                <a:ea typeface="+mj-ea"/>
              </a:rPr>
              <a:t>解析</a:t>
            </a:r>
            <a:endParaRPr kumimoji="1" lang="ja-JP" altLang="en-US" sz="2100" dirty="0" err="1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5F63DE-8D82-933E-D5C7-B60837DBCDD1}"/>
              </a:ext>
            </a:extLst>
          </p:cNvPr>
          <p:cNvSpPr txBox="1"/>
          <p:nvPr/>
        </p:nvSpPr>
        <p:spPr>
          <a:xfrm>
            <a:off x="3582627" y="1273295"/>
            <a:ext cx="2118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設計変数に従い</a:t>
            </a:r>
            <a:endParaRPr kumimoji="1" lang="en-US" altLang="ja-JP" sz="2000" dirty="0"/>
          </a:p>
          <a:p>
            <a:r>
              <a:rPr kumimoji="1" lang="ja-JP" altLang="en-US" sz="2000"/>
              <a:t>建物を設計</a:t>
            </a:r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4978D04D-9BC7-DD42-DD92-DAC72E45BFC8}"/>
              </a:ext>
            </a:extLst>
          </p:cNvPr>
          <p:cNvSpPr/>
          <p:nvPr/>
        </p:nvSpPr>
        <p:spPr>
          <a:xfrm>
            <a:off x="5406886" y="2623930"/>
            <a:ext cx="477078" cy="4353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100" dirty="0" err="1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右矢印 10">
            <a:extLst>
              <a:ext uri="{FF2B5EF4-FFF2-40B4-BE49-F238E27FC236}">
                <a16:creationId xmlns:a16="http://schemas.microsoft.com/office/drawing/2014/main" id="{68F81C27-241B-4275-F26A-729631861EC1}"/>
              </a:ext>
            </a:extLst>
          </p:cNvPr>
          <p:cNvSpPr/>
          <p:nvPr/>
        </p:nvSpPr>
        <p:spPr>
          <a:xfrm rot="5400000">
            <a:off x="6210013" y="3643400"/>
            <a:ext cx="553998" cy="91569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100" dirty="0" err="1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A9A4F3B-3ACC-F14A-57F7-9416D178B4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4453"/>
          <a:stretch>
            <a:fillRect/>
          </a:stretch>
        </p:blipFill>
        <p:spPr>
          <a:xfrm>
            <a:off x="5320163" y="4379616"/>
            <a:ext cx="1985608" cy="1976735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352D6F9-B759-FC02-7077-E4D6A9D57C6F}"/>
              </a:ext>
            </a:extLst>
          </p:cNvPr>
          <p:cNvSpPr txBox="1"/>
          <p:nvPr/>
        </p:nvSpPr>
        <p:spPr>
          <a:xfrm>
            <a:off x="7453255" y="473203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0.651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DF27313-2BAB-0428-B6F1-F2EDF794134C}"/>
              </a:ext>
            </a:extLst>
          </p:cNvPr>
          <p:cNvSpPr txBox="1"/>
          <p:nvPr/>
        </p:nvSpPr>
        <p:spPr>
          <a:xfrm>
            <a:off x="7324420" y="5069772"/>
            <a:ext cx="618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altLang="ja-JP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1837.0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98F18E3-5B12-22B0-66C4-597E648EC5D0}"/>
              </a:ext>
            </a:extLst>
          </p:cNvPr>
          <p:cNvSpPr txBox="1"/>
          <p:nvPr/>
        </p:nvSpPr>
        <p:spPr>
          <a:xfrm>
            <a:off x="7353915" y="5365304"/>
            <a:ext cx="6924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altLang="ja-JP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6.91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601BEF4-6DEC-81A7-C9E1-A0344FB6B091}"/>
              </a:ext>
            </a:extLst>
          </p:cNvPr>
          <p:cNvSpPr txBox="1"/>
          <p:nvPr/>
        </p:nvSpPr>
        <p:spPr>
          <a:xfrm>
            <a:off x="7324420" y="5649286"/>
            <a:ext cx="6924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altLang="ja-JP" dirty="0">
                <a:solidFill>
                  <a:srgbClr val="000000"/>
                </a:solidFill>
                <a:latin typeface="Menlo" panose="020B0609030804020204" pitchFamily="49" charset="0"/>
              </a:rPr>
              <a:t>5</a:t>
            </a:r>
            <a:r>
              <a:rPr lang="en-US" altLang="ja-JP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.37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6D90C0E-C0DB-960E-A654-726D40571D4A}"/>
              </a:ext>
            </a:extLst>
          </p:cNvPr>
          <p:cNvSpPr txBox="1"/>
          <p:nvPr/>
        </p:nvSpPr>
        <p:spPr>
          <a:xfrm>
            <a:off x="7294923" y="5971220"/>
            <a:ext cx="730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512,688 </a:t>
            </a:r>
            <a:r>
              <a:rPr lang="ja-JP" alt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円</a:t>
            </a:r>
            <a:r>
              <a:rPr lang="en-US" altLang="ja-JP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/㎡</a:t>
            </a:r>
          </a:p>
        </p:txBody>
      </p:sp>
      <p:sp>
        <p:nvSpPr>
          <p:cNvPr id="22" name="右矢印 21">
            <a:extLst>
              <a:ext uri="{FF2B5EF4-FFF2-40B4-BE49-F238E27FC236}">
                <a16:creationId xmlns:a16="http://schemas.microsoft.com/office/drawing/2014/main" id="{07293BE7-43C7-4555-9A73-9521BB7F3C68}"/>
              </a:ext>
            </a:extLst>
          </p:cNvPr>
          <p:cNvSpPr/>
          <p:nvPr/>
        </p:nvSpPr>
        <p:spPr>
          <a:xfrm>
            <a:off x="2448408" y="1981181"/>
            <a:ext cx="477078" cy="172772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100">
                <a:solidFill>
                  <a:schemeClr val="tx1"/>
                </a:solidFill>
                <a:latin typeface="+mj-ea"/>
                <a:ea typeface="+mj-ea"/>
              </a:rPr>
              <a:t>入力</a:t>
            </a:r>
            <a:endParaRPr kumimoji="1" lang="ja-JP" altLang="en-US" sz="2100" dirty="0" err="1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34BECDB-0419-9EE4-6136-73C8F5B2259B}"/>
              </a:ext>
            </a:extLst>
          </p:cNvPr>
          <p:cNvSpPr txBox="1"/>
          <p:nvPr/>
        </p:nvSpPr>
        <p:spPr>
          <a:xfrm>
            <a:off x="6944861" y="3885344"/>
            <a:ext cx="869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出力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780E4D8-BEFA-E655-F598-6A69B752B622}"/>
              </a:ext>
            </a:extLst>
          </p:cNvPr>
          <p:cNvSpPr/>
          <p:nvPr/>
        </p:nvSpPr>
        <p:spPr>
          <a:xfrm>
            <a:off x="3108509" y="1145895"/>
            <a:ext cx="4704160" cy="256300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100" dirty="0" err="1">
              <a:solidFill>
                <a:schemeClr val="tx1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A969BB97-2C7C-26DA-A598-A1FD80DA84CA}"/>
                  </a:ext>
                </a:extLst>
              </p:cNvPr>
              <p:cNvSpPr txBox="1"/>
              <p:nvPr/>
            </p:nvSpPr>
            <p:spPr>
              <a:xfrm>
                <a:off x="982019" y="4871734"/>
                <a:ext cx="170492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80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A969BB97-2C7C-26DA-A598-A1FD80DA8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19" y="4871734"/>
                <a:ext cx="1704928" cy="430887"/>
              </a:xfrm>
              <a:prstGeom prst="rect">
                <a:avLst/>
              </a:prstGeom>
              <a:blipFill>
                <a:blip r:embed="rId6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F8BB49C1-4F9C-5814-FA71-B4C6763C0B53}"/>
                  </a:ext>
                </a:extLst>
              </p:cNvPr>
              <p:cNvSpPr txBox="1"/>
              <p:nvPr/>
            </p:nvSpPr>
            <p:spPr>
              <a:xfrm>
                <a:off x="814686" y="1365082"/>
                <a:ext cx="10071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ja-JP" altLang="en-US" sz="240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F8BB49C1-4F9C-5814-FA71-B4C6763C0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86" y="1365082"/>
                <a:ext cx="100715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B8F0B81C-1258-94B1-D647-3896CB0B2284}"/>
                  </a:ext>
                </a:extLst>
              </p:cNvPr>
              <p:cNvSpPr txBox="1"/>
              <p:nvPr/>
            </p:nvSpPr>
            <p:spPr>
              <a:xfrm>
                <a:off x="4110584" y="5171290"/>
                <a:ext cx="16948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B8F0B81C-1258-94B1-D647-3896CB0B2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584" y="5171290"/>
                <a:ext cx="1694825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99EAB34-BDC5-DF85-AF98-A46A9B1FB89A}"/>
                  </a:ext>
                </a:extLst>
              </p:cNvPr>
              <p:cNvSpPr txBox="1"/>
              <p:nvPr/>
            </p:nvSpPr>
            <p:spPr>
              <a:xfrm>
                <a:off x="-154222" y="5743029"/>
                <a:ext cx="502249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/>
                  <a:t>建物のパラメータ（</a:t>
                </a:r>
                <a:r>
                  <a:rPr kumimoji="1" lang="ja-JP" altLang="en-US">
                    <a:solidFill>
                      <a:schemeClr val="tx1"/>
                    </a:solidFill>
                  </a:rPr>
                  <a:t>設計変数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ja-JP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>
                    <a:solidFill>
                      <a:schemeClr val="tx1"/>
                    </a:solidFill>
                  </a:rPr>
                  <a:t>）を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>
                    <a:solidFill>
                      <a:schemeClr val="tx1"/>
                    </a:solidFill>
                  </a:rPr>
                  <a:t>入れると</a:t>
                </a:r>
                <a:r>
                  <a:rPr kumimoji="1" lang="ja-JP" altLang="en-US"/>
                  <a:t>評価指標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ja-JP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/>
                  <a:t>が返ってくる</a:t>
                </a:r>
                <a:endParaRPr kumimoji="1" lang="en-US" altLang="ja-JP" dirty="0"/>
              </a:p>
              <a:p>
                <a:pPr algn="ctr"/>
                <a14:m>
                  <m:oMath xmlns:m="http://schemas.openxmlformats.org/officeDocument/2006/math">
                    <m:r>
                      <a:rPr kumimoji="1" lang="en-US" altLang="ja-JP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ja-JP" altLang="en-US">
                    <a:solidFill>
                      <a:srgbClr val="00B050"/>
                    </a:solidFill>
                  </a:rPr>
                  <a:t>はブラックボックス関数</a:t>
                </a: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99EAB34-BDC5-DF85-AF98-A46A9B1FB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4222" y="5743029"/>
                <a:ext cx="5022490" cy="923330"/>
              </a:xfrm>
              <a:prstGeom prst="rect">
                <a:avLst/>
              </a:prstGeom>
              <a:blipFill>
                <a:blip r:embed="rId9"/>
                <a:stretch>
                  <a:fillRect t="-1351" b="-81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340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F4655-BBDF-69D5-CF75-80CE40D6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ランダムサンプリングの結果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40BDEE-1BA3-831F-FB52-5946519D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6" name="図 5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9E0C0136-0269-D1E5-965C-AAC6BF83A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46" y="1227580"/>
            <a:ext cx="6521659" cy="5434716"/>
          </a:xfrm>
          <a:prstGeom prst="rect">
            <a:avLst/>
          </a:prstGeom>
        </p:spPr>
      </p:pic>
      <p:sp>
        <p:nvSpPr>
          <p:cNvPr id="7" name="星 5 6">
            <a:extLst>
              <a:ext uri="{FF2B5EF4-FFF2-40B4-BE49-F238E27FC236}">
                <a16:creationId xmlns:a16="http://schemas.microsoft.com/office/drawing/2014/main" id="{3996B8EC-9022-F126-3EE3-30F366FD84D9}"/>
              </a:ext>
            </a:extLst>
          </p:cNvPr>
          <p:cNvSpPr/>
          <p:nvPr/>
        </p:nvSpPr>
        <p:spPr>
          <a:xfrm>
            <a:off x="3777522" y="4898179"/>
            <a:ext cx="224852" cy="174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100" dirty="0" err="1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星 5 7">
            <a:extLst>
              <a:ext uri="{FF2B5EF4-FFF2-40B4-BE49-F238E27FC236}">
                <a16:creationId xmlns:a16="http://schemas.microsoft.com/office/drawing/2014/main" id="{1CAE7EB5-3BA2-A71B-F14B-02E203D12346}"/>
              </a:ext>
            </a:extLst>
          </p:cNvPr>
          <p:cNvSpPr/>
          <p:nvPr/>
        </p:nvSpPr>
        <p:spPr>
          <a:xfrm>
            <a:off x="3749763" y="5543420"/>
            <a:ext cx="224852" cy="174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100" dirty="0" err="1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22661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ADEC47-D882-BBDE-A8F5-C3574045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PSO</a:t>
            </a:r>
            <a:r>
              <a:rPr kumimoji="1" lang="ja-JP" altLang="en-US"/>
              <a:t>による探索の結果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B85188-5BFC-3448-2A44-FE5027C0B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6" name="図 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8E575EA-B3CA-3AFD-E044-B4BD38DCB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20" y="1145895"/>
            <a:ext cx="8228247" cy="493694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22A8AF9-B72D-69D7-ECE6-A71226F2C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3937000"/>
            <a:ext cx="4062046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24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C0DF16-A1B8-2D38-BBE7-C63C7D8C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631C0B-C27E-2388-1D21-420BB2924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まずコストの最小化を行う</a:t>
            </a:r>
            <a:endParaRPr kumimoji="1" lang="en-US" altLang="ja-JP" dirty="0"/>
          </a:p>
          <a:p>
            <a:r>
              <a:rPr kumimoji="1" lang="ja-JP" altLang="en-US"/>
              <a:t>得られた解の安全率をみる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/>
              <a:t>安全率</a:t>
            </a:r>
            <a:r>
              <a:rPr lang="en-US" altLang="ja-JP" dirty="0"/>
              <a:t>&gt;=2</a:t>
            </a:r>
            <a:r>
              <a:rPr lang="ja-JP" altLang="en-US"/>
              <a:t>を満たした上でコストの最小化を図る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/>
              <a:t>あらかじめ，ある設計変数を固定して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（定義域を狭くして）最適化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5F8197-427D-6EF5-AE6D-A5B0B8B8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229F-AD88-7144-97FD-98369C214BB1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50EC04-5E5F-0CE8-C94F-7930870162CB}"/>
              </a:ext>
            </a:extLst>
          </p:cNvPr>
          <p:cNvSpPr txBox="1"/>
          <p:nvPr/>
        </p:nvSpPr>
        <p:spPr>
          <a:xfrm>
            <a:off x="1134533" y="4833036"/>
            <a:ext cx="5858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2000" dirty="0">
                <a:effectLst/>
                <a:latin typeface="Menlo" panose="020B0609030804020204" pitchFamily="49" charset="0"/>
              </a:rPr>
              <a:t> "Lx": (8.0, </a:t>
            </a:r>
            <a:r>
              <a:rPr lang="en" altLang="ja-JP" sz="2000" dirty="0">
                <a:latin typeface="Menlo" panose="020B0609030804020204" pitchFamily="49" charset="0"/>
              </a:rPr>
              <a:t>9</a:t>
            </a:r>
            <a:r>
              <a:rPr lang="en" altLang="ja-JP" sz="2000" dirty="0">
                <a:effectLst/>
                <a:latin typeface="Menlo" panose="020B0609030804020204" pitchFamily="49" charset="0"/>
              </a:rPr>
              <a:t>.0), # </a:t>
            </a:r>
            <a:r>
              <a:rPr lang="ja-JP" altLang="en-US" sz="2000">
                <a:effectLst/>
                <a:latin typeface="Menlo" panose="020B0609030804020204" pitchFamily="49" charset="0"/>
              </a:rPr>
              <a:t>建物幅</a:t>
            </a:r>
            <a:r>
              <a:rPr lang="en-US" altLang="ja-JP" sz="2000" dirty="0">
                <a:effectLst/>
                <a:latin typeface="Menlo" panose="020B0609030804020204" pitchFamily="49" charset="0"/>
              </a:rPr>
              <a:t>:</a:t>
            </a:r>
            <a:endParaRPr lang="ja-JP" altLang="en-US" sz="200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6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赤紫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 sz="2100" dirty="0" err="1" smtClean="0">
            <a:solidFill>
              <a:schemeClr val="tx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13869</TotalTime>
  <Words>1090</Words>
  <Application>Microsoft Macintosh PowerPoint</Application>
  <PresentationFormat>画面に合わせる (4:3)</PresentationFormat>
  <Paragraphs>212</Paragraphs>
  <Slides>17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7" baseType="lpstr">
      <vt:lpstr>fkGrotesk</vt:lpstr>
      <vt:lpstr>ＭＳ ゴシック</vt:lpstr>
      <vt:lpstr>システムフォント（レギュラー）</vt:lpstr>
      <vt:lpstr>游ゴシック</vt:lpstr>
      <vt:lpstr>Arial</vt:lpstr>
      <vt:lpstr>Calibri</vt:lpstr>
      <vt:lpstr>Cambria Math</vt:lpstr>
      <vt:lpstr>Menlo</vt:lpstr>
      <vt:lpstr>Wingdings</vt:lpstr>
      <vt:lpstr>Office テーマ</vt:lpstr>
      <vt:lpstr>FEM解析とAIを活用した パラメトリック建築設計最適化</vt:lpstr>
      <vt:lpstr>建築設計の複雑性</vt:lpstr>
      <vt:lpstr>建築設計の複雑性</vt:lpstr>
      <vt:lpstr>パラメトリック設計とは</vt:lpstr>
      <vt:lpstr>パラメトリック設計の評価手法</vt:lpstr>
      <vt:lpstr>FEM（有限要素法）とは</vt:lpstr>
      <vt:lpstr>FEM解析の実装：FreeCAD</vt:lpstr>
      <vt:lpstr>FreeCADについて説明</vt:lpstr>
      <vt:lpstr>FreeCADによるFEM解析の説明</vt:lpstr>
      <vt:lpstr>FreeCAD FEM解析：スクリプトによる大まかな手順</vt:lpstr>
      <vt:lpstr>FreeCAD FEM解析によって得られる 主な結果まとめ</vt:lpstr>
      <vt:lpstr>スクリプトで生成する建物パラメータ設定</vt:lpstr>
      <vt:lpstr>スクリプトが利用しているFEM結果</vt:lpstr>
      <vt:lpstr>PowerPoint プレゼンテーション</vt:lpstr>
      <vt:lpstr>ランダムサンプリングの結果</vt:lpstr>
      <vt:lpstr>PSOによる探索の結果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kushida</dc:creator>
  <cp:lastModifiedBy>kushida</cp:lastModifiedBy>
  <cp:revision>127</cp:revision>
  <dcterms:created xsi:type="dcterms:W3CDTF">2021-08-15T03:26:08Z</dcterms:created>
  <dcterms:modified xsi:type="dcterms:W3CDTF">2025-07-31T07:32:20Z</dcterms:modified>
</cp:coreProperties>
</file>